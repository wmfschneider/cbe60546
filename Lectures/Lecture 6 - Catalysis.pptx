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4" r:id="rId1"/>
  </p:sldMasterIdLst>
  <p:notesMasterIdLst>
    <p:notesMasterId r:id="rId33"/>
  </p:notesMasterIdLst>
  <p:handoutMasterIdLst>
    <p:handoutMasterId r:id="rId34"/>
  </p:handoutMasterIdLst>
  <p:sldIdLst>
    <p:sldId id="271" r:id="rId2"/>
    <p:sldId id="323" r:id="rId3"/>
    <p:sldId id="324" r:id="rId4"/>
    <p:sldId id="326" r:id="rId5"/>
    <p:sldId id="327" r:id="rId6"/>
    <p:sldId id="325" r:id="rId7"/>
    <p:sldId id="328" r:id="rId8"/>
    <p:sldId id="329" r:id="rId9"/>
    <p:sldId id="331" r:id="rId10"/>
    <p:sldId id="332" r:id="rId11"/>
    <p:sldId id="330" r:id="rId12"/>
    <p:sldId id="333" r:id="rId13"/>
    <p:sldId id="335" r:id="rId14"/>
    <p:sldId id="338" r:id="rId15"/>
    <p:sldId id="347" r:id="rId16"/>
    <p:sldId id="337" r:id="rId17"/>
    <p:sldId id="343" r:id="rId18"/>
    <p:sldId id="339" r:id="rId19"/>
    <p:sldId id="340" r:id="rId20"/>
    <p:sldId id="341" r:id="rId21"/>
    <p:sldId id="342" r:id="rId22"/>
    <p:sldId id="345" r:id="rId23"/>
    <p:sldId id="344" r:id="rId24"/>
    <p:sldId id="334" r:id="rId25"/>
    <p:sldId id="346" r:id="rId26"/>
    <p:sldId id="1160" r:id="rId27"/>
    <p:sldId id="496" r:id="rId28"/>
    <p:sldId id="1165" r:id="rId29"/>
    <p:sldId id="532" r:id="rId30"/>
    <p:sldId id="530" r:id="rId31"/>
    <p:sldId id="348" r:id="rId32"/>
  </p:sldIdLst>
  <p:sldSz cx="9144000" cy="5143500" type="screen16x9"/>
  <p:notesSz cx="6934200" cy="923448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364" autoAdjust="0"/>
    <p:restoredTop sz="89220" autoAdjust="0"/>
  </p:normalViewPr>
  <p:slideViewPr>
    <p:cSldViewPr>
      <p:cViewPr varScale="1">
        <p:scale>
          <a:sx n="163" d="100"/>
          <a:sy n="163" d="100"/>
        </p:scale>
        <p:origin x="208" y="17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30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BC5B5D4C-4C31-61AA-D9BE-47A770CA9D6D}"/>
              </a:ext>
            </a:extLst>
          </p:cNvPr>
          <p:cNvSpPr>
            <a:spLocks noGrp="1" noChangeArrowheads="1"/>
          </p:cNvSpPr>
          <p:nvPr>
            <p:ph type="hdr" sz="quarter"/>
          </p:nvPr>
        </p:nvSpPr>
        <p:spPr bwMode="auto">
          <a:xfrm>
            <a:off x="0" y="0"/>
            <a:ext cx="30067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237" tIns="46119" rIns="92237" bIns="46119" numCol="1" anchor="t" anchorCtr="0" compatLnSpc="1">
            <a:prstTxWarp prst="textNoShape">
              <a:avLst/>
            </a:prstTxWarp>
          </a:bodyPr>
          <a:lstStyle>
            <a:lvl1pPr defTabSz="922338" eaLnBrk="1" hangingPunct="1">
              <a:defRPr sz="1200"/>
            </a:lvl1pPr>
          </a:lstStyle>
          <a:p>
            <a:endParaRPr lang="en-US" altLang="en-US"/>
          </a:p>
        </p:txBody>
      </p:sp>
      <p:sp>
        <p:nvSpPr>
          <p:cNvPr id="52227" name="Rectangle 3">
            <a:extLst>
              <a:ext uri="{FF2B5EF4-FFF2-40B4-BE49-F238E27FC236}">
                <a16:creationId xmlns:a16="http://schemas.microsoft.com/office/drawing/2014/main" id="{C172E399-2DFA-95CC-F859-8E0C0DBBE866}"/>
              </a:ext>
            </a:extLst>
          </p:cNvPr>
          <p:cNvSpPr>
            <a:spLocks noGrp="1" noChangeArrowheads="1"/>
          </p:cNvSpPr>
          <p:nvPr>
            <p:ph type="dt" sz="quarter" idx="1"/>
          </p:nvPr>
        </p:nvSpPr>
        <p:spPr bwMode="auto">
          <a:xfrm>
            <a:off x="3925888" y="0"/>
            <a:ext cx="30067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237" tIns="46119" rIns="92237" bIns="46119" numCol="1" anchor="t" anchorCtr="0" compatLnSpc="1">
            <a:prstTxWarp prst="textNoShape">
              <a:avLst/>
            </a:prstTxWarp>
          </a:bodyPr>
          <a:lstStyle>
            <a:lvl1pPr algn="r" defTabSz="922338" eaLnBrk="1" hangingPunct="1">
              <a:defRPr sz="1200"/>
            </a:lvl1pPr>
          </a:lstStyle>
          <a:p>
            <a:endParaRPr lang="en-US" altLang="en-US"/>
          </a:p>
        </p:txBody>
      </p:sp>
      <p:sp>
        <p:nvSpPr>
          <p:cNvPr id="52228" name="Rectangle 4">
            <a:extLst>
              <a:ext uri="{FF2B5EF4-FFF2-40B4-BE49-F238E27FC236}">
                <a16:creationId xmlns:a16="http://schemas.microsoft.com/office/drawing/2014/main" id="{03567505-686F-3043-72CB-E15EFD2E8728}"/>
              </a:ext>
            </a:extLst>
          </p:cNvPr>
          <p:cNvSpPr>
            <a:spLocks noGrp="1" noChangeArrowheads="1"/>
          </p:cNvSpPr>
          <p:nvPr>
            <p:ph type="ftr" sz="quarter" idx="2"/>
          </p:nvPr>
        </p:nvSpPr>
        <p:spPr bwMode="auto">
          <a:xfrm>
            <a:off x="0" y="8770938"/>
            <a:ext cx="30067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237" tIns="46119" rIns="92237" bIns="46119" numCol="1" anchor="b" anchorCtr="0" compatLnSpc="1">
            <a:prstTxWarp prst="textNoShape">
              <a:avLst/>
            </a:prstTxWarp>
          </a:bodyPr>
          <a:lstStyle>
            <a:lvl1pPr defTabSz="922338" eaLnBrk="1" hangingPunct="1">
              <a:defRPr sz="1200"/>
            </a:lvl1pPr>
          </a:lstStyle>
          <a:p>
            <a:endParaRPr lang="en-US" altLang="en-US"/>
          </a:p>
        </p:txBody>
      </p:sp>
      <p:sp>
        <p:nvSpPr>
          <p:cNvPr id="52229" name="Rectangle 5">
            <a:extLst>
              <a:ext uri="{FF2B5EF4-FFF2-40B4-BE49-F238E27FC236}">
                <a16:creationId xmlns:a16="http://schemas.microsoft.com/office/drawing/2014/main" id="{A9D4B2A2-FFBC-5C79-1F1D-162DE20D0F71}"/>
              </a:ext>
            </a:extLst>
          </p:cNvPr>
          <p:cNvSpPr>
            <a:spLocks noGrp="1" noChangeArrowheads="1"/>
          </p:cNvSpPr>
          <p:nvPr>
            <p:ph type="sldNum" sz="quarter" idx="3"/>
          </p:nvPr>
        </p:nvSpPr>
        <p:spPr bwMode="auto">
          <a:xfrm>
            <a:off x="3925888" y="8770938"/>
            <a:ext cx="30067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237" tIns="46119" rIns="92237" bIns="46119" numCol="1" anchor="b" anchorCtr="0" compatLnSpc="1">
            <a:prstTxWarp prst="textNoShape">
              <a:avLst/>
            </a:prstTxWarp>
          </a:bodyPr>
          <a:lstStyle>
            <a:lvl1pPr algn="r" defTabSz="922338" eaLnBrk="1" hangingPunct="1">
              <a:defRPr sz="1200"/>
            </a:lvl1pPr>
          </a:lstStyle>
          <a:p>
            <a:fld id="{C63A0070-2EF4-DC41-AAE7-9026956E99EB}"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7D707BE0-481A-00A6-BE2C-BC8FD14C2AD4}"/>
              </a:ext>
            </a:extLst>
          </p:cNvPr>
          <p:cNvSpPr>
            <a:spLocks noGrp="1" noChangeArrowheads="1"/>
          </p:cNvSpPr>
          <p:nvPr>
            <p:ph type="hdr" sz="quarter"/>
          </p:nvPr>
        </p:nvSpPr>
        <p:spPr bwMode="auto">
          <a:xfrm>
            <a:off x="0" y="0"/>
            <a:ext cx="30067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237" tIns="46119" rIns="92237" bIns="46119" numCol="1" anchor="t" anchorCtr="0" compatLnSpc="1">
            <a:prstTxWarp prst="textNoShape">
              <a:avLst/>
            </a:prstTxWarp>
          </a:bodyPr>
          <a:lstStyle>
            <a:lvl1pPr defTabSz="922338" eaLnBrk="1" hangingPunct="1">
              <a:defRPr sz="1200"/>
            </a:lvl1pPr>
          </a:lstStyle>
          <a:p>
            <a:endParaRPr lang="en-US" altLang="en-US"/>
          </a:p>
        </p:txBody>
      </p:sp>
      <p:sp>
        <p:nvSpPr>
          <p:cNvPr id="32771" name="Rectangle 3">
            <a:extLst>
              <a:ext uri="{FF2B5EF4-FFF2-40B4-BE49-F238E27FC236}">
                <a16:creationId xmlns:a16="http://schemas.microsoft.com/office/drawing/2014/main" id="{8D448388-1251-89DB-2F51-7732ED5F8F4A}"/>
              </a:ext>
            </a:extLst>
          </p:cNvPr>
          <p:cNvSpPr>
            <a:spLocks noGrp="1" noChangeArrowheads="1"/>
          </p:cNvSpPr>
          <p:nvPr>
            <p:ph type="dt" idx="1"/>
          </p:nvPr>
        </p:nvSpPr>
        <p:spPr bwMode="auto">
          <a:xfrm>
            <a:off x="3925888" y="0"/>
            <a:ext cx="30067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237" tIns="46119" rIns="92237" bIns="46119" numCol="1" anchor="t" anchorCtr="0" compatLnSpc="1">
            <a:prstTxWarp prst="textNoShape">
              <a:avLst/>
            </a:prstTxWarp>
          </a:bodyPr>
          <a:lstStyle>
            <a:lvl1pPr algn="r" defTabSz="922338" eaLnBrk="1" hangingPunct="1">
              <a:defRPr sz="1200"/>
            </a:lvl1pPr>
          </a:lstStyle>
          <a:p>
            <a:endParaRPr lang="en-US" altLang="en-US"/>
          </a:p>
        </p:txBody>
      </p:sp>
      <p:sp>
        <p:nvSpPr>
          <p:cNvPr id="32772" name="Rectangle 4">
            <a:extLst>
              <a:ext uri="{FF2B5EF4-FFF2-40B4-BE49-F238E27FC236}">
                <a16:creationId xmlns:a16="http://schemas.microsoft.com/office/drawing/2014/main" id="{CF740896-D801-6D47-EA49-DA0CB82FE534}"/>
              </a:ext>
            </a:extLst>
          </p:cNvPr>
          <p:cNvSpPr>
            <a:spLocks noGrp="1" noRot="1" noChangeAspect="1" noChangeArrowheads="1" noTextEdit="1"/>
          </p:cNvSpPr>
          <p:nvPr>
            <p:ph type="sldImg" idx="2"/>
          </p:nvPr>
        </p:nvSpPr>
        <p:spPr bwMode="auto">
          <a:xfrm>
            <a:off x="388938" y="692150"/>
            <a:ext cx="6156325" cy="3463925"/>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2773" name="Rectangle 5">
            <a:extLst>
              <a:ext uri="{FF2B5EF4-FFF2-40B4-BE49-F238E27FC236}">
                <a16:creationId xmlns:a16="http://schemas.microsoft.com/office/drawing/2014/main" id="{B3FC2A9C-DB54-2B33-3AF0-B73EF468A19B}"/>
              </a:ext>
            </a:extLst>
          </p:cNvPr>
          <p:cNvSpPr>
            <a:spLocks noGrp="1" noChangeArrowheads="1"/>
          </p:cNvSpPr>
          <p:nvPr>
            <p:ph type="body" sz="quarter" idx="3"/>
          </p:nvPr>
        </p:nvSpPr>
        <p:spPr bwMode="auto">
          <a:xfrm>
            <a:off x="693738" y="4387850"/>
            <a:ext cx="5546725" cy="4154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237" tIns="46119" rIns="92237" bIns="46119"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2774" name="Rectangle 6">
            <a:extLst>
              <a:ext uri="{FF2B5EF4-FFF2-40B4-BE49-F238E27FC236}">
                <a16:creationId xmlns:a16="http://schemas.microsoft.com/office/drawing/2014/main" id="{0A18D37E-2602-7096-4792-9AE59F9DFB0E}"/>
              </a:ext>
            </a:extLst>
          </p:cNvPr>
          <p:cNvSpPr>
            <a:spLocks noGrp="1" noChangeArrowheads="1"/>
          </p:cNvSpPr>
          <p:nvPr>
            <p:ph type="ftr" sz="quarter" idx="4"/>
          </p:nvPr>
        </p:nvSpPr>
        <p:spPr bwMode="auto">
          <a:xfrm>
            <a:off x="0" y="8770938"/>
            <a:ext cx="30067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237" tIns="46119" rIns="92237" bIns="46119" numCol="1" anchor="b" anchorCtr="0" compatLnSpc="1">
            <a:prstTxWarp prst="textNoShape">
              <a:avLst/>
            </a:prstTxWarp>
          </a:bodyPr>
          <a:lstStyle>
            <a:lvl1pPr defTabSz="922338" eaLnBrk="1" hangingPunct="1">
              <a:defRPr sz="1200"/>
            </a:lvl1pPr>
          </a:lstStyle>
          <a:p>
            <a:endParaRPr lang="en-US" altLang="en-US"/>
          </a:p>
        </p:txBody>
      </p:sp>
      <p:sp>
        <p:nvSpPr>
          <p:cNvPr id="32775" name="Rectangle 7">
            <a:extLst>
              <a:ext uri="{FF2B5EF4-FFF2-40B4-BE49-F238E27FC236}">
                <a16:creationId xmlns:a16="http://schemas.microsoft.com/office/drawing/2014/main" id="{BC080C85-1F42-A0F7-D6CC-12E7EFB0D8E0}"/>
              </a:ext>
            </a:extLst>
          </p:cNvPr>
          <p:cNvSpPr>
            <a:spLocks noGrp="1" noChangeArrowheads="1"/>
          </p:cNvSpPr>
          <p:nvPr>
            <p:ph type="sldNum" sz="quarter" idx="5"/>
          </p:nvPr>
        </p:nvSpPr>
        <p:spPr bwMode="auto">
          <a:xfrm>
            <a:off x="3925888" y="8770938"/>
            <a:ext cx="30067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237" tIns="46119" rIns="92237" bIns="46119" numCol="1" anchor="b" anchorCtr="0" compatLnSpc="1">
            <a:prstTxWarp prst="textNoShape">
              <a:avLst/>
            </a:prstTxWarp>
          </a:bodyPr>
          <a:lstStyle>
            <a:lvl1pPr algn="r" defTabSz="922338" eaLnBrk="1" hangingPunct="1">
              <a:defRPr sz="1200"/>
            </a:lvl1pPr>
          </a:lstStyle>
          <a:p>
            <a:fld id="{624225F0-3E88-D749-A7B6-300744600BB9}"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47191EB-377D-5A01-03B2-C464D8F0B5BE}"/>
              </a:ext>
            </a:extLst>
          </p:cNvPr>
          <p:cNvSpPr>
            <a:spLocks noGrp="1" noChangeArrowheads="1"/>
          </p:cNvSpPr>
          <p:nvPr>
            <p:ph type="sldNum" sz="quarter" idx="5"/>
          </p:nvPr>
        </p:nvSpPr>
        <p:spPr>
          <a:ln/>
        </p:spPr>
        <p:txBody>
          <a:bodyPr/>
          <a:lstStyle/>
          <a:p>
            <a:fld id="{B1773792-D145-E94F-BAE8-5EC253860C66}" type="slidenum">
              <a:rPr lang="en-US" altLang="en-US"/>
              <a:pPr/>
              <a:t>1</a:t>
            </a:fld>
            <a:endParaRPr lang="en-US" altLang="en-US"/>
          </a:p>
        </p:txBody>
      </p:sp>
      <p:sp>
        <p:nvSpPr>
          <p:cNvPr id="55298" name="Rectangle 2">
            <a:extLst>
              <a:ext uri="{FF2B5EF4-FFF2-40B4-BE49-F238E27FC236}">
                <a16:creationId xmlns:a16="http://schemas.microsoft.com/office/drawing/2014/main" id="{AA6C4E64-99A6-1394-275C-7685D3DACB9A}"/>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BD5CF8D2-D34F-C9F5-F72C-6F8D8AE9E71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EF92BAC-F07A-DB1C-090F-22441989645F}"/>
              </a:ext>
            </a:extLst>
          </p:cNvPr>
          <p:cNvSpPr>
            <a:spLocks noGrp="1" noChangeArrowheads="1"/>
          </p:cNvSpPr>
          <p:nvPr>
            <p:ph type="sldNum" sz="quarter" idx="5"/>
          </p:nvPr>
        </p:nvSpPr>
        <p:spPr>
          <a:ln/>
        </p:spPr>
        <p:txBody>
          <a:bodyPr/>
          <a:lstStyle/>
          <a:p>
            <a:fld id="{DB885925-5D45-0C46-A94D-81E6C17298CA}" type="slidenum">
              <a:rPr lang="en-US" altLang="en-US"/>
              <a:pPr/>
              <a:t>2</a:t>
            </a:fld>
            <a:endParaRPr lang="en-US" altLang="en-US"/>
          </a:p>
        </p:txBody>
      </p:sp>
      <p:sp>
        <p:nvSpPr>
          <p:cNvPr id="182274" name="Rectangle 2">
            <a:extLst>
              <a:ext uri="{FF2B5EF4-FFF2-40B4-BE49-F238E27FC236}">
                <a16:creationId xmlns:a16="http://schemas.microsoft.com/office/drawing/2014/main" id="{18FED665-A27F-33AB-9DDE-C2D4777CFE47}"/>
              </a:ext>
            </a:extLst>
          </p:cNvPr>
          <p:cNvSpPr>
            <a:spLocks noGrp="1" noRot="1" noChangeAspect="1" noChangeArrowheads="1" noTextEdit="1"/>
          </p:cNvSpPr>
          <p:nvPr>
            <p:ph type="sldImg"/>
          </p:nvPr>
        </p:nvSpPr>
        <p:spPr>
          <a:ln/>
        </p:spPr>
      </p:sp>
      <p:sp>
        <p:nvSpPr>
          <p:cNvPr id="182275" name="Rectangle 3">
            <a:extLst>
              <a:ext uri="{FF2B5EF4-FFF2-40B4-BE49-F238E27FC236}">
                <a16:creationId xmlns:a16="http://schemas.microsoft.com/office/drawing/2014/main" id="{4DF09E9C-372A-32B8-7803-9779A8477F5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4B182E5-666E-3BE0-4786-9F65630B8666}"/>
              </a:ext>
            </a:extLst>
          </p:cNvPr>
          <p:cNvSpPr>
            <a:spLocks noGrp="1" noChangeArrowheads="1"/>
          </p:cNvSpPr>
          <p:nvPr>
            <p:ph type="sldNum" sz="quarter" idx="5"/>
          </p:nvPr>
        </p:nvSpPr>
        <p:spPr>
          <a:ln/>
        </p:spPr>
        <p:txBody>
          <a:bodyPr/>
          <a:lstStyle/>
          <a:p>
            <a:fld id="{7809DD93-F388-8E4C-867C-C997312AF61C}" type="slidenum">
              <a:rPr lang="en-US" altLang="en-US"/>
              <a:pPr/>
              <a:t>3</a:t>
            </a:fld>
            <a:endParaRPr lang="en-US" altLang="en-US"/>
          </a:p>
        </p:txBody>
      </p:sp>
      <p:sp>
        <p:nvSpPr>
          <p:cNvPr id="183298" name="Rectangle 2">
            <a:extLst>
              <a:ext uri="{FF2B5EF4-FFF2-40B4-BE49-F238E27FC236}">
                <a16:creationId xmlns:a16="http://schemas.microsoft.com/office/drawing/2014/main" id="{798FCA71-28EE-E9C4-D680-76ED59C6B0D2}"/>
              </a:ext>
            </a:extLst>
          </p:cNvPr>
          <p:cNvSpPr>
            <a:spLocks noGrp="1" noRot="1" noChangeAspect="1" noChangeArrowheads="1" noTextEdit="1"/>
          </p:cNvSpPr>
          <p:nvPr>
            <p:ph type="sldImg"/>
          </p:nvPr>
        </p:nvSpPr>
        <p:spPr>
          <a:ln/>
        </p:spPr>
      </p:sp>
      <p:sp>
        <p:nvSpPr>
          <p:cNvPr id="183299" name="Rectangle 3">
            <a:extLst>
              <a:ext uri="{FF2B5EF4-FFF2-40B4-BE49-F238E27FC236}">
                <a16:creationId xmlns:a16="http://schemas.microsoft.com/office/drawing/2014/main" id="{54BBF0F9-97DC-DD80-110E-3856E3DCC49C}"/>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6078068-3A5E-BD25-D847-863E211DE990}"/>
              </a:ext>
            </a:extLst>
          </p:cNvPr>
          <p:cNvSpPr>
            <a:spLocks noGrp="1" noChangeArrowheads="1"/>
          </p:cNvSpPr>
          <p:nvPr>
            <p:ph type="sldNum" sz="quarter" idx="5"/>
          </p:nvPr>
        </p:nvSpPr>
        <p:spPr>
          <a:ln/>
        </p:spPr>
        <p:txBody>
          <a:bodyPr/>
          <a:lstStyle/>
          <a:p>
            <a:fld id="{5B7568D6-7972-2247-B47F-66F08193895C}" type="slidenum">
              <a:rPr lang="en-US" altLang="en-US"/>
              <a:pPr/>
              <a:t>4</a:t>
            </a:fld>
            <a:endParaRPr lang="en-US" altLang="en-US"/>
          </a:p>
        </p:txBody>
      </p:sp>
      <p:sp>
        <p:nvSpPr>
          <p:cNvPr id="184322" name="Rectangle 2">
            <a:extLst>
              <a:ext uri="{FF2B5EF4-FFF2-40B4-BE49-F238E27FC236}">
                <a16:creationId xmlns:a16="http://schemas.microsoft.com/office/drawing/2014/main" id="{398F86A7-3217-8334-E36C-AD069C0BC59B}"/>
              </a:ext>
            </a:extLst>
          </p:cNvPr>
          <p:cNvSpPr>
            <a:spLocks noGrp="1" noRot="1" noChangeAspect="1" noChangeArrowheads="1" noTextEdit="1"/>
          </p:cNvSpPr>
          <p:nvPr>
            <p:ph type="sldImg"/>
          </p:nvPr>
        </p:nvSpPr>
        <p:spPr>
          <a:ln/>
        </p:spPr>
      </p:sp>
      <p:sp>
        <p:nvSpPr>
          <p:cNvPr id="184323" name="Rectangle 3">
            <a:extLst>
              <a:ext uri="{FF2B5EF4-FFF2-40B4-BE49-F238E27FC236}">
                <a16:creationId xmlns:a16="http://schemas.microsoft.com/office/drawing/2014/main" id="{C54E59D5-BB5A-8FCE-5A35-86D525998ED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6324DAA-A296-9416-1A89-4C64B94C4607}"/>
              </a:ext>
            </a:extLst>
          </p:cNvPr>
          <p:cNvSpPr>
            <a:spLocks noGrp="1" noChangeArrowheads="1"/>
          </p:cNvSpPr>
          <p:nvPr>
            <p:ph type="sldNum" sz="quarter" idx="5"/>
          </p:nvPr>
        </p:nvSpPr>
        <p:spPr>
          <a:ln/>
        </p:spPr>
        <p:txBody>
          <a:bodyPr/>
          <a:lstStyle/>
          <a:p>
            <a:fld id="{8AE5CF7E-2D25-E04B-8DE4-C5B6C5A7138B}" type="slidenum">
              <a:rPr lang="en-US" altLang="en-US"/>
              <a:pPr/>
              <a:t>5</a:t>
            </a:fld>
            <a:endParaRPr lang="en-US" altLang="en-US"/>
          </a:p>
        </p:txBody>
      </p:sp>
      <p:sp>
        <p:nvSpPr>
          <p:cNvPr id="185346" name="Rectangle 2">
            <a:extLst>
              <a:ext uri="{FF2B5EF4-FFF2-40B4-BE49-F238E27FC236}">
                <a16:creationId xmlns:a16="http://schemas.microsoft.com/office/drawing/2014/main" id="{B2FC0AFC-1E5D-9EFE-BA7C-07EC1C0ADA1B}"/>
              </a:ext>
            </a:extLst>
          </p:cNvPr>
          <p:cNvSpPr>
            <a:spLocks noGrp="1" noRot="1" noChangeAspect="1" noChangeArrowheads="1" noTextEdit="1"/>
          </p:cNvSpPr>
          <p:nvPr>
            <p:ph type="sldImg"/>
          </p:nvPr>
        </p:nvSpPr>
        <p:spPr>
          <a:ln/>
        </p:spPr>
      </p:sp>
      <p:sp>
        <p:nvSpPr>
          <p:cNvPr id="185347" name="Rectangle 3">
            <a:extLst>
              <a:ext uri="{FF2B5EF4-FFF2-40B4-BE49-F238E27FC236}">
                <a16:creationId xmlns:a16="http://schemas.microsoft.com/office/drawing/2014/main" id="{D3C09143-F49D-D221-81DC-679B3398563E}"/>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4050329-AA46-BE6F-DE56-ABDAE960061C}"/>
              </a:ext>
            </a:extLst>
          </p:cNvPr>
          <p:cNvSpPr>
            <a:spLocks noGrp="1" noChangeArrowheads="1"/>
          </p:cNvSpPr>
          <p:nvPr>
            <p:ph type="sldNum" sz="quarter" idx="5"/>
          </p:nvPr>
        </p:nvSpPr>
        <p:spPr>
          <a:ln/>
        </p:spPr>
        <p:txBody>
          <a:bodyPr/>
          <a:lstStyle/>
          <a:p>
            <a:fld id="{94F33706-09F4-614A-8E03-65DD52163EBD}" type="slidenum">
              <a:rPr lang="en-US" altLang="en-US"/>
              <a:pPr/>
              <a:t>6</a:t>
            </a:fld>
            <a:endParaRPr lang="en-US" altLang="en-US"/>
          </a:p>
        </p:txBody>
      </p:sp>
      <p:sp>
        <p:nvSpPr>
          <p:cNvPr id="186370" name="Rectangle 2">
            <a:extLst>
              <a:ext uri="{FF2B5EF4-FFF2-40B4-BE49-F238E27FC236}">
                <a16:creationId xmlns:a16="http://schemas.microsoft.com/office/drawing/2014/main" id="{1EC4E7F6-3B99-FACE-612B-AE5C93EE2CF8}"/>
              </a:ext>
            </a:extLst>
          </p:cNvPr>
          <p:cNvSpPr>
            <a:spLocks noGrp="1" noRot="1" noChangeAspect="1" noChangeArrowheads="1" noTextEdit="1"/>
          </p:cNvSpPr>
          <p:nvPr>
            <p:ph type="sldImg"/>
          </p:nvPr>
        </p:nvSpPr>
        <p:spPr>
          <a:ln/>
        </p:spPr>
      </p:sp>
      <p:sp>
        <p:nvSpPr>
          <p:cNvPr id="186371" name="Rectangle 3">
            <a:extLst>
              <a:ext uri="{FF2B5EF4-FFF2-40B4-BE49-F238E27FC236}">
                <a16:creationId xmlns:a16="http://schemas.microsoft.com/office/drawing/2014/main" id="{E4CE0378-E6D0-505A-EFE6-74A18C628CEC}"/>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DBF14AC-A077-F541-4336-4FBC50EE5750}"/>
              </a:ext>
            </a:extLst>
          </p:cNvPr>
          <p:cNvSpPr>
            <a:spLocks noGrp="1" noChangeArrowheads="1"/>
          </p:cNvSpPr>
          <p:nvPr>
            <p:ph type="sldNum" sz="quarter" idx="5"/>
          </p:nvPr>
        </p:nvSpPr>
        <p:spPr>
          <a:ln/>
        </p:spPr>
        <p:txBody>
          <a:bodyPr/>
          <a:lstStyle/>
          <a:p>
            <a:fld id="{8BE85957-7846-D541-BEB1-E16A61E367D4}" type="slidenum">
              <a:rPr lang="en-US" altLang="en-US"/>
              <a:pPr/>
              <a:t>7</a:t>
            </a:fld>
            <a:endParaRPr lang="en-US" altLang="en-US"/>
          </a:p>
        </p:txBody>
      </p:sp>
      <p:sp>
        <p:nvSpPr>
          <p:cNvPr id="189442" name="Rectangle 2">
            <a:extLst>
              <a:ext uri="{FF2B5EF4-FFF2-40B4-BE49-F238E27FC236}">
                <a16:creationId xmlns:a16="http://schemas.microsoft.com/office/drawing/2014/main" id="{C22D2A47-9117-C3D9-FB20-D6E87D256AB5}"/>
              </a:ext>
            </a:extLst>
          </p:cNvPr>
          <p:cNvSpPr>
            <a:spLocks noGrp="1" noRot="1" noChangeAspect="1" noChangeArrowheads="1" noTextEdit="1"/>
          </p:cNvSpPr>
          <p:nvPr>
            <p:ph type="sldImg"/>
          </p:nvPr>
        </p:nvSpPr>
        <p:spPr>
          <a:ln/>
        </p:spPr>
      </p:sp>
      <p:sp>
        <p:nvSpPr>
          <p:cNvPr id="189443" name="Rectangle 3">
            <a:extLst>
              <a:ext uri="{FF2B5EF4-FFF2-40B4-BE49-F238E27FC236}">
                <a16:creationId xmlns:a16="http://schemas.microsoft.com/office/drawing/2014/main" id="{93E0D3EB-D760-2751-84CD-2E97C35A512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2686ACE-005B-8630-D1FF-8F80209EC196}"/>
              </a:ext>
            </a:extLst>
          </p:cNvPr>
          <p:cNvSpPr>
            <a:spLocks noGrp="1" noChangeArrowheads="1"/>
          </p:cNvSpPr>
          <p:nvPr>
            <p:ph type="sldNum" sz="quarter" idx="5"/>
          </p:nvPr>
        </p:nvSpPr>
        <p:spPr>
          <a:ln/>
        </p:spPr>
        <p:txBody>
          <a:bodyPr/>
          <a:lstStyle/>
          <a:p>
            <a:fld id="{32F61071-EA0D-694B-B076-60D0FFB1F55A}" type="slidenum">
              <a:rPr lang="en-US" altLang="en-US"/>
              <a:pPr/>
              <a:t>8</a:t>
            </a:fld>
            <a:endParaRPr lang="en-US" altLang="en-US"/>
          </a:p>
        </p:txBody>
      </p:sp>
      <p:sp>
        <p:nvSpPr>
          <p:cNvPr id="193538" name="Rectangle 2">
            <a:extLst>
              <a:ext uri="{FF2B5EF4-FFF2-40B4-BE49-F238E27FC236}">
                <a16:creationId xmlns:a16="http://schemas.microsoft.com/office/drawing/2014/main" id="{A7C0DE8A-5843-4D50-F09B-70F6EBE585AE}"/>
              </a:ext>
            </a:extLst>
          </p:cNvPr>
          <p:cNvSpPr>
            <a:spLocks noGrp="1" noRot="1" noChangeAspect="1" noChangeArrowheads="1" noTextEdit="1"/>
          </p:cNvSpPr>
          <p:nvPr>
            <p:ph type="sldImg"/>
          </p:nvPr>
        </p:nvSpPr>
        <p:spPr>
          <a:ln/>
        </p:spPr>
      </p:sp>
      <p:sp>
        <p:nvSpPr>
          <p:cNvPr id="193539" name="Rectangle 3">
            <a:extLst>
              <a:ext uri="{FF2B5EF4-FFF2-40B4-BE49-F238E27FC236}">
                <a16:creationId xmlns:a16="http://schemas.microsoft.com/office/drawing/2014/main" id="{535BE0EE-33A3-7D4B-3046-F97F74E38F7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F9F79C5-263B-7032-447B-8306784EE4D3}"/>
              </a:ext>
            </a:extLst>
          </p:cNvPr>
          <p:cNvSpPr>
            <a:spLocks noGrp="1" noChangeArrowheads="1"/>
          </p:cNvSpPr>
          <p:nvPr>
            <p:ph type="sldNum" sz="quarter" idx="5"/>
          </p:nvPr>
        </p:nvSpPr>
        <p:spPr>
          <a:ln/>
        </p:spPr>
        <p:txBody>
          <a:bodyPr/>
          <a:lstStyle/>
          <a:p>
            <a:fld id="{FF8769DA-7954-924E-800F-53E8A92C617D}" type="slidenum">
              <a:rPr lang="en-US" altLang="en-US"/>
              <a:pPr/>
              <a:t>9</a:t>
            </a:fld>
            <a:endParaRPr lang="en-US" altLang="en-US"/>
          </a:p>
        </p:txBody>
      </p:sp>
      <p:sp>
        <p:nvSpPr>
          <p:cNvPr id="198658" name="Rectangle 2">
            <a:extLst>
              <a:ext uri="{FF2B5EF4-FFF2-40B4-BE49-F238E27FC236}">
                <a16:creationId xmlns:a16="http://schemas.microsoft.com/office/drawing/2014/main" id="{540B3439-C029-95AA-9CA5-9363C2EF7BD3}"/>
              </a:ext>
            </a:extLst>
          </p:cNvPr>
          <p:cNvSpPr>
            <a:spLocks noGrp="1" noRot="1" noChangeAspect="1" noChangeArrowheads="1" noTextEdit="1"/>
          </p:cNvSpPr>
          <p:nvPr>
            <p:ph type="sldImg"/>
          </p:nvPr>
        </p:nvSpPr>
        <p:spPr>
          <a:ln/>
        </p:spPr>
      </p:sp>
      <p:sp>
        <p:nvSpPr>
          <p:cNvPr id="198659" name="Rectangle 3">
            <a:extLst>
              <a:ext uri="{FF2B5EF4-FFF2-40B4-BE49-F238E27FC236}">
                <a16:creationId xmlns:a16="http://schemas.microsoft.com/office/drawing/2014/main" id="{E0910128-7846-43AD-AD9A-35A4698E594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E263A9E-79A9-E180-233C-44ADB78AF5BC}"/>
              </a:ext>
            </a:extLst>
          </p:cNvPr>
          <p:cNvSpPr>
            <a:spLocks noGrp="1" noChangeArrowheads="1"/>
          </p:cNvSpPr>
          <p:nvPr>
            <p:ph type="sldNum" sz="quarter" idx="5"/>
          </p:nvPr>
        </p:nvSpPr>
        <p:spPr>
          <a:ln/>
        </p:spPr>
        <p:txBody>
          <a:bodyPr/>
          <a:lstStyle/>
          <a:p>
            <a:fld id="{7ADA5415-7DDE-414F-86FE-84E9B0658416}" type="slidenum">
              <a:rPr lang="en-US" altLang="en-US"/>
              <a:pPr/>
              <a:t>10</a:t>
            </a:fld>
            <a:endParaRPr lang="en-US" altLang="en-US"/>
          </a:p>
        </p:txBody>
      </p:sp>
      <p:sp>
        <p:nvSpPr>
          <p:cNvPr id="199682" name="Rectangle 2">
            <a:extLst>
              <a:ext uri="{FF2B5EF4-FFF2-40B4-BE49-F238E27FC236}">
                <a16:creationId xmlns:a16="http://schemas.microsoft.com/office/drawing/2014/main" id="{5B090A69-B5C2-F23B-0F40-4C87235FD2EA}"/>
              </a:ext>
            </a:extLst>
          </p:cNvPr>
          <p:cNvSpPr>
            <a:spLocks noGrp="1" noRot="1" noChangeAspect="1" noChangeArrowheads="1" noTextEdit="1"/>
          </p:cNvSpPr>
          <p:nvPr>
            <p:ph type="sldImg"/>
          </p:nvPr>
        </p:nvSpPr>
        <p:spPr>
          <a:ln/>
        </p:spPr>
      </p:sp>
      <p:sp>
        <p:nvSpPr>
          <p:cNvPr id="199683" name="Rectangle 3">
            <a:extLst>
              <a:ext uri="{FF2B5EF4-FFF2-40B4-BE49-F238E27FC236}">
                <a16:creationId xmlns:a16="http://schemas.microsoft.com/office/drawing/2014/main" id="{5FAFFA15-668C-EC03-2F45-7510684832A5}"/>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7010115-CE3A-D7FF-F480-D75E584D2C07}"/>
              </a:ext>
            </a:extLst>
          </p:cNvPr>
          <p:cNvSpPr>
            <a:spLocks noGrp="1" noChangeArrowheads="1"/>
          </p:cNvSpPr>
          <p:nvPr>
            <p:ph type="sldNum" sz="quarter" idx="5"/>
          </p:nvPr>
        </p:nvSpPr>
        <p:spPr>
          <a:ln/>
        </p:spPr>
        <p:txBody>
          <a:bodyPr/>
          <a:lstStyle/>
          <a:p>
            <a:fld id="{F52B193D-E317-604A-8AE0-9D341C5FAC42}" type="slidenum">
              <a:rPr lang="en-US" altLang="en-US"/>
              <a:pPr/>
              <a:t>11</a:t>
            </a:fld>
            <a:endParaRPr lang="en-US" altLang="en-US"/>
          </a:p>
        </p:txBody>
      </p:sp>
      <p:sp>
        <p:nvSpPr>
          <p:cNvPr id="194562" name="Rectangle 2">
            <a:extLst>
              <a:ext uri="{FF2B5EF4-FFF2-40B4-BE49-F238E27FC236}">
                <a16:creationId xmlns:a16="http://schemas.microsoft.com/office/drawing/2014/main" id="{4EB43280-D5BC-CE4D-CFA2-0BA6E4570376}"/>
              </a:ext>
            </a:extLst>
          </p:cNvPr>
          <p:cNvSpPr>
            <a:spLocks noGrp="1" noRot="1" noChangeAspect="1" noChangeArrowheads="1" noTextEdit="1"/>
          </p:cNvSpPr>
          <p:nvPr>
            <p:ph type="sldImg"/>
          </p:nvPr>
        </p:nvSpPr>
        <p:spPr>
          <a:ln/>
        </p:spPr>
      </p:sp>
      <p:sp>
        <p:nvSpPr>
          <p:cNvPr id="194563" name="Rectangle 3">
            <a:extLst>
              <a:ext uri="{FF2B5EF4-FFF2-40B4-BE49-F238E27FC236}">
                <a16:creationId xmlns:a16="http://schemas.microsoft.com/office/drawing/2014/main" id="{E3AA4546-8ECC-5A91-435C-68979EF4F6FC}"/>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1D7AF56-836E-BD0D-32BD-DC296CE58A32}"/>
              </a:ext>
            </a:extLst>
          </p:cNvPr>
          <p:cNvSpPr>
            <a:spLocks noGrp="1" noChangeArrowheads="1"/>
          </p:cNvSpPr>
          <p:nvPr>
            <p:ph type="sldNum" sz="quarter" idx="5"/>
          </p:nvPr>
        </p:nvSpPr>
        <p:spPr>
          <a:ln/>
        </p:spPr>
        <p:txBody>
          <a:bodyPr/>
          <a:lstStyle/>
          <a:p>
            <a:fld id="{EB5A2B2A-26D5-9544-BBAD-D61A92AE82BE}" type="slidenum">
              <a:rPr lang="en-US" altLang="en-US"/>
              <a:pPr/>
              <a:t>12</a:t>
            </a:fld>
            <a:endParaRPr lang="en-US" altLang="en-US"/>
          </a:p>
        </p:txBody>
      </p:sp>
      <p:sp>
        <p:nvSpPr>
          <p:cNvPr id="200706" name="Rectangle 2">
            <a:extLst>
              <a:ext uri="{FF2B5EF4-FFF2-40B4-BE49-F238E27FC236}">
                <a16:creationId xmlns:a16="http://schemas.microsoft.com/office/drawing/2014/main" id="{F2FCC4A1-12A9-15AA-FB43-A934AEBD278D}"/>
              </a:ext>
            </a:extLst>
          </p:cNvPr>
          <p:cNvSpPr>
            <a:spLocks noGrp="1" noRot="1" noChangeAspect="1" noChangeArrowheads="1" noTextEdit="1"/>
          </p:cNvSpPr>
          <p:nvPr>
            <p:ph type="sldImg"/>
          </p:nvPr>
        </p:nvSpPr>
        <p:spPr>
          <a:ln/>
        </p:spPr>
      </p:sp>
      <p:sp>
        <p:nvSpPr>
          <p:cNvPr id="200707" name="Rectangle 3">
            <a:extLst>
              <a:ext uri="{FF2B5EF4-FFF2-40B4-BE49-F238E27FC236}">
                <a16:creationId xmlns:a16="http://schemas.microsoft.com/office/drawing/2014/main" id="{AD89A195-39F2-099A-9E99-24AB42C390EC}"/>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082F7A1-8C31-2B49-C8C3-B061220BF456}"/>
              </a:ext>
            </a:extLst>
          </p:cNvPr>
          <p:cNvSpPr>
            <a:spLocks noGrp="1" noChangeArrowheads="1"/>
          </p:cNvSpPr>
          <p:nvPr>
            <p:ph type="sldNum" sz="quarter" idx="5"/>
          </p:nvPr>
        </p:nvSpPr>
        <p:spPr>
          <a:ln/>
        </p:spPr>
        <p:txBody>
          <a:bodyPr/>
          <a:lstStyle/>
          <a:p>
            <a:fld id="{FC12DCAF-B6E0-8345-96A4-BB2E3191C2F4}" type="slidenum">
              <a:rPr lang="en-US" altLang="en-US"/>
              <a:pPr/>
              <a:t>13</a:t>
            </a:fld>
            <a:endParaRPr lang="en-US" altLang="en-US"/>
          </a:p>
        </p:txBody>
      </p:sp>
      <p:sp>
        <p:nvSpPr>
          <p:cNvPr id="205826" name="Rectangle 2">
            <a:extLst>
              <a:ext uri="{FF2B5EF4-FFF2-40B4-BE49-F238E27FC236}">
                <a16:creationId xmlns:a16="http://schemas.microsoft.com/office/drawing/2014/main" id="{6BD7EF31-F53E-7E47-5C6D-17592AB70561}"/>
              </a:ext>
            </a:extLst>
          </p:cNvPr>
          <p:cNvSpPr>
            <a:spLocks noGrp="1" noRot="1" noChangeAspect="1" noChangeArrowheads="1" noTextEdit="1"/>
          </p:cNvSpPr>
          <p:nvPr>
            <p:ph type="sldImg"/>
          </p:nvPr>
        </p:nvSpPr>
        <p:spPr>
          <a:ln/>
        </p:spPr>
      </p:sp>
      <p:sp>
        <p:nvSpPr>
          <p:cNvPr id="205827" name="Rectangle 3">
            <a:extLst>
              <a:ext uri="{FF2B5EF4-FFF2-40B4-BE49-F238E27FC236}">
                <a16:creationId xmlns:a16="http://schemas.microsoft.com/office/drawing/2014/main" id="{9D2C418B-7060-56AA-CB19-83747091165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DA75135-CFCC-DCC0-FF05-B0AC86605CAF}"/>
              </a:ext>
            </a:extLst>
          </p:cNvPr>
          <p:cNvSpPr>
            <a:spLocks noGrp="1" noChangeArrowheads="1"/>
          </p:cNvSpPr>
          <p:nvPr>
            <p:ph type="sldNum" sz="quarter" idx="5"/>
          </p:nvPr>
        </p:nvSpPr>
        <p:spPr>
          <a:ln/>
        </p:spPr>
        <p:txBody>
          <a:bodyPr/>
          <a:lstStyle/>
          <a:p>
            <a:fld id="{25A4D6DD-4A6D-9946-B9BC-07E24DC9977B}" type="slidenum">
              <a:rPr lang="en-US" altLang="en-US"/>
              <a:pPr/>
              <a:t>14</a:t>
            </a:fld>
            <a:endParaRPr lang="en-US" altLang="en-US"/>
          </a:p>
        </p:txBody>
      </p:sp>
      <p:sp>
        <p:nvSpPr>
          <p:cNvPr id="212994" name="Rectangle 2">
            <a:extLst>
              <a:ext uri="{FF2B5EF4-FFF2-40B4-BE49-F238E27FC236}">
                <a16:creationId xmlns:a16="http://schemas.microsoft.com/office/drawing/2014/main" id="{F89992F9-B05C-4388-CAF4-C98710C38C0E}"/>
              </a:ext>
            </a:extLst>
          </p:cNvPr>
          <p:cNvSpPr>
            <a:spLocks noGrp="1" noRot="1" noChangeAspect="1" noChangeArrowheads="1" noTextEdit="1"/>
          </p:cNvSpPr>
          <p:nvPr>
            <p:ph type="sldImg"/>
          </p:nvPr>
        </p:nvSpPr>
        <p:spPr>
          <a:ln/>
        </p:spPr>
      </p:sp>
      <p:sp>
        <p:nvSpPr>
          <p:cNvPr id="212995" name="Rectangle 3">
            <a:extLst>
              <a:ext uri="{FF2B5EF4-FFF2-40B4-BE49-F238E27FC236}">
                <a16:creationId xmlns:a16="http://schemas.microsoft.com/office/drawing/2014/main" id="{BCDC1F7D-C46A-FDF2-6998-F18068F034F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150AC52-2CE2-9791-A8A1-E4EA56D85666}"/>
              </a:ext>
            </a:extLst>
          </p:cNvPr>
          <p:cNvSpPr>
            <a:spLocks noGrp="1" noChangeArrowheads="1"/>
          </p:cNvSpPr>
          <p:nvPr>
            <p:ph type="sldNum" sz="quarter" idx="5"/>
          </p:nvPr>
        </p:nvSpPr>
        <p:spPr>
          <a:ln/>
        </p:spPr>
        <p:txBody>
          <a:bodyPr/>
          <a:lstStyle/>
          <a:p>
            <a:fld id="{28C74D8C-858E-9048-BBDB-E0EA4EC4101D}" type="slidenum">
              <a:rPr lang="en-US" altLang="en-US"/>
              <a:pPr/>
              <a:t>16</a:t>
            </a:fld>
            <a:endParaRPr lang="en-US" altLang="en-US"/>
          </a:p>
        </p:txBody>
      </p:sp>
      <p:sp>
        <p:nvSpPr>
          <p:cNvPr id="214018" name="Rectangle 2">
            <a:extLst>
              <a:ext uri="{FF2B5EF4-FFF2-40B4-BE49-F238E27FC236}">
                <a16:creationId xmlns:a16="http://schemas.microsoft.com/office/drawing/2014/main" id="{A9C7D894-B2B7-FEB4-D19A-974D9A4D020D}"/>
              </a:ext>
            </a:extLst>
          </p:cNvPr>
          <p:cNvSpPr>
            <a:spLocks noGrp="1" noRot="1" noChangeAspect="1" noChangeArrowheads="1" noTextEdit="1"/>
          </p:cNvSpPr>
          <p:nvPr>
            <p:ph type="sldImg"/>
          </p:nvPr>
        </p:nvSpPr>
        <p:spPr>
          <a:ln/>
        </p:spPr>
      </p:sp>
      <p:sp>
        <p:nvSpPr>
          <p:cNvPr id="214019" name="Rectangle 3">
            <a:extLst>
              <a:ext uri="{FF2B5EF4-FFF2-40B4-BE49-F238E27FC236}">
                <a16:creationId xmlns:a16="http://schemas.microsoft.com/office/drawing/2014/main" id="{C112818E-C878-4E0F-29DD-93C8518DFF7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68DA134-ECFC-76BB-CAC6-199C8577CC98}"/>
              </a:ext>
            </a:extLst>
          </p:cNvPr>
          <p:cNvSpPr>
            <a:spLocks noGrp="1" noChangeArrowheads="1"/>
          </p:cNvSpPr>
          <p:nvPr>
            <p:ph type="sldNum" sz="quarter" idx="5"/>
          </p:nvPr>
        </p:nvSpPr>
        <p:spPr>
          <a:ln/>
        </p:spPr>
        <p:txBody>
          <a:bodyPr/>
          <a:lstStyle/>
          <a:p>
            <a:fld id="{6F31FA6A-476D-814C-BD5A-5C997F8B5E9F}" type="slidenum">
              <a:rPr lang="en-US" altLang="en-US"/>
              <a:pPr/>
              <a:t>17</a:t>
            </a:fld>
            <a:endParaRPr lang="en-US" altLang="en-US"/>
          </a:p>
        </p:txBody>
      </p:sp>
      <p:sp>
        <p:nvSpPr>
          <p:cNvPr id="229378" name="Rectangle 2">
            <a:extLst>
              <a:ext uri="{FF2B5EF4-FFF2-40B4-BE49-F238E27FC236}">
                <a16:creationId xmlns:a16="http://schemas.microsoft.com/office/drawing/2014/main" id="{1539180F-059D-7B0D-5419-B0408A69918B}"/>
              </a:ext>
            </a:extLst>
          </p:cNvPr>
          <p:cNvSpPr>
            <a:spLocks noGrp="1" noRot="1" noChangeAspect="1" noChangeArrowheads="1" noTextEdit="1"/>
          </p:cNvSpPr>
          <p:nvPr>
            <p:ph type="sldImg"/>
          </p:nvPr>
        </p:nvSpPr>
        <p:spPr>
          <a:xfrm>
            <a:off x="1166813" y="698500"/>
            <a:ext cx="4602162" cy="3451225"/>
          </a:xfrm>
          <a:ln/>
        </p:spPr>
      </p:sp>
      <p:sp>
        <p:nvSpPr>
          <p:cNvPr id="229379" name="Rectangle 3">
            <a:extLst>
              <a:ext uri="{FF2B5EF4-FFF2-40B4-BE49-F238E27FC236}">
                <a16:creationId xmlns:a16="http://schemas.microsoft.com/office/drawing/2014/main" id="{A566079B-A57F-7B84-0D63-2CB796ACFFD0}"/>
              </a:ext>
            </a:extLst>
          </p:cNvPr>
          <p:cNvSpPr>
            <a:spLocks noGrp="1" noChangeArrowheads="1"/>
          </p:cNvSpPr>
          <p:nvPr>
            <p:ph type="body" idx="1"/>
          </p:nvPr>
        </p:nvSpPr>
        <p:spPr>
          <a:xfrm>
            <a:off x="927100" y="4386263"/>
            <a:ext cx="5080000" cy="4156075"/>
          </a:xfrm>
        </p:spPr>
        <p:txBody>
          <a:bodyPr lIns="92348" tIns="46174" rIns="92348" bIns="46174"/>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3EC5BFD-A3A2-CA72-5DC8-8D17DDB4CFAE}"/>
              </a:ext>
            </a:extLst>
          </p:cNvPr>
          <p:cNvSpPr>
            <a:spLocks noGrp="1" noChangeArrowheads="1"/>
          </p:cNvSpPr>
          <p:nvPr>
            <p:ph type="sldNum" sz="quarter" idx="5"/>
          </p:nvPr>
        </p:nvSpPr>
        <p:spPr>
          <a:ln/>
        </p:spPr>
        <p:txBody>
          <a:bodyPr/>
          <a:lstStyle/>
          <a:p>
            <a:fld id="{B8847F72-8775-B94E-8FE3-3F26AF87EA4D}" type="slidenum">
              <a:rPr lang="en-US" altLang="en-US"/>
              <a:pPr/>
              <a:t>18</a:t>
            </a:fld>
            <a:endParaRPr lang="en-US" altLang="en-US"/>
          </a:p>
        </p:txBody>
      </p:sp>
      <p:sp>
        <p:nvSpPr>
          <p:cNvPr id="218114" name="Rectangle 2">
            <a:extLst>
              <a:ext uri="{FF2B5EF4-FFF2-40B4-BE49-F238E27FC236}">
                <a16:creationId xmlns:a16="http://schemas.microsoft.com/office/drawing/2014/main" id="{E376F712-70C1-23D9-DEC2-1C865C2B0655}"/>
              </a:ext>
            </a:extLst>
          </p:cNvPr>
          <p:cNvSpPr>
            <a:spLocks noGrp="1" noRot="1" noChangeAspect="1" noChangeArrowheads="1" noTextEdit="1"/>
          </p:cNvSpPr>
          <p:nvPr>
            <p:ph type="sldImg"/>
          </p:nvPr>
        </p:nvSpPr>
        <p:spPr>
          <a:ln/>
        </p:spPr>
      </p:sp>
      <p:sp>
        <p:nvSpPr>
          <p:cNvPr id="218115" name="Rectangle 3">
            <a:extLst>
              <a:ext uri="{FF2B5EF4-FFF2-40B4-BE49-F238E27FC236}">
                <a16:creationId xmlns:a16="http://schemas.microsoft.com/office/drawing/2014/main" id="{5DCCB086-6EC8-2686-F024-2F3824C5BFA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D7CB7EF-8F6F-E926-9461-E2F7DB7AE683}"/>
              </a:ext>
            </a:extLst>
          </p:cNvPr>
          <p:cNvSpPr>
            <a:spLocks noGrp="1" noChangeArrowheads="1"/>
          </p:cNvSpPr>
          <p:nvPr>
            <p:ph type="sldNum" sz="quarter" idx="5"/>
          </p:nvPr>
        </p:nvSpPr>
        <p:spPr>
          <a:ln/>
        </p:spPr>
        <p:txBody>
          <a:bodyPr/>
          <a:lstStyle/>
          <a:p>
            <a:fld id="{FB65345B-0E4D-B745-B0E2-D9F86FCFAC88}" type="slidenum">
              <a:rPr lang="en-US" altLang="en-US"/>
              <a:pPr/>
              <a:t>19</a:t>
            </a:fld>
            <a:endParaRPr lang="en-US" altLang="en-US"/>
          </a:p>
        </p:txBody>
      </p:sp>
      <p:sp>
        <p:nvSpPr>
          <p:cNvPr id="219138" name="Rectangle 2">
            <a:extLst>
              <a:ext uri="{FF2B5EF4-FFF2-40B4-BE49-F238E27FC236}">
                <a16:creationId xmlns:a16="http://schemas.microsoft.com/office/drawing/2014/main" id="{C629E155-34F4-37D0-72D0-2CED7F1EAE73}"/>
              </a:ext>
            </a:extLst>
          </p:cNvPr>
          <p:cNvSpPr>
            <a:spLocks noGrp="1" noRot="1" noChangeAspect="1" noChangeArrowheads="1" noTextEdit="1"/>
          </p:cNvSpPr>
          <p:nvPr>
            <p:ph type="sldImg"/>
          </p:nvPr>
        </p:nvSpPr>
        <p:spPr>
          <a:ln/>
        </p:spPr>
      </p:sp>
      <p:sp>
        <p:nvSpPr>
          <p:cNvPr id="219139" name="Rectangle 3">
            <a:extLst>
              <a:ext uri="{FF2B5EF4-FFF2-40B4-BE49-F238E27FC236}">
                <a16:creationId xmlns:a16="http://schemas.microsoft.com/office/drawing/2014/main" id="{D84B61D0-22EA-7471-D2E4-41B3EC8B472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E4E9FF5-4FF7-44AA-20F4-3F9973889689}"/>
              </a:ext>
            </a:extLst>
          </p:cNvPr>
          <p:cNvSpPr>
            <a:spLocks noGrp="1" noChangeArrowheads="1"/>
          </p:cNvSpPr>
          <p:nvPr>
            <p:ph type="sldNum" sz="quarter" idx="5"/>
          </p:nvPr>
        </p:nvSpPr>
        <p:spPr>
          <a:ln/>
        </p:spPr>
        <p:txBody>
          <a:bodyPr/>
          <a:lstStyle/>
          <a:p>
            <a:fld id="{58D2CA3E-EA51-A947-840A-CD61467F1CCA}" type="slidenum">
              <a:rPr lang="en-US" altLang="en-US"/>
              <a:pPr/>
              <a:t>20</a:t>
            </a:fld>
            <a:endParaRPr lang="en-US" altLang="en-US"/>
          </a:p>
        </p:txBody>
      </p:sp>
      <p:sp>
        <p:nvSpPr>
          <p:cNvPr id="223234" name="Rectangle 2">
            <a:extLst>
              <a:ext uri="{FF2B5EF4-FFF2-40B4-BE49-F238E27FC236}">
                <a16:creationId xmlns:a16="http://schemas.microsoft.com/office/drawing/2014/main" id="{4258EB6B-189E-1B01-AB8B-6C6A2AAC2694}"/>
              </a:ext>
            </a:extLst>
          </p:cNvPr>
          <p:cNvSpPr>
            <a:spLocks noGrp="1" noRot="1" noChangeAspect="1" noChangeArrowheads="1" noTextEdit="1"/>
          </p:cNvSpPr>
          <p:nvPr>
            <p:ph type="sldImg"/>
          </p:nvPr>
        </p:nvSpPr>
        <p:spPr>
          <a:ln/>
        </p:spPr>
      </p:sp>
      <p:sp>
        <p:nvSpPr>
          <p:cNvPr id="223235" name="Rectangle 3">
            <a:extLst>
              <a:ext uri="{FF2B5EF4-FFF2-40B4-BE49-F238E27FC236}">
                <a16:creationId xmlns:a16="http://schemas.microsoft.com/office/drawing/2014/main" id="{C726CC31-DE1C-76A7-6A39-9FE194BA11D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3278DBC-8B34-0876-1AE2-B5AE13AEF6B6}"/>
              </a:ext>
            </a:extLst>
          </p:cNvPr>
          <p:cNvSpPr>
            <a:spLocks noGrp="1" noChangeArrowheads="1"/>
          </p:cNvSpPr>
          <p:nvPr>
            <p:ph type="sldNum" sz="quarter" idx="5"/>
          </p:nvPr>
        </p:nvSpPr>
        <p:spPr>
          <a:ln/>
        </p:spPr>
        <p:txBody>
          <a:bodyPr/>
          <a:lstStyle/>
          <a:p>
            <a:fld id="{A1D9762B-3592-4A46-8698-2E57A972EFA8}" type="slidenum">
              <a:rPr lang="en-US" altLang="en-US"/>
              <a:pPr/>
              <a:t>21</a:t>
            </a:fld>
            <a:endParaRPr lang="en-US" altLang="en-US"/>
          </a:p>
        </p:txBody>
      </p:sp>
      <p:sp>
        <p:nvSpPr>
          <p:cNvPr id="224258" name="Rectangle 2">
            <a:extLst>
              <a:ext uri="{FF2B5EF4-FFF2-40B4-BE49-F238E27FC236}">
                <a16:creationId xmlns:a16="http://schemas.microsoft.com/office/drawing/2014/main" id="{FACBBBD6-BC6A-1115-49EC-0E5879F755FE}"/>
              </a:ext>
            </a:extLst>
          </p:cNvPr>
          <p:cNvSpPr>
            <a:spLocks noGrp="1" noRot="1" noChangeAspect="1" noChangeArrowheads="1" noTextEdit="1"/>
          </p:cNvSpPr>
          <p:nvPr>
            <p:ph type="sldImg"/>
          </p:nvPr>
        </p:nvSpPr>
        <p:spPr>
          <a:ln/>
        </p:spPr>
      </p:sp>
      <p:sp>
        <p:nvSpPr>
          <p:cNvPr id="224259" name="Rectangle 3">
            <a:extLst>
              <a:ext uri="{FF2B5EF4-FFF2-40B4-BE49-F238E27FC236}">
                <a16:creationId xmlns:a16="http://schemas.microsoft.com/office/drawing/2014/main" id="{B6B921B5-74E8-936F-77BA-55B97EC5689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E38144E-360F-D19A-D8FE-8A0343130908}"/>
              </a:ext>
            </a:extLst>
          </p:cNvPr>
          <p:cNvSpPr>
            <a:spLocks noGrp="1" noChangeArrowheads="1"/>
          </p:cNvSpPr>
          <p:nvPr>
            <p:ph type="sldNum" sz="quarter" idx="5"/>
          </p:nvPr>
        </p:nvSpPr>
        <p:spPr>
          <a:ln/>
        </p:spPr>
        <p:txBody>
          <a:bodyPr/>
          <a:lstStyle/>
          <a:p>
            <a:fld id="{E094E270-0E9C-0442-AA19-21487D03440B}" type="slidenum">
              <a:rPr lang="en-US" altLang="en-US"/>
              <a:pPr/>
              <a:t>24</a:t>
            </a:fld>
            <a:endParaRPr lang="en-US" altLang="en-US"/>
          </a:p>
        </p:txBody>
      </p:sp>
      <p:sp>
        <p:nvSpPr>
          <p:cNvPr id="206850" name="Rectangle 2">
            <a:extLst>
              <a:ext uri="{FF2B5EF4-FFF2-40B4-BE49-F238E27FC236}">
                <a16:creationId xmlns:a16="http://schemas.microsoft.com/office/drawing/2014/main" id="{7FF51270-FAF5-AFE4-8EE9-FA8083E62ED1}"/>
              </a:ext>
            </a:extLst>
          </p:cNvPr>
          <p:cNvSpPr>
            <a:spLocks noGrp="1" noRot="1" noChangeAspect="1" noChangeArrowheads="1" noTextEdit="1"/>
          </p:cNvSpPr>
          <p:nvPr>
            <p:ph type="sldImg"/>
          </p:nvPr>
        </p:nvSpPr>
        <p:spPr>
          <a:ln/>
        </p:spPr>
      </p:sp>
      <p:sp>
        <p:nvSpPr>
          <p:cNvPr id="206851" name="Rectangle 3">
            <a:extLst>
              <a:ext uri="{FF2B5EF4-FFF2-40B4-BE49-F238E27FC236}">
                <a16:creationId xmlns:a16="http://schemas.microsoft.com/office/drawing/2014/main" id="{70AEA302-DFFB-DCE0-19B7-287D7B437FB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ECD6AABB-95E7-8F41-A65A-D91862F2D2B3}" type="slidenum">
              <a:rPr lang="en-US" smtClean="0"/>
              <a:pPr>
                <a:defRPr/>
              </a:pPr>
              <a:t>26</a:t>
            </a:fld>
            <a:endParaRPr lang="en-US"/>
          </a:p>
        </p:txBody>
      </p:sp>
    </p:spTree>
    <p:extLst>
      <p:ext uri="{BB962C8B-B14F-4D97-AF65-F5344CB8AC3E}">
        <p14:creationId xmlns:p14="http://schemas.microsoft.com/office/powerpoint/2010/main" val="3993769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b="1" dirty="0"/>
              <a:t>1. why are NO and N2 barrier heights reversed from product energies on given facet?  Agrees with literature?</a:t>
            </a:r>
          </a:p>
          <a:p>
            <a:r>
              <a:rPr lang="en-US" altLang="zh-CN" dirty="0"/>
              <a:t>1.</a:t>
            </a:r>
            <a:r>
              <a:rPr lang="zh-CN" altLang="en-US" dirty="0"/>
              <a:t> </a:t>
            </a:r>
            <a:r>
              <a:rPr lang="en-US" altLang="zh-CN" dirty="0"/>
              <a:t>Formation</a:t>
            </a:r>
            <a:r>
              <a:rPr lang="zh-CN" altLang="en-US" dirty="0"/>
              <a:t> </a:t>
            </a:r>
            <a:r>
              <a:rPr lang="en-US" altLang="zh-CN" dirty="0"/>
              <a:t>of</a:t>
            </a:r>
            <a:r>
              <a:rPr lang="zh-CN" altLang="en-US" dirty="0"/>
              <a:t> </a:t>
            </a:r>
            <a:r>
              <a:rPr lang="en-US" altLang="zh-CN" dirty="0"/>
              <a:t>N2</a:t>
            </a:r>
            <a:r>
              <a:rPr lang="zh-CN" altLang="en-US" dirty="0"/>
              <a:t> </a:t>
            </a:r>
            <a:r>
              <a:rPr lang="en-US" altLang="zh-CN" dirty="0"/>
              <a:t>and</a:t>
            </a:r>
            <a:r>
              <a:rPr lang="zh-CN" altLang="en-US" dirty="0"/>
              <a:t> </a:t>
            </a:r>
            <a:r>
              <a:rPr lang="en-US" altLang="zh-CN" dirty="0"/>
              <a:t>NO</a:t>
            </a:r>
            <a:r>
              <a:rPr lang="zh-CN" altLang="en-US" dirty="0"/>
              <a:t> </a:t>
            </a:r>
            <a:r>
              <a:rPr lang="en-US" altLang="zh-CN" dirty="0"/>
              <a:t>have</a:t>
            </a:r>
            <a:r>
              <a:rPr lang="zh-CN" altLang="en-US" dirty="0"/>
              <a:t> </a:t>
            </a:r>
            <a:r>
              <a:rPr lang="en-US" altLang="zh-CN" dirty="0"/>
              <a:t>much</a:t>
            </a:r>
            <a:r>
              <a:rPr lang="zh-CN" altLang="en-US" dirty="0"/>
              <a:t> </a:t>
            </a:r>
            <a:r>
              <a:rPr lang="en-US" altLang="zh-CN" dirty="0"/>
              <a:t>lower</a:t>
            </a:r>
            <a:r>
              <a:rPr lang="zh-CN" altLang="en-US" dirty="0"/>
              <a:t> </a:t>
            </a:r>
            <a:r>
              <a:rPr lang="en-US" altLang="zh-CN" dirty="0"/>
              <a:t>barriers. The formation barrier for N2O is similar on both surfaces</a:t>
            </a:r>
          </a:p>
          <a:p>
            <a:r>
              <a:rPr lang="en-US" altLang="zh-CN" dirty="0"/>
              <a:t>2.</a:t>
            </a:r>
            <a:r>
              <a:rPr lang="zh-CN" altLang="en-US" dirty="0"/>
              <a:t> </a:t>
            </a:r>
            <a:r>
              <a:rPr lang="en-US" altLang="zh-CN" dirty="0"/>
              <a:t>Right figures are the TS of products formation. The lower barriers of N2 and NO originate from the stabilized transition states on step sites of (211). N2O forms on terrace sites of both surfaces and the reaction barriers are comparable.</a:t>
            </a:r>
            <a:endParaRPr lang="en-US" dirty="0"/>
          </a:p>
        </p:txBody>
      </p:sp>
      <p:sp>
        <p:nvSpPr>
          <p:cNvPr id="4" name="Slide Number Placeholder 3"/>
          <p:cNvSpPr>
            <a:spLocks noGrp="1"/>
          </p:cNvSpPr>
          <p:nvPr>
            <p:ph type="sldNum" sz="quarter" idx="5"/>
          </p:nvPr>
        </p:nvSpPr>
        <p:spPr/>
        <p:txBody>
          <a:bodyPr/>
          <a:lstStyle/>
          <a:p>
            <a:fld id="{F3DA0920-CAD2-4D19-A539-7AE97F220D56}" type="slidenum">
              <a:rPr lang="en-US" smtClean="0"/>
              <a:t>27</a:t>
            </a:fld>
            <a:endParaRPr lang="en-US"/>
          </a:p>
        </p:txBody>
      </p:sp>
    </p:spTree>
    <p:extLst>
      <p:ext uri="{BB962C8B-B14F-4D97-AF65-F5344CB8AC3E}">
        <p14:creationId xmlns:p14="http://schemas.microsoft.com/office/powerpoint/2010/main" val="11879877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228600" indent="-228600">
              <a:buAutoNum type="arabicPeriod"/>
            </a:pPr>
            <a:r>
              <a:rPr lang="en-US" altLang="zh-CN" dirty="0"/>
              <a:t>Pt(211)</a:t>
            </a:r>
            <a:r>
              <a:rPr lang="zh-CN" altLang="en-US" dirty="0"/>
              <a:t> </a:t>
            </a:r>
            <a:r>
              <a:rPr lang="en-US" altLang="zh-CN" dirty="0"/>
              <a:t>shows</a:t>
            </a:r>
            <a:r>
              <a:rPr lang="zh-CN" altLang="en-US" dirty="0"/>
              <a:t> </a:t>
            </a:r>
            <a:r>
              <a:rPr lang="en-US" altLang="zh-CN" dirty="0"/>
              <a:t>much</a:t>
            </a:r>
            <a:r>
              <a:rPr lang="zh-CN" altLang="en-US" dirty="0"/>
              <a:t> </a:t>
            </a:r>
            <a:r>
              <a:rPr lang="en-US" altLang="zh-CN" dirty="0"/>
              <a:t>higher</a:t>
            </a:r>
            <a:r>
              <a:rPr lang="zh-CN" altLang="en-US" dirty="0"/>
              <a:t> </a:t>
            </a:r>
            <a:r>
              <a:rPr lang="en-US" altLang="zh-CN" dirty="0"/>
              <a:t>rate</a:t>
            </a:r>
            <a:r>
              <a:rPr lang="zh-CN" altLang="en-US" dirty="0"/>
              <a:t> </a:t>
            </a:r>
            <a:r>
              <a:rPr lang="en-US" altLang="zh-CN" dirty="0"/>
              <a:t>on</a:t>
            </a:r>
            <a:r>
              <a:rPr lang="zh-CN" altLang="en-US" dirty="0"/>
              <a:t> </a:t>
            </a:r>
            <a:r>
              <a:rPr lang="en-US" altLang="zh-CN" dirty="0"/>
              <a:t>Pt(111)</a:t>
            </a:r>
            <a:r>
              <a:rPr lang="zh-CN" altLang="en-US" dirty="0"/>
              <a:t> </a:t>
            </a:r>
            <a:r>
              <a:rPr lang="en-US" altLang="zh-CN" dirty="0"/>
              <a:t>at</a:t>
            </a:r>
            <a:r>
              <a:rPr lang="zh-CN" altLang="en-US" dirty="0"/>
              <a:t> </a:t>
            </a:r>
            <a:r>
              <a:rPr lang="en-US" altLang="zh-CN" dirty="0"/>
              <a:t>low</a:t>
            </a:r>
            <a:r>
              <a:rPr lang="zh-CN" altLang="en-US" dirty="0"/>
              <a:t> </a:t>
            </a:r>
            <a:r>
              <a:rPr lang="en-US" altLang="zh-CN" dirty="0"/>
              <a:t>and</a:t>
            </a:r>
            <a:r>
              <a:rPr lang="zh-CN" altLang="en-US" dirty="0"/>
              <a:t> </a:t>
            </a:r>
            <a:r>
              <a:rPr lang="en-US" altLang="zh-CN" dirty="0"/>
              <a:t>intermediate</a:t>
            </a:r>
            <a:r>
              <a:rPr lang="zh-CN" altLang="en-US" dirty="0"/>
              <a:t> </a:t>
            </a:r>
            <a:r>
              <a:rPr lang="en-US" altLang="zh-CN" dirty="0"/>
              <a:t>T.</a:t>
            </a:r>
            <a:r>
              <a:rPr lang="zh-CN" altLang="en-US" dirty="0"/>
              <a:t> </a:t>
            </a:r>
            <a:r>
              <a:rPr lang="en-US" altLang="zh-CN" dirty="0"/>
              <a:t>The</a:t>
            </a:r>
            <a:r>
              <a:rPr lang="zh-CN" altLang="en-US" dirty="0"/>
              <a:t> </a:t>
            </a:r>
            <a:r>
              <a:rPr lang="en-US" altLang="zh-CN" dirty="0"/>
              <a:t>TOF</a:t>
            </a:r>
            <a:r>
              <a:rPr lang="zh-CN" altLang="en-US" dirty="0"/>
              <a:t> </a:t>
            </a:r>
            <a:r>
              <a:rPr lang="en-US" altLang="zh-CN" dirty="0"/>
              <a:t>converges</a:t>
            </a:r>
            <a:r>
              <a:rPr lang="zh-CN" altLang="en-US" dirty="0"/>
              <a:t> </a:t>
            </a:r>
            <a:r>
              <a:rPr lang="en-US" altLang="zh-CN" dirty="0"/>
              <a:t>at</a:t>
            </a:r>
            <a:r>
              <a:rPr lang="zh-CN" altLang="en-US" dirty="0"/>
              <a:t> </a:t>
            </a:r>
            <a:r>
              <a:rPr lang="en-US" altLang="zh-CN" dirty="0"/>
              <a:t>high</a:t>
            </a:r>
            <a:r>
              <a:rPr lang="zh-CN" altLang="en-US" dirty="0"/>
              <a:t> </a:t>
            </a:r>
            <a:r>
              <a:rPr lang="en-US" altLang="zh-CN" dirty="0"/>
              <a:t>T.</a:t>
            </a:r>
          </a:p>
          <a:p>
            <a:pPr marL="228600" indent="-228600">
              <a:buAutoNum type="arabicPeriod"/>
            </a:pPr>
            <a:r>
              <a:rPr lang="en-US" altLang="zh-CN" dirty="0"/>
              <a:t>At</a:t>
            </a:r>
            <a:r>
              <a:rPr lang="zh-CN" altLang="en-US" dirty="0"/>
              <a:t> </a:t>
            </a:r>
            <a:r>
              <a:rPr lang="en-US" altLang="zh-CN" dirty="0"/>
              <a:t>low</a:t>
            </a:r>
            <a:r>
              <a:rPr lang="zh-CN" altLang="en-US" dirty="0"/>
              <a:t> </a:t>
            </a:r>
            <a:r>
              <a:rPr lang="en-US" altLang="zh-CN" dirty="0"/>
              <a:t>T,</a:t>
            </a:r>
            <a:r>
              <a:rPr lang="zh-CN" altLang="en-US" dirty="0"/>
              <a:t> </a:t>
            </a:r>
            <a:r>
              <a:rPr lang="en-US" altLang="zh-CN" dirty="0"/>
              <a:t>multiple</a:t>
            </a:r>
            <a:r>
              <a:rPr lang="zh-CN" altLang="en-US" dirty="0"/>
              <a:t> </a:t>
            </a:r>
            <a:r>
              <a:rPr lang="en-US" altLang="zh-CN" dirty="0"/>
              <a:t>reactions</a:t>
            </a:r>
            <a:r>
              <a:rPr lang="zh-CN" altLang="en-US" dirty="0"/>
              <a:t> </a:t>
            </a:r>
            <a:r>
              <a:rPr lang="en-US" altLang="zh-CN" dirty="0"/>
              <a:t>control</a:t>
            </a:r>
            <a:r>
              <a:rPr lang="zh-CN" altLang="en-US" dirty="0"/>
              <a:t> </a:t>
            </a:r>
            <a:r>
              <a:rPr lang="en-US" altLang="zh-CN" dirty="0"/>
              <a:t>the</a:t>
            </a:r>
            <a:r>
              <a:rPr lang="zh-CN" altLang="en-US" dirty="0"/>
              <a:t> </a:t>
            </a:r>
            <a:r>
              <a:rPr lang="en-US" altLang="zh-CN" dirty="0"/>
              <a:t>rate</a:t>
            </a:r>
            <a:r>
              <a:rPr lang="zh-CN" altLang="en-US" dirty="0"/>
              <a:t> </a:t>
            </a:r>
            <a:r>
              <a:rPr lang="en-US" altLang="zh-CN" dirty="0"/>
              <a:t>on</a:t>
            </a:r>
            <a:r>
              <a:rPr lang="zh-CN" altLang="en-US" dirty="0"/>
              <a:t> </a:t>
            </a:r>
            <a:r>
              <a:rPr lang="en-US" altLang="zh-CN" dirty="0"/>
              <a:t>Pt(211),</a:t>
            </a:r>
            <a:r>
              <a:rPr lang="zh-CN" altLang="en-US" dirty="0"/>
              <a:t> </a:t>
            </a:r>
            <a:r>
              <a:rPr lang="en-US" altLang="zh-CN" dirty="0"/>
              <a:t>with</a:t>
            </a:r>
            <a:r>
              <a:rPr lang="zh-CN" altLang="en-US" dirty="0"/>
              <a:t> </a:t>
            </a:r>
            <a:r>
              <a:rPr lang="en-US" altLang="zh-CN" dirty="0"/>
              <a:t>barriers</a:t>
            </a:r>
            <a:r>
              <a:rPr lang="zh-CN" altLang="en-US" dirty="0"/>
              <a:t> </a:t>
            </a:r>
            <a:r>
              <a:rPr lang="en-US" altLang="zh-CN" dirty="0"/>
              <a:t>lower</a:t>
            </a:r>
            <a:r>
              <a:rPr lang="zh-CN" altLang="en-US" dirty="0"/>
              <a:t> </a:t>
            </a:r>
            <a:r>
              <a:rPr lang="en-US" altLang="zh-CN" dirty="0"/>
              <a:t>than</a:t>
            </a:r>
            <a:r>
              <a:rPr lang="zh-CN" altLang="en-US" dirty="0"/>
              <a:t> </a:t>
            </a:r>
            <a:r>
              <a:rPr lang="en-US" altLang="zh-CN" dirty="0"/>
              <a:t>1.6</a:t>
            </a:r>
            <a:r>
              <a:rPr lang="zh-CN" altLang="en-US" dirty="0"/>
              <a:t> </a:t>
            </a:r>
            <a:r>
              <a:rPr lang="en-US" altLang="zh-CN" dirty="0"/>
              <a:t>eV.</a:t>
            </a:r>
            <a:r>
              <a:rPr lang="zh-CN" altLang="en-US" dirty="0"/>
              <a:t> </a:t>
            </a:r>
            <a:r>
              <a:rPr lang="en-US" altLang="zh-CN" dirty="0"/>
              <a:t>N2</a:t>
            </a:r>
            <a:r>
              <a:rPr lang="zh-CN" altLang="en-US" dirty="0"/>
              <a:t> </a:t>
            </a:r>
            <a:r>
              <a:rPr lang="en-US" altLang="zh-CN" dirty="0"/>
              <a:t>formation</a:t>
            </a:r>
            <a:r>
              <a:rPr lang="zh-CN" altLang="en-US" dirty="0"/>
              <a:t> </a:t>
            </a:r>
            <a:r>
              <a:rPr lang="en-US" altLang="zh-CN" dirty="0"/>
              <a:t>controls</a:t>
            </a:r>
            <a:r>
              <a:rPr lang="zh-CN" altLang="en-US" dirty="0"/>
              <a:t> </a:t>
            </a:r>
            <a:r>
              <a:rPr lang="en-US" altLang="zh-CN" dirty="0"/>
              <a:t>the</a:t>
            </a:r>
            <a:r>
              <a:rPr lang="zh-CN" altLang="en-US" dirty="0"/>
              <a:t> </a:t>
            </a:r>
            <a:r>
              <a:rPr lang="en-US" altLang="zh-CN" dirty="0"/>
              <a:t>rate</a:t>
            </a:r>
            <a:r>
              <a:rPr lang="zh-CN" altLang="en-US" dirty="0"/>
              <a:t> </a:t>
            </a:r>
            <a:r>
              <a:rPr lang="en-US" altLang="zh-CN" dirty="0"/>
              <a:t>on</a:t>
            </a:r>
            <a:r>
              <a:rPr lang="zh-CN" altLang="en-US" dirty="0"/>
              <a:t> </a:t>
            </a:r>
            <a:r>
              <a:rPr lang="en-US" altLang="zh-CN" dirty="0"/>
              <a:t>Pt(111),</a:t>
            </a:r>
            <a:r>
              <a:rPr lang="zh-CN" altLang="en-US" dirty="0"/>
              <a:t> </a:t>
            </a:r>
            <a:r>
              <a:rPr lang="en-US" altLang="zh-CN" dirty="0"/>
              <a:t>with</a:t>
            </a:r>
            <a:r>
              <a:rPr lang="zh-CN" altLang="en-US" dirty="0"/>
              <a:t> </a:t>
            </a:r>
            <a:r>
              <a:rPr lang="en-US" altLang="zh-CN" dirty="0"/>
              <a:t>a</a:t>
            </a:r>
            <a:r>
              <a:rPr lang="zh-CN" altLang="en-US" dirty="0"/>
              <a:t> </a:t>
            </a:r>
            <a:r>
              <a:rPr lang="en-US" altLang="zh-CN" dirty="0"/>
              <a:t>much</a:t>
            </a:r>
            <a:r>
              <a:rPr lang="zh-CN" altLang="en-US" dirty="0"/>
              <a:t> </a:t>
            </a:r>
            <a:r>
              <a:rPr lang="en-US" altLang="zh-CN" dirty="0"/>
              <a:t>higher</a:t>
            </a:r>
            <a:r>
              <a:rPr lang="zh-CN" altLang="en-US" dirty="0"/>
              <a:t> </a:t>
            </a:r>
            <a:r>
              <a:rPr lang="en-US" altLang="zh-CN" dirty="0"/>
              <a:t>barrier,</a:t>
            </a:r>
            <a:r>
              <a:rPr lang="zh-CN" altLang="en-US" dirty="0"/>
              <a:t> </a:t>
            </a:r>
            <a:r>
              <a:rPr lang="en-US" altLang="zh-CN" dirty="0"/>
              <a:t>2.5</a:t>
            </a:r>
            <a:r>
              <a:rPr lang="zh-CN" altLang="en-US" dirty="0"/>
              <a:t> </a:t>
            </a:r>
            <a:r>
              <a:rPr lang="en-US" altLang="zh-CN" dirty="0"/>
              <a:t>eV.</a:t>
            </a:r>
            <a:r>
              <a:rPr lang="zh-CN" altLang="en-US" dirty="0"/>
              <a:t> </a:t>
            </a:r>
            <a:endParaRPr lang="en-US" altLang="zh-CN" dirty="0"/>
          </a:p>
          <a:p>
            <a:pPr marL="228600" indent="-228600">
              <a:buAutoNum type="arabicPeriod"/>
            </a:pPr>
            <a:r>
              <a:rPr lang="en-US" altLang="zh-CN" dirty="0"/>
              <a:t>Similarly,</a:t>
            </a:r>
            <a:r>
              <a:rPr lang="zh-CN" altLang="en-US" dirty="0"/>
              <a:t> </a:t>
            </a:r>
            <a:r>
              <a:rPr lang="en-US" altLang="zh-CN" dirty="0"/>
              <a:t>between</a:t>
            </a:r>
            <a:r>
              <a:rPr lang="zh-CN" altLang="en-US" dirty="0"/>
              <a:t> </a:t>
            </a:r>
            <a:r>
              <a:rPr lang="en-US" altLang="zh-CN" dirty="0"/>
              <a:t>600~1000K,</a:t>
            </a:r>
            <a:r>
              <a:rPr lang="zh-CN" altLang="en-US" dirty="0"/>
              <a:t> </a:t>
            </a:r>
            <a:r>
              <a:rPr lang="en-US" altLang="zh-CN" dirty="0"/>
              <a:t>multiple</a:t>
            </a:r>
            <a:r>
              <a:rPr lang="zh-CN" altLang="en-US" dirty="0"/>
              <a:t> </a:t>
            </a:r>
            <a:r>
              <a:rPr lang="en-US" altLang="zh-CN" dirty="0"/>
              <a:t>reactions</a:t>
            </a:r>
            <a:r>
              <a:rPr lang="zh-CN" altLang="en-US" dirty="0"/>
              <a:t> </a:t>
            </a:r>
            <a:r>
              <a:rPr lang="en-US" altLang="zh-CN" dirty="0"/>
              <a:t>with</a:t>
            </a:r>
            <a:r>
              <a:rPr lang="zh-CN" altLang="en-US" dirty="0"/>
              <a:t> </a:t>
            </a:r>
            <a:r>
              <a:rPr lang="en-US" altLang="zh-CN" dirty="0"/>
              <a:t>low</a:t>
            </a:r>
            <a:r>
              <a:rPr lang="zh-CN" altLang="en-US" dirty="0"/>
              <a:t> </a:t>
            </a:r>
            <a:r>
              <a:rPr lang="en-US" altLang="zh-CN" dirty="0"/>
              <a:t>barriers</a:t>
            </a:r>
            <a:r>
              <a:rPr lang="zh-CN" altLang="en-US" dirty="0"/>
              <a:t> </a:t>
            </a:r>
            <a:r>
              <a:rPr lang="en-US" altLang="zh-CN" dirty="0"/>
              <a:t>control</a:t>
            </a:r>
            <a:r>
              <a:rPr lang="zh-CN" altLang="en-US" dirty="0"/>
              <a:t> </a:t>
            </a:r>
            <a:r>
              <a:rPr lang="en-US" altLang="zh-CN" dirty="0"/>
              <a:t>the</a:t>
            </a:r>
            <a:r>
              <a:rPr lang="zh-CN" altLang="en-US" dirty="0"/>
              <a:t> </a:t>
            </a:r>
            <a:r>
              <a:rPr lang="en-US" altLang="zh-CN" dirty="0"/>
              <a:t>rate</a:t>
            </a:r>
            <a:r>
              <a:rPr lang="zh-CN" altLang="en-US" dirty="0"/>
              <a:t> </a:t>
            </a:r>
            <a:r>
              <a:rPr lang="en-US" altLang="zh-CN" dirty="0"/>
              <a:t>on</a:t>
            </a:r>
            <a:r>
              <a:rPr lang="zh-CN" altLang="en-US" dirty="0"/>
              <a:t> </a:t>
            </a:r>
            <a:r>
              <a:rPr lang="en-US" altLang="zh-CN" dirty="0"/>
              <a:t>Pt(211).</a:t>
            </a:r>
            <a:r>
              <a:rPr lang="zh-CN" altLang="en-US" dirty="0"/>
              <a:t> </a:t>
            </a:r>
            <a:r>
              <a:rPr lang="en-US" altLang="zh-CN" dirty="0"/>
              <a:t>NO</a:t>
            </a:r>
            <a:r>
              <a:rPr lang="zh-CN" altLang="en-US" dirty="0"/>
              <a:t> </a:t>
            </a:r>
            <a:r>
              <a:rPr lang="en-US" altLang="zh-CN" dirty="0"/>
              <a:t>formation,</a:t>
            </a:r>
            <a:r>
              <a:rPr lang="zh-CN" altLang="en-US" dirty="0"/>
              <a:t> </a:t>
            </a:r>
            <a:r>
              <a:rPr lang="en-US" altLang="zh-CN" dirty="0"/>
              <a:t>with</a:t>
            </a:r>
            <a:r>
              <a:rPr lang="zh-CN" altLang="en-US" dirty="0"/>
              <a:t> </a:t>
            </a:r>
            <a:r>
              <a:rPr lang="en-US" altLang="zh-CN" dirty="0"/>
              <a:t>a</a:t>
            </a:r>
            <a:r>
              <a:rPr lang="zh-CN" altLang="en-US" dirty="0"/>
              <a:t> </a:t>
            </a:r>
            <a:r>
              <a:rPr lang="en-US" altLang="zh-CN" dirty="0"/>
              <a:t>high</a:t>
            </a:r>
            <a:r>
              <a:rPr lang="zh-CN" altLang="en-US" dirty="0"/>
              <a:t> </a:t>
            </a:r>
            <a:r>
              <a:rPr lang="en-US" altLang="zh-CN" dirty="0"/>
              <a:t>barrier,</a:t>
            </a:r>
            <a:r>
              <a:rPr lang="zh-CN" altLang="en-US" dirty="0"/>
              <a:t> </a:t>
            </a:r>
            <a:r>
              <a:rPr lang="en-US" altLang="zh-CN" dirty="0"/>
              <a:t>controls</a:t>
            </a:r>
            <a:r>
              <a:rPr lang="zh-CN" altLang="en-US" dirty="0"/>
              <a:t> </a:t>
            </a:r>
            <a:r>
              <a:rPr lang="en-US" altLang="zh-CN" dirty="0"/>
              <a:t>the</a:t>
            </a:r>
            <a:r>
              <a:rPr lang="zh-CN" altLang="en-US" dirty="0"/>
              <a:t> </a:t>
            </a:r>
            <a:r>
              <a:rPr lang="en-US" altLang="zh-CN" dirty="0"/>
              <a:t>rate</a:t>
            </a:r>
            <a:r>
              <a:rPr lang="zh-CN" altLang="en-US" dirty="0"/>
              <a:t> </a:t>
            </a:r>
            <a:r>
              <a:rPr lang="en-US" altLang="zh-CN" dirty="0"/>
              <a:t>on</a:t>
            </a:r>
            <a:r>
              <a:rPr lang="zh-CN" altLang="en-US" dirty="0"/>
              <a:t> </a:t>
            </a:r>
            <a:r>
              <a:rPr lang="en-US" altLang="zh-CN" dirty="0"/>
              <a:t>Pt(111).</a:t>
            </a:r>
          </a:p>
          <a:p>
            <a:pPr marL="228600" indent="-228600">
              <a:buAutoNum type="arabicPeriod"/>
            </a:pPr>
            <a:r>
              <a:rPr lang="en-US" altLang="zh-CN" dirty="0"/>
              <a:t>At</a:t>
            </a:r>
            <a:r>
              <a:rPr lang="zh-CN" altLang="en-US" dirty="0"/>
              <a:t> </a:t>
            </a:r>
            <a:r>
              <a:rPr lang="en-US" altLang="zh-CN" dirty="0"/>
              <a:t>high</a:t>
            </a:r>
            <a:r>
              <a:rPr lang="zh-CN" altLang="en-US" dirty="0"/>
              <a:t> </a:t>
            </a:r>
            <a:r>
              <a:rPr lang="en-US" altLang="zh-CN" dirty="0"/>
              <a:t>T,</a:t>
            </a:r>
            <a:r>
              <a:rPr lang="zh-CN" altLang="en-US" dirty="0"/>
              <a:t> </a:t>
            </a:r>
            <a:r>
              <a:rPr lang="en-US" altLang="zh-CN" dirty="0"/>
              <a:t>ammonia</a:t>
            </a:r>
            <a:r>
              <a:rPr lang="zh-CN" altLang="en-US" dirty="0"/>
              <a:t> </a:t>
            </a:r>
            <a:r>
              <a:rPr lang="en-US" altLang="zh-CN" dirty="0"/>
              <a:t>activation</a:t>
            </a:r>
            <a:r>
              <a:rPr lang="zh-CN" altLang="en-US" dirty="0"/>
              <a:t> </a:t>
            </a:r>
            <a:r>
              <a:rPr lang="en-US" altLang="zh-CN" dirty="0"/>
              <a:t>controls</a:t>
            </a:r>
            <a:r>
              <a:rPr lang="zh-CN" altLang="en-US" dirty="0"/>
              <a:t> </a:t>
            </a:r>
            <a:r>
              <a:rPr lang="en-US" altLang="zh-CN" dirty="0"/>
              <a:t>the</a:t>
            </a:r>
            <a:r>
              <a:rPr lang="zh-CN" altLang="en-US" dirty="0"/>
              <a:t> </a:t>
            </a:r>
            <a:r>
              <a:rPr lang="en-US" altLang="zh-CN" dirty="0"/>
              <a:t>rates</a:t>
            </a:r>
            <a:r>
              <a:rPr lang="zh-CN" altLang="en-US" dirty="0"/>
              <a:t> </a:t>
            </a:r>
            <a:r>
              <a:rPr lang="en-US" altLang="zh-CN" dirty="0"/>
              <a:t>on</a:t>
            </a:r>
            <a:r>
              <a:rPr lang="zh-CN" altLang="en-US" dirty="0"/>
              <a:t> </a:t>
            </a:r>
            <a:r>
              <a:rPr lang="en-US" altLang="zh-CN" dirty="0"/>
              <a:t>both</a:t>
            </a:r>
            <a:r>
              <a:rPr lang="zh-CN" altLang="en-US" dirty="0"/>
              <a:t> </a:t>
            </a:r>
            <a:r>
              <a:rPr lang="en-US" altLang="zh-CN" dirty="0"/>
              <a:t>surfaces.</a:t>
            </a:r>
            <a:r>
              <a:rPr lang="zh-CN" altLang="en-US" dirty="0"/>
              <a:t> </a:t>
            </a:r>
            <a:r>
              <a:rPr lang="en-US" altLang="zh-CN" dirty="0"/>
              <a:t>The</a:t>
            </a:r>
            <a:r>
              <a:rPr lang="zh-CN" altLang="en-US" dirty="0"/>
              <a:t> </a:t>
            </a:r>
            <a:r>
              <a:rPr lang="en-US" altLang="zh-CN" dirty="0"/>
              <a:t>reaction</a:t>
            </a:r>
            <a:r>
              <a:rPr lang="zh-CN" altLang="en-US" dirty="0"/>
              <a:t> </a:t>
            </a:r>
            <a:r>
              <a:rPr lang="en-US" altLang="zh-CN" dirty="0"/>
              <a:t>has</a:t>
            </a:r>
            <a:r>
              <a:rPr lang="zh-CN" altLang="en-US" dirty="0"/>
              <a:t> </a:t>
            </a:r>
            <a:r>
              <a:rPr lang="en-US" altLang="zh-CN" dirty="0"/>
              <a:t>similar</a:t>
            </a:r>
            <a:r>
              <a:rPr lang="zh-CN" altLang="en-US" dirty="0"/>
              <a:t> </a:t>
            </a:r>
            <a:r>
              <a:rPr lang="en-US" altLang="zh-CN" dirty="0"/>
              <a:t>barriers</a:t>
            </a:r>
            <a:r>
              <a:rPr lang="zh-CN" altLang="en-US" dirty="0"/>
              <a:t> </a:t>
            </a:r>
            <a:r>
              <a:rPr lang="en-US" altLang="zh-CN" dirty="0"/>
              <a:t>and</a:t>
            </a:r>
            <a:r>
              <a:rPr lang="zh-CN" altLang="en-US" dirty="0"/>
              <a:t> </a:t>
            </a:r>
            <a:r>
              <a:rPr lang="en-US" altLang="zh-CN" dirty="0"/>
              <a:t>therefore</a:t>
            </a:r>
            <a:r>
              <a:rPr lang="zh-CN" altLang="en-US" dirty="0"/>
              <a:t> </a:t>
            </a:r>
            <a:r>
              <a:rPr lang="en-US" altLang="zh-CN" dirty="0"/>
              <a:t>rates</a:t>
            </a:r>
            <a:r>
              <a:rPr lang="zh-CN" altLang="en-US" dirty="0"/>
              <a:t> </a:t>
            </a:r>
            <a:r>
              <a:rPr lang="en-US" altLang="zh-CN" dirty="0"/>
              <a:t>on</a:t>
            </a:r>
            <a:r>
              <a:rPr lang="zh-CN" altLang="en-US" dirty="0"/>
              <a:t> </a:t>
            </a:r>
            <a:r>
              <a:rPr lang="en-US" altLang="zh-CN" dirty="0"/>
              <a:t>two</a:t>
            </a:r>
            <a:r>
              <a:rPr lang="zh-CN" altLang="en-US" dirty="0"/>
              <a:t> </a:t>
            </a:r>
            <a:r>
              <a:rPr lang="en-US" altLang="zh-CN" dirty="0"/>
              <a:t>surfaces.</a:t>
            </a:r>
            <a:endParaRPr lang="en-US" dirty="0"/>
          </a:p>
        </p:txBody>
      </p:sp>
      <p:sp>
        <p:nvSpPr>
          <p:cNvPr id="4" name="Slide Number Placeholder 3"/>
          <p:cNvSpPr>
            <a:spLocks noGrp="1"/>
          </p:cNvSpPr>
          <p:nvPr>
            <p:ph type="sldNum" sz="quarter" idx="10"/>
          </p:nvPr>
        </p:nvSpPr>
        <p:spPr/>
        <p:txBody>
          <a:bodyPr/>
          <a:lstStyle/>
          <a:p>
            <a:fld id="{F3DA0920-CAD2-4D19-A539-7AE97F220D56}" type="slidenum">
              <a:rPr lang="en-US" smtClean="0"/>
              <a:t>29</a:t>
            </a:fld>
            <a:endParaRPr lang="en-US"/>
          </a:p>
        </p:txBody>
      </p:sp>
    </p:spTree>
    <p:extLst>
      <p:ext uri="{BB962C8B-B14F-4D97-AF65-F5344CB8AC3E}">
        <p14:creationId xmlns:p14="http://schemas.microsoft.com/office/powerpoint/2010/main" val="39304617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At low T, ammonia oxidation is selective to N2. At high T, ammonia oxidation is selective to NO, regardless of the Pt surface and reaction flow pathways.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OH pathway shows more contributions at low T.</a:t>
            </a:r>
          </a:p>
        </p:txBody>
      </p:sp>
      <p:sp>
        <p:nvSpPr>
          <p:cNvPr id="4" name="Slide Number Placeholder 3"/>
          <p:cNvSpPr>
            <a:spLocks noGrp="1"/>
          </p:cNvSpPr>
          <p:nvPr>
            <p:ph type="sldNum" sz="quarter" idx="5"/>
          </p:nvPr>
        </p:nvSpPr>
        <p:spPr/>
        <p:txBody>
          <a:bodyPr/>
          <a:lstStyle/>
          <a:p>
            <a:fld id="{F3DA0920-CAD2-4D19-A539-7AE97F220D56}" type="slidenum">
              <a:rPr lang="en-US" smtClean="0"/>
              <a:t>30</a:t>
            </a:fld>
            <a:endParaRPr lang="en-US"/>
          </a:p>
        </p:txBody>
      </p:sp>
    </p:spTree>
    <p:extLst>
      <p:ext uri="{BB962C8B-B14F-4D97-AF65-F5344CB8AC3E}">
        <p14:creationId xmlns:p14="http://schemas.microsoft.com/office/powerpoint/2010/main" val="32766352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atin typeface="Corbel" panose="020B0503020204020204" pitchFamily="34" charset="0"/>
              </a:defRPr>
            </a:lvl1pPr>
          </a:lstStyle>
          <a:p>
            <a:r>
              <a:rPr lang="en-US" dirty="0"/>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atin typeface="Corbel" panose="020B0503020204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ltLang="en-US"/>
              <a:t>W. F. Schneider</a:t>
            </a:r>
          </a:p>
        </p:txBody>
      </p:sp>
      <p:sp>
        <p:nvSpPr>
          <p:cNvPr id="5" name="Footer Placeholder 4"/>
          <p:cNvSpPr>
            <a:spLocks noGrp="1"/>
          </p:cNvSpPr>
          <p:nvPr>
            <p:ph type="ftr" sz="quarter" idx="11"/>
          </p:nvPr>
        </p:nvSpPr>
        <p:spPr/>
        <p:txBody>
          <a:bodyPr/>
          <a:lstStyle/>
          <a:p>
            <a:r>
              <a:rPr lang="en-US" altLang="en-US"/>
              <a:t>CBE 60546</a:t>
            </a:r>
          </a:p>
        </p:txBody>
      </p:sp>
      <p:sp>
        <p:nvSpPr>
          <p:cNvPr id="6" name="Slide Number Placeholder 5"/>
          <p:cNvSpPr>
            <a:spLocks noGrp="1"/>
          </p:cNvSpPr>
          <p:nvPr>
            <p:ph type="sldNum" sz="quarter" idx="12"/>
          </p:nvPr>
        </p:nvSpPr>
        <p:spPr/>
        <p:txBody>
          <a:bodyPr/>
          <a:lstStyle/>
          <a:p>
            <a:fld id="{58665BD9-38BD-A342-A87A-316C658221C6}" type="slidenum">
              <a:rPr lang="en-US" altLang="en-US" smtClean="0"/>
              <a:pPr/>
              <a:t>‹#›</a:t>
            </a:fld>
            <a:endParaRPr lang="en-US" altLang="en-US"/>
          </a:p>
        </p:txBody>
      </p:sp>
      <p:sp>
        <p:nvSpPr>
          <p:cNvPr id="7" name="Text Box 14">
            <a:extLst>
              <a:ext uri="{FF2B5EF4-FFF2-40B4-BE49-F238E27FC236}">
                <a16:creationId xmlns:a16="http://schemas.microsoft.com/office/drawing/2014/main" id="{AC8FD281-3497-8733-1B6C-C73715C8C852}"/>
              </a:ext>
            </a:extLst>
          </p:cNvPr>
          <p:cNvSpPr txBox="1">
            <a:spLocks noChangeArrowheads="1"/>
          </p:cNvSpPr>
          <p:nvPr userDrawn="1"/>
        </p:nvSpPr>
        <p:spPr bwMode="auto">
          <a:xfrm>
            <a:off x="152400" y="4641056"/>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en-US" altLang="en-US" sz="1400" i="1"/>
          </a:p>
        </p:txBody>
      </p:sp>
    </p:spTree>
    <p:extLst>
      <p:ext uri="{BB962C8B-B14F-4D97-AF65-F5344CB8AC3E}">
        <p14:creationId xmlns:p14="http://schemas.microsoft.com/office/powerpoint/2010/main" val="3288490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90600" y="209550"/>
            <a:ext cx="7524750" cy="392906"/>
          </a:xfrm>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ltLang="en-US"/>
              <a:t>W. F. Schneider</a:t>
            </a:r>
          </a:p>
        </p:txBody>
      </p:sp>
      <p:sp>
        <p:nvSpPr>
          <p:cNvPr id="5" name="Footer Placeholder 4"/>
          <p:cNvSpPr>
            <a:spLocks noGrp="1"/>
          </p:cNvSpPr>
          <p:nvPr>
            <p:ph type="ftr" sz="quarter" idx="11"/>
          </p:nvPr>
        </p:nvSpPr>
        <p:spPr/>
        <p:txBody>
          <a:bodyPr/>
          <a:lstStyle/>
          <a:p>
            <a:r>
              <a:rPr lang="en-US" altLang="en-US"/>
              <a:t>CBE 60546</a:t>
            </a:r>
          </a:p>
        </p:txBody>
      </p:sp>
      <p:sp>
        <p:nvSpPr>
          <p:cNvPr id="6" name="Slide Number Placeholder 5"/>
          <p:cNvSpPr>
            <a:spLocks noGrp="1"/>
          </p:cNvSpPr>
          <p:nvPr>
            <p:ph type="sldNum" sz="quarter" idx="12"/>
          </p:nvPr>
        </p:nvSpPr>
        <p:spPr/>
        <p:txBody>
          <a:bodyPr/>
          <a:lstStyle/>
          <a:p>
            <a:fld id="{CD2D06ED-2C85-1746-BBCF-2446883821A5}" type="slidenum">
              <a:rPr lang="en-US" altLang="en-US" smtClean="0"/>
              <a:pPr/>
              <a:t>‹#›</a:t>
            </a:fld>
            <a:endParaRPr lang="en-US" altLang="en-US"/>
          </a:p>
        </p:txBody>
      </p:sp>
    </p:spTree>
    <p:extLst>
      <p:ext uri="{BB962C8B-B14F-4D97-AF65-F5344CB8AC3E}">
        <p14:creationId xmlns:p14="http://schemas.microsoft.com/office/powerpoint/2010/main" val="39119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7"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7"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ltLang="en-US"/>
              <a:t>W. F. Schneider</a:t>
            </a:r>
          </a:p>
        </p:txBody>
      </p:sp>
      <p:sp>
        <p:nvSpPr>
          <p:cNvPr id="5" name="Footer Placeholder 4"/>
          <p:cNvSpPr>
            <a:spLocks noGrp="1"/>
          </p:cNvSpPr>
          <p:nvPr>
            <p:ph type="ftr" sz="quarter" idx="11"/>
          </p:nvPr>
        </p:nvSpPr>
        <p:spPr/>
        <p:txBody>
          <a:bodyPr/>
          <a:lstStyle/>
          <a:p>
            <a:r>
              <a:rPr lang="en-US" altLang="en-US"/>
              <a:t>CBE 60546</a:t>
            </a:r>
          </a:p>
        </p:txBody>
      </p:sp>
      <p:sp>
        <p:nvSpPr>
          <p:cNvPr id="6" name="Slide Number Placeholder 5"/>
          <p:cNvSpPr>
            <a:spLocks noGrp="1"/>
          </p:cNvSpPr>
          <p:nvPr>
            <p:ph type="sldNum" sz="quarter" idx="12"/>
          </p:nvPr>
        </p:nvSpPr>
        <p:spPr/>
        <p:txBody>
          <a:bodyPr/>
          <a:lstStyle/>
          <a:p>
            <a:fld id="{E9D337FE-A68F-0949-B775-5E1A402DFAE9}" type="slidenum">
              <a:rPr lang="en-US" altLang="en-US" smtClean="0"/>
              <a:pPr/>
              <a:t>‹#›</a:t>
            </a:fld>
            <a:endParaRPr lang="en-US" altLang="en-US"/>
          </a:p>
        </p:txBody>
      </p:sp>
    </p:spTree>
    <p:extLst>
      <p:ext uri="{BB962C8B-B14F-4D97-AF65-F5344CB8AC3E}">
        <p14:creationId xmlns:p14="http://schemas.microsoft.com/office/powerpoint/2010/main" val="1120587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819150"/>
            <a:ext cx="3886200" cy="3813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819150"/>
            <a:ext cx="3886200" cy="3813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ltLang="en-US"/>
              <a:t>W. F. Schneider</a:t>
            </a:r>
          </a:p>
        </p:txBody>
      </p:sp>
      <p:sp>
        <p:nvSpPr>
          <p:cNvPr id="6" name="Footer Placeholder 5"/>
          <p:cNvSpPr>
            <a:spLocks noGrp="1"/>
          </p:cNvSpPr>
          <p:nvPr>
            <p:ph type="ftr" sz="quarter" idx="11"/>
          </p:nvPr>
        </p:nvSpPr>
        <p:spPr/>
        <p:txBody>
          <a:bodyPr/>
          <a:lstStyle/>
          <a:p>
            <a:r>
              <a:rPr lang="en-US" altLang="en-US"/>
              <a:t>CBE 60546</a:t>
            </a:r>
          </a:p>
        </p:txBody>
      </p:sp>
      <p:sp>
        <p:nvSpPr>
          <p:cNvPr id="7" name="Slide Number Placeholder 6"/>
          <p:cNvSpPr>
            <a:spLocks noGrp="1"/>
          </p:cNvSpPr>
          <p:nvPr>
            <p:ph type="sldNum" sz="quarter" idx="12"/>
          </p:nvPr>
        </p:nvSpPr>
        <p:spPr/>
        <p:txBody>
          <a:bodyPr/>
          <a:lstStyle/>
          <a:p>
            <a:fld id="{E1CB4F6F-0AF2-1E47-AEA9-F74538B660FF}" type="slidenum">
              <a:rPr lang="en-US" altLang="en-US" smtClean="0"/>
              <a:pPr/>
              <a:t>‹#›</a:t>
            </a:fld>
            <a:endParaRPr lang="en-US" altLang="en-US"/>
          </a:p>
        </p:txBody>
      </p:sp>
    </p:spTree>
    <p:extLst>
      <p:ext uri="{BB962C8B-B14F-4D97-AF65-F5344CB8AC3E}">
        <p14:creationId xmlns:p14="http://schemas.microsoft.com/office/powerpoint/2010/main" val="3937909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ltLang="en-US"/>
              <a:t>W. F. Schneider</a:t>
            </a:r>
          </a:p>
        </p:txBody>
      </p:sp>
      <p:sp>
        <p:nvSpPr>
          <p:cNvPr id="8" name="Footer Placeholder 7"/>
          <p:cNvSpPr>
            <a:spLocks noGrp="1"/>
          </p:cNvSpPr>
          <p:nvPr>
            <p:ph type="ftr" sz="quarter" idx="11"/>
          </p:nvPr>
        </p:nvSpPr>
        <p:spPr/>
        <p:txBody>
          <a:bodyPr/>
          <a:lstStyle/>
          <a:p>
            <a:r>
              <a:rPr lang="en-US" altLang="en-US"/>
              <a:t>CBE 60546</a:t>
            </a:r>
          </a:p>
        </p:txBody>
      </p:sp>
      <p:sp>
        <p:nvSpPr>
          <p:cNvPr id="9" name="Slide Number Placeholder 8"/>
          <p:cNvSpPr>
            <a:spLocks noGrp="1"/>
          </p:cNvSpPr>
          <p:nvPr>
            <p:ph type="sldNum" sz="quarter" idx="12"/>
          </p:nvPr>
        </p:nvSpPr>
        <p:spPr/>
        <p:txBody>
          <a:bodyPr/>
          <a:lstStyle/>
          <a:p>
            <a:fld id="{1068CB13-C5C6-2242-B3B2-2D2C398CEB8F}" type="slidenum">
              <a:rPr lang="en-US" altLang="en-US" smtClean="0"/>
              <a:pPr/>
              <a:t>‹#›</a:t>
            </a:fld>
            <a:endParaRPr lang="en-US" altLang="en-US"/>
          </a:p>
        </p:txBody>
      </p:sp>
    </p:spTree>
    <p:extLst>
      <p:ext uri="{BB962C8B-B14F-4D97-AF65-F5344CB8AC3E}">
        <p14:creationId xmlns:p14="http://schemas.microsoft.com/office/powerpoint/2010/main" val="2145154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ltLang="en-US"/>
              <a:t>W. F. Schneider</a:t>
            </a:r>
          </a:p>
        </p:txBody>
      </p:sp>
      <p:sp>
        <p:nvSpPr>
          <p:cNvPr id="4" name="Footer Placeholder 3"/>
          <p:cNvSpPr>
            <a:spLocks noGrp="1"/>
          </p:cNvSpPr>
          <p:nvPr>
            <p:ph type="ftr" sz="quarter" idx="11"/>
          </p:nvPr>
        </p:nvSpPr>
        <p:spPr/>
        <p:txBody>
          <a:bodyPr/>
          <a:lstStyle/>
          <a:p>
            <a:r>
              <a:rPr lang="en-US" altLang="en-US"/>
              <a:t>CBE 60546</a:t>
            </a:r>
          </a:p>
        </p:txBody>
      </p:sp>
      <p:sp>
        <p:nvSpPr>
          <p:cNvPr id="5" name="Slide Number Placeholder 4"/>
          <p:cNvSpPr>
            <a:spLocks noGrp="1"/>
          </p:cNvSpPr>
          <p:nvPr>
            <p:ph type="sldNum" sz="quarter" idx="12"/>
          </p:nvPr>
        </p:nvSpPr>
        <p:spPr/>
        <p:txBody>
          <a:bodyPr/>
          <a:lstStyle/>
          <a:p>
            <a:fld id="{99929DBD-C90B-4846-A161-5E0D09CF35E5}" type="slidenum">
              <a:rPr lang="en-US" altLang="en-US" smtClean="0"/>
              <a:pPr/>
              <a:t>‹#›</a:t>
            </a:fld>
            <a:endParaRPr lang="en-US" altLang="en-US"/>
          </a:p>
        </p:txBody>
      </p:sp>
    </p:spTree>
    <p:extLst>
      <p:ext uri="{BB962C8B-B14F-4D97-AF65-F5344CB8AC3E}">
        <p14:creationId xmlns:p14="http://schemas.microsoft.com/office/powerpoint/2010/main" val="933686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ltLang="en-US"/>
              <a:t>W. F. Schneider</a:t>
            </a:r>
          </a:p>
        </p:txBody>
      </p:sp>
      <p:sp>
        <p:nvSpPr>
          <p:cNvPr id="3" name="Footer Placeholder 2"/>
          <p:cNvSpPr>
            <a:spLocks noGrp="1"/>
          </p:cNvSpPr>
          <p:nvPr>
            <p:ph type="ftr" sz="quarter" idx="11"/>
          </p:nvPr>
        </p:nvSpPr>
        <p:spPr/>
        <p:txBody>
          <a:bodyPr/>
          <a:lstStyle/>
          <a:p>
            <a:r>
              <a:rPr lang="en-US" altLang="en-US"/>
              <a:t>CBE 60546</a:t>
            </a:r>
          </a:p>
        </p:txBody>
      </p:sp>
      <p:sp>
        <p:nvSpPr>
          <p:cNvPr id="4" name="Slide Number Placeholder 3"/>
          <p:cNvSpPr>
            <a:spLocks noGrp="1"/>
          </p:cNvSpPr>
          <p:nvPr>
            <p:ph type="sldNum" sz="quarter" idx="12"/>
          </p:nvPr>
        </p:nvSpPr>
        <p:spPr/>
        <p:txBody>
          <a:bodyPr/>
          <a:lstStyle/>
          <a:p>
            <a:fld id="{E040C1A9-02F3-E748-94C3-7915500FB745}" type="slidenum">
              <a:rPr lang="en-US" altLang="en-US" smtClean="0"/>
              <a:pPr/>
              <a:t>‹#›</a:t>
            </a:fld>
            <a:endParaRPr lang="en-US" altLang="en-US"/>
          </a:p>
        </p:txBody>
      </p:sp>
    </p:spTree>
    <p:extLst>
      <p:ext uri="{BB962C8B-B14F-4D97-AF65-F5344CB8AC3E}">
        <p14:creationId xmlns:p14="http://schemas.microsoft.com/office/powerpoint/2010/main" val="3101485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ltLang="en-US"/>
              <a:t>W. F. Schneider</a:t>
            </a:r>
          </a:p>
        </p:txBody>
      </p:sp>
      <p:sp>
        <p:nvSpPr>
          <p:cNvPr id="6" name="Footer Placeholder 5"/>
          <p:cNvSpPr>
            <a:spLocks noGrp="1"/>
          </p:cNvSpPr>
          <p:nvPr>
            <p:ph type="ftr" sz="quarter" idx="11"/>
          </p:nvPr>
        </p:nvSpPr>
        <p:spPr/>
        <p:txBody>
          <a:bodyPr/>
          <a:lstStyle/>
          <a:p>
            <a:r>
              <a:rPr lang="en-US" altLang="en-US"/>
              <a:t>CBE 60546</a:t>
            </a:r>
          </a:p>
        </p:txBody>
      </p:sp>
      <p:sp>
        <p:nvSpPr>
          <p:cNvPr id="7" name="Slide Number Placeholder 6"/>
          <p:cNvSpPr>
            <a:spLocks noGrp="1"/>
          </p:cNvSpPr>
          <p:nvPr>
            <p:ph type="sldNum" sz="quarter" idx="12"/>
          </p:nvPr>
        </p:nvSpPr>
        <p:spPr/>
        <p:txBody>
          <a:bodyPr/>
          <a:lstStyle/>
          <a:p>
            <a:fld id="{14B06FCD-33BF-4040-9E8A-3D6F7688DCB5}" type="slidenum">
              <a:rPr lang="en-US" altLang="en-US" smtClean="0"/>
              <a:pPr/>
              <a:t>‹#›</a:t>
            </a:fld>
            <a:endParaRPr lang="en-US" altLang="en-US"/>
          </a:p>
        </p:txBody>
      </p:sp>
    </p:spTree>
    <p:extLst>
      <p:ext uri="{BB962C8B-B14F-4D97-AF65-F5344CB8AC3E}">
        <p14:creationId xmlns:p14="http://schemas.microsoft.com/office/powerpoint/2010/main" val="1710160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ltLang="en-US"/>
              <a:t>W. F. Schneider</a:t>
            </a:r>
          </a:p>
        </p:txBody>
      </p:sp>
      <p:sp>
        <p:nvSpPr>
          <p:cNvPr id="6" name="Footer Placeholder 5"/>
          <p:cNvSpPr>
            <a:spLocks noGrp="1"/>
          </p:cNvSpPr>
          <p:nvPr>
            <p:ph type="ftr" sz="quarter" idx="11"/>
          </p:nvPr>
        </p:nvSpPr>
        <p:spPr/>
        <p:txBody>
          <a:bodyPr/>
          <a:lstStyle/>
          <a:p>
            <a:r>
              <a:rPr lang="en-US" altLang="en-US"/>
              <a:t>CBE 60546</a:t>
            </a:r>
          </a:p>
        </p:txBody>
      </p:sp>
      <p:sp>
        <p:nvSpPr>
          <p:cNvPr id="7" name="Slide Number Placeholder 6"/>
          <p:cNvSpPr>
            <a:spLocks noGrp="1"/>
          </p:cNvSpPr>
          <p:nvPr>
            <p:ph type="sldNum" sz="quarter" idx="12"/>
          </p:nvPr>
        </p:nvSpPr>
        <p:spPr/>
        <p:txBody>
          <a:bodyPr/>
          <a:lstStyle/>
          <a:p>
            <a:fld id="{E765B1AB-225F-BC49-B4A7-3201C63EEC63}" type="slidenum">
              <a:rPr lang="en-US" altLang="en-US" smtClean="0"/>
              <a:pPr/>
              <a:t>‹#›</a:t>
            </a:fld>
            <a:endParaRPr lang="en-US" altLang="en-US"/>
          </a:p>
        </p:txBody>
      </p:sp>
    </p:spTree>
    <p:extLst>
      <p:ext uri="{BB962C8B-B14F-4D97-AF65-F5344CB8AC3E}">
        <p14:creationId xmlns:p14="http://schemas.microsoft.com/office/powerpoint/2010/main" val="4123516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ltLang="en-US"/>
              <a:t>W. F. Schneider</a:t>
            </a:r>
          </a:p>
        </p:txBody>
      </p:sp>
      <p:sp>
        <p:nvSpPr>
          <p:cNvPr id="5" name="Footer Placeholder 4"/>
          <p:cNvSpPr>
            <a:spLocks noGrp="1"/>
          </p:cNvSpPr>
          <p:nvPr>
            <p:ph type="ftr" sz="quarter" idx="11"/>
          </p:nvPr>
        </p:nvSpPr>
        <p:spPr/>
        <p:txBody>
          <a:bodyPr/>
          <a:lstStyle/>
          <a:p>
            <a:r>
              <a:rPr lang="en-US" altLang="en-US"/>
              <a:t>CBE 60546</a:t>
            </a:r>
          </a:p>
        </p:txBody>
      </p:sp>
      <p:sp>
        <p:nvSpPr>
          <p:cNvPr id="6" name="Slide Number Placeholder 5"/>
          <p:cNvSpPr>
            <a:spLocks noGrp="1"/>
          </p:cNvSpPr>
          <p:nvPr>
            <p:ph type="sldNum" sz="quarter" idx="12"/>
          </p:nvPr>
        </p:nvSpPr>
        <p:spPr/>
        <p:txBody>
          <a:bodyPr/>
          <a:lstStyle/>
          <a:p>
            <a:fld id="{FB81AAC0-737E-E942-A6A4-E71E4B53D9F7}" type="slidenum">
              <a:rPr lang="en-US" altLang="en-US" smtClean="0"/>
              <a:pPr/>
              <a:t>‹#›</a:t>
            </a:fld>
            <a:endParaRPr lang="en-US" altLang="en-US"/>
          </a:p>
        </p:txBody>
      </p:sp>
    </p:spTree>
    <p:extLst>
      <p:ext uri="{BB962C8B-B14F-4D97-AF65-F5344CB8AC3E}">
        <p14:creationId xmlns:p14="http://schemas.microsoft.com/office/powerpoint/2010/main" val="2656694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3"/>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3"/>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ltLang="en-US"/>
              <a:t>W. F. Schneider</a:t>
            </a:r>
          </a:p>
        </p:txBody>
      </p:sp>
      <p:sp>
        <p:nvSpPr>
          <p:cNvPr id="5" name="Footer Placeholder 4"/>
          <p:cNvSpPr>
            <a:spLocks noGrp="1"/>
          </p:cNvSpPr>
          <p:nvPr>
            <p:ph type="ftr" sz="quarter" idx="11"/>
          </p:nvPr>
        </p:nvSpPr>
        <p:spPr/>
        <p:txBody>
          <a:bodyPr/>
          <a:lstStyle/>
          <a:p>
            <a:r>
              <a:rPr lang="en-US" altLang="en-US"/>
              <a:t>CBE 60546</a:t>
            </a:r>
          </a:p>
        </p:txBody>
      </p:sp>
      <p:sp>
        <p:nvSpPr>
          <p:cNvPr id="6" name="Slide Number Placeholder 5"/>
          <p:cNvSpPr>
            <a:spLocks noGrp="1"/>
          </p:cNvSpPr>
          <p:nvPr>
            <p:ph type="sldNum" sz="quarter" idx="12"/>
          </p:nvPr>
        </p:nvSpPr>
        <p:spPr/>
        <p:txBody>
          <a:bodyPr/>
          <a:lstStyle/>
          <a:p>
            <a:fld id="{BE6C08CB-3D15-AA42-AC14-6BED92B6796B}" type="slidenum">
              <a:rPr lang="en-US" altLang="en-US" smtClean="0"/>
              <a:pPr/>
              <a:t>‹#›</a:t>
            </a:fld>
            <a:endParaRPr lang="en-US" altLang="en-US"/>
          </a:p>
        </p:txBody>
      </p:sp>
    </p:spTree>
    <p:extLst>
      <p:ext uri="{BB962C8B-B14F-4D97-AF65-F5344CB8AC3E}">
        <p14:creationId xmlns:p14="http://schemas.microsoft.com/office/powerpoint/2010/main" val="27659495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55EFD-83E0-2C3F-6039-8DEDCFFC17F7}"/>
              </a:ext>
            </a:extLst>
          </p:cNvPr>
          <p:cNvSpPr>
            <a:spLocks noGrp="1"/>
          </p:cNvSpPr>
          <p:nvPr>
            <p:ph type="title"/>
          </p:nvPr>
        </p:nvSpPr>
        <p:spPr>
          <a:xfrm>
            <a:off x="457200" y="57150"/>
            <a:ext cx="8229600" cy="857250"/>
          </a:xfrm>
        </p:spPr>
        <p:txBody>
          <a:bodyPr/>
          <a:lstStyle/>
          <a:p>
            <a:r>
              <a:rPr lang="en-US"/>
              <a:t>Click to edit Master title style</a:t>
            </a:r>
          </a:p>
        </p:txBody>
      </p:sp>
      <p:sp>
        <p:nvSpPr>
          <p:cNvPr id="3" name="Text Placeholder 2">
            <a:extLst>
              <a:ext uri="{FF2B5EF4-FFF2-40B4-BE49-F238E27FC236}">
                <a16:creationId xmlns:a16="http://schemas.microsoft.com/office/drawing/2014/main" id="{9885F10C-BE1D-8B18-FB24-160B51125E01}"/>
              </a:ext>
            </a:extLst>
          </p:cNvPr>
          <p:cNvSpPr>
            <a:spLocks noGrp="1"/>
          </p:cNvSpPr>
          <p:nvPr>
            <p:ph type="body" sz="half" idx="1"/>
          </p:nvPr>
        </p:nvSpPr>
        <p:spPr>
          <a:xfrm>
            <a:off x="457200" y="945357"/>
            <a:ext cx="4038600" cy="36266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330D4EE-1F3D-D628-32CC-AFB66C38AFE8}"/>
              </a:ext>
            </a:extLst>
          </p:cNvPr>
          <p:cNvSpPr>
            <a:spLocks noGrp="1"/>
          </p:cNvSpPr>
          <p:nvPr>
            <p:ph sz="half" idx="2"/>
          </p:nvPr>
        </p:nvSpPr>
        <p:spPr>
          <a:xfrm>
            <a:off x="4648200" y="945357"/>
            <a:ext cx="4038600" cy="36266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37C8A97-1452-2195-C4DA-8300B2485DE1}"/>
              </a:ext>
            </a:extLst>
          </p:cNvPr>
          <p:cNvSpPr>
            <a:spLocks noGrp="1"/>
          </p:cNvSpPr>
          <p:nvPr>
            <p:ph type="dt" sz="half" idx="10"/>
          </p:nvPr>
        </p:nvSpPr>
        <p:spPr>
          <a:xfrm>
            <a:off x="457200" y="4800600"/>
            <a:ext cx="2362200" cy="228600"/>
          </a:xfrm>
        </p:spPr>
        <p:txBody>
          <a:bodyPr/>
          <a:lstStyle>
            <a:lvl1pPr>
              <a:defRPr/>
            </a:lvl1pPr>
          </a:lstStyle>
          <a:p>
            <a:r>
              <a:rPr lang="en-US" altLang="en-US"/>
              <a:t>W. F. Schneider</a:t>
            </a:r>
          </a:p>
        </p:txBody>
      </p:sp>
      <p:sp>
        <p:nvSpPr>
          <p:cNvPr id="6" name="Footer Placeholder 5">
            <a:extLst>
              <a:ext uri="{FF2B5EF4-FFF2-40B4-BE49-F238E27FC236}">
                <a16:creationId xmlns:a16="http://schemas.microsoft.com/office/drawing/2014/main" id="{04DD7B20-3627-A73A-9E80-D06503EFA5EE}"/>
              </a:ext>
            </a:extLst>
          </p:cNvPr>
          <p:cNvSpPr>
            <a:spLocks noGrp="1"/>
          </p:cNvSpPr>
          <p:nvPr>
            <p:ph type="ftr" sz="quarter" idx="11"/>
          </p:nvPr>
        </p:nvSpPr>
        <p:spPr>
          <a:xfrm>
            <a:off x="3124200" y="4800600"/>
            <a:ext cx="2895600" cy="228600"/>
          </a:xfrm>
        </p:spPr>
        <p:txBody>
          <a:bodyPr/>
          <a:lstStyle>
            <a:lvl1pPr>
              <a:defRPr/>
            </a:lvl1pPr>
          </a:lstStyle>
          <a:p>
            <a:r>
              <a:rPr lang="en-US" altLang="en-US"/>
              <a:t>CBE 60546</a:t>
            </a:r>
          </a:p>
        </p:txBody>
      </p:sp>
      <p:sp>
        <p:nvSpPr>
          <p:cNvPr id="7" name="Slide Number Placeholder 6">
            <a:extLst>
              <a:ext uri="{FF2B5EF4-FFF2-40B4-BE49-F238E27FC236}">
                <a16:creationId xmlns:a16="http://schemas.microsoft.com/office/drawing/2014/main" id="{D1156C2B-4255-E6B4-5F93-C3B7265F0B0E}"/>
              </a:ext>
            </a:extLst>
          </p:cNvPr>
          <p:cNvSpPr>
            <a:spLocks noGrp="1"/>
          </p:cNvSpPr>
          <p:nvPr>
            <p:ph type="sldNum" sz="quarter" idx="12"/>
          </p:nvPr>
        </p:nvSpPr>
        <p:spPr>
          <a:xfrm>
            <a:off x="6553200" y="4686300"/>
            <a:ext cx="2133600" cy="342900"/>
          </a:xfrm>
        </p:spPr>
        <p:txBody>
          <a:bodyPr/>
          <a:lstStyle>
            <a:lvl1pPr>
              <a:defRPr/>
            </a:lvl1pPr>
          </a:lstStyle>
          <a:p>
            <a:fld id="{334E3EBF-F1A3-6B49-BCAA-D93AD1001809}" type="slidenum">
              <a:rPr lang="en-US" altLang="en-US"/>
              <a:pPr/>
              <a:t>‹#›</a:t>
            </a:fld>
            <a:endParaRPr lang="en-US" altLang="en-US"/>
          </a:p>
        </p:txBody>
      </p:sp>
    </p:spTree>
    <p:extLst>
      <p:ext uri="{BB962C8B-B14F-4D97-AF65-F5344CB8AC3E}">
        <p14:creationId xmlns:p14="http://schemas.microsoft.com/office/powerpoint/2010/main" val="3317225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4D1AB-74D6-81FA-1C64-3884AB4CCFAE}"/>
              </a:ext>
            </a:extLst>
          </p:cNvPr>
          <p:cNvSpPr>
            <a:spLocks noGrp="1"/>
          </p:cNvSpPr>
          <p:nvPr>
            <p:ph type="title"/>
          </p:nvPr>
        </p:nvSpPr>
        <p:spPr>
          <a:xfrm>
            <a:off x="457200" y="57150"/>
            <a:ext cx="8229600" cy="857250"/>
          </a:xfrm>
        </p:spPr>
        <p:txBody>
          <a:bodyPr/>
          <a:lstStyle/>
          <a:p>
            <a:r>
              <a:rPr lang="en-US"/>
              <a:t>Click to edit Master title style</a:t>
            </a:r>
          </a:p>
        </p:txBody>
      </p:sp>
      <p:sp>
        <p:nvSpPr>
          <p:cNvPr id="3" name="Text Placeholder 2">
            <a:extLst>
              <a:ext uri="{FF2B5EF4-FFF2-40B4-BE49-F238E27FC236}">
                <a16:creationId xmlns:a16="http://schemas.microsoft.com/office/drawing/2014/main" id="{5DF042E4-6114-7D29-ECBB-E507035E3F58}"/>
              </a:ext>
            </a:extLst>
          </p:cNvPr>
          <p:cNvSpPr>
            <a:spLocks noGrp="1"/>
          </p:cNvSpPr>
          <p:nvPr>
            <p:ph type="body" sz="half" idx="1"/>
          </p:nvPr>
        </p:nvSpPr>
        <p:spPr>
          <a:xfrm>
            <a:off x="457200" y="945357"/>
            <a:ext cx="4038600" cy="36266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18C32F-CEC5-104F-574B-671795A02F6C}"/>
              </a:ext>
            </a:extLst>
          </p:cNvPr>
          <p:cNvSpPr>
            <a:spLocks noGrp="1"/>
          </p:cNvSpPr>
          <p:nvPr>
            <p:ph sz="quarter" idx="2"/>
          </p:nvPr>
        </p:nvSpPr>
        <p:spPr>
          <a:xfrm>
            <a:off x="4648200" y="945357"/>
            <a:ext cx="4038600" cy="17561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8989D37F-184C-2740-DEC4-35C9FC019395}"/>
              </a:ext>
            </a:extLst>
          </p:cNvPr>
          <p:cNvSpPr>
            <a:spLocks noGrp="1"/>
          </p:cNvSpPr>
          <p:nvPr>
            <p:ph sz="quarter" idx="3"/>
          </p:nvPr>
        </p:nvSpPr>
        <p:spPr>
          <a:xfrm>
            <a:off x="4648200" y="2815828"/>
            <a:ext cx="4038600" cy="17561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3EB002D0-2404-75E4-3EAB-5D495E90BB9E}"/>
              </a:ext>
            </a:extLst>
          </p:cNvPr>
          <p:cNvSpPr>
            <a:spLocks noGrp="1"/>
          </p:cNvSpPr>
          <p:nvPr>
            <p:ph type="dt" sz="half" idx="10"/>
          </p:nvPr>
        </p:nvSpPr>
        <p:spPr>
          <a:xfrm>
            <a:off x="457200" y="4800600"/>
            <a:ext cx="2362200" cy="228600"/>
          </a:xfrm>
        </p:spPr>
        <p:txBody>
          <a:bodyPr/>
          <a:lstStyle>
            <a:lvl1pPr>
              <a:defRPr/>
            </a:lvl1pPr>
          </a:lstStyle>
          <a:p>
            <a:r>
              <a:rPr lang="en-US" altLang="en-US"/>
              <a:t>W. F. Schneider</a:t>
            </a:r>
          </a:p>
        </p:txBody>
      </p:sp>
      <p:sp>
        <p:nvSpPr>
          <p:cNvPr id="7" name="Footer Placeholder 6">
            <a:extLst>
              <a:ext uri="{FF2B5EF4-FFF2-40B4-BE49-F238E27FC236}">
                <a16:creationId xmlns:a16="http://schemas.microsoft.com/office/drawing/2014/main" id="{4E88177C-BB90-B54B-5126-D82698F957BB}"/>
              </a:ext>
            </a:extLst>
          </p:cNvPr>
          <p:cNvSpPr>
            <a:spLocks noGrp="1"/>
          </p:cNvSpPr>
          <p:nvPr>
            <p:ph type="ftr" sz="quarter" idx="11"/>
          </p:nvPr>
        </p:nvSpPr>
        <p:spPr>
          <a:xfrm>
            <a:off x="3124200" y="4800600"/>
            <a:ext cx="2895600" cy="228600"/>
          </a:xfrm>
        </p:spPr>
        <p:txBody>
          <a:bodyPr/>
          <a:lstStyle>
            <a:lvl1pPr>
              <a:defRPr/>
            </a:lvl1pPr>
          </a:lstStyle>
          <a:p>
            <a:r>
              <a:rPr lang="en-US" altLang="en-US"/>
              <a:t>CBE 60546</a:t>
            </a:r>
          </a:p>
        </p:txBody>
      </p:sp>
      <p:sp>
        <p:nvSpPr>
          <p:cNvPr id="8" name="Slide Number Placeholder 7">
            <a:extLst>
              <a:ext uri="{FF2B5EF4-FFF2-40B4-BE49-F238E27FC236}">
                <a16:creationId xmlns:a16="http://schemas.microsoft.com/office/drawing/2014/main" id="{A44C78DC-E8D2-9A42-904A-423A8AB98F82}"/>
              </a:ext>
            </a:extLst>
          </p:cNvPr>
          <p:cNvSpPr>
            <a:spLocks noGrp="1"/>
          </p:cNvSpPr>
          <p:nvPr>
            <p:ph type="sldNum" sz="quarter" idx="12"/>
          </p:nvPr>
        </p:nvSpPr>
        <p:spPr>
          <a:xfrm>
            <a:off x="6553200" y="4686300"/>
            <a:ext cx="2133600" cy="342900"/>
          </a:xfrm>
        </p:spPr>
        <p:txBody>
          <a:bodyPr/>
          <a:lstStyle>
            <a:lvl1pPr>
              <a:defRPr/>
            </a:lvl1pPr>
          </a:lstStyle>
          <a:p>
            <a:fld id="{A163FD94-9995-DF46-B075-A4D5AF6CD24E}" type="slidenum">
              <a:rPr lang="en-US" altLang="en-US"/>
              <a:pPr/>
              <a:t>‹#›</a:t>
            </a:fld>
            <a:endParaRPr lang="en-US" altLang="en-US"/>
          </a:p>
        </p:txBody>
      </p:sp>
    </p:spTree>
    <p:extLst>
      <p:ext uri="{BB962C8B-B14F-4D97-AF65-F5344CB8AC3E}">
        <p14:creationId xmlns:p14="http://schemas.microsoft.com/office/powerpoint/2010/main" val="99990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7765" y="140170"/>
            <a:ext cx="7886700" cy="44299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781134"/>
            <a:ext cx="7886700" cy="385158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r>
              <a:rPr lang="en-US" altLang="en-US"/>
              <a:t>W. F. Schneider</a:t>
            </a:r>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r>
              <a:rPr lang="en-US" altLang="en-US"/>
              <a:t>CBE 60546</a:t>
            </a:r>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D8E5839B-EBB5-B640-972B-B29824B93F04}" type="slidenum">
              <a:rPr lang="en-US" altLang="en-US" smtClean="0"/>
              <a:pPr/>
              <a:t>‹#›</a:t>
            </a:fld>
            <a:endParaRPr lang="en-US" altLang="en-US"/>
          </a:p>
        </p:txBody>
      </p:sp>
      <p:pic>
        <p:nvPicPr>
          <p:cNvPr id="7" name="Picture 15">
            <a:extLst>
              <a:ext uri="{FF2B5EF4-FFF2-40B4-BE49-F238E27FC236}">
                <a16:creationId xmlns:a16="http://schemas.microsoft.com/office/drawing/2014/main" id="{4CD5C55A-0FAD-4F00-A6B9-FACE82259ABC}"/>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7107238" y="4702969"/>
            <a:ext cx="1554162" cy="383381"/>
          </a:xfrm>
          <a:prstGeom prst="rect">
            <a:avLst/>
          </a:prstGeom>
          <a:noFill/>
          <a:extLst>
            <a:ext uri="{909E8E84-426E-40DD-AFC4-6F175D3DCCD1}">
              <a14:hiddenFill xmlns:a14="http://schemas.microsoft.com/office/drawing/2010/main">
                <a:solidFill>
                  <a:srgbClr val="FFFFFF"/>
                </a:solidFill>
              </a14:hiddenFill>
            </a:ext>
          </a:extLst>
        </p:spPr>
      </p:pic>
      <p:sp>
        <p:nvSpPr>
          <p:cNvPr id="8" name="Oval 16">
            <a:extLst>
              <a:ext uri="{FF2B5EF4-FFF2-40B4-BE49-F238E27FC236}">
                <a16:creationId xmlns:a16="http://schemas.microsoft.com/office/drawing/2014/main" id="{43F412D0-9783-BBE6-12CD-72EDBF65A0F7}"/>
              </a:ext>
            </a:extLst>
          </p:cNvPr>
          <p:cNvSpPr>
            <a:spLocks noChangeAspect="1" noChangeArrowheads="1"/>
          </p:cNvSpPr>
          <p:nvPr userDrawn="1"/>
        </p:nvSpPr>
        <p:spPr bwMode="hidden">
          <a:xfrm flipH="1">
            <a:off x="247540" y="72091"/>
            <a:ext cx="530225" cy="547118"/>
          </a:xfrm>
          <a:prstGeom prst="ellipse">
            <a:avLst/>
          </a:prstGeom>
          <a:solidFill>
            <a:schemeClr val="accent2"/>
          </a:solidFill>
          <a:ln>
            <a:noFill/>
          </a:ln>
          <a:effectLst/>
          <a:extLst>
            <a:ext uri="{91240B29-F687-4F45-9708-019B960494DF}">
              <a14:hiddenLine xmlns:a14="http://schemas.microsoft.com/office/drawing/2010/main" w="28575">
                <a:solidFill>
                  <a:schemeClr val="accent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dirty="0">
              <a:latin typeface="Times New Roman" panose="02020603050405020304" pitchFamily="18" charset="0"/>
            </a:endParaRPr>
          </a:p>
        </p:txBody>
      </p:sp>
      <p:sp>
        <p:nvSpPr>
          <p:cNvPr id="13" name="Text Box 63">
            <a:extLst>
              <a:ext uri="{FF2B5EF4-FFF2-40B4-BE49-F238E27FC236}">
                <a16:creationId xmlns:a16="http://schemas.microsoft.com/office/drawing/2014/main" id="{548E9117-3846-736A-66C9-281BDEBDEBCC}"/>
              </a:ext>
            </a:extLst>
          </p:cNvPr>
          <p:cNvSpPr txBox="1">
            <a:spLocks noChangeArrowheads="1"/>
          </p:cNvSpPr>
          <p:nvPr userDrawn="1"/>
        </p:nvSpPr>
        <p:spPr bwMode="auto">
          <a:xfrm>
            <a:off x="254000" y="4605338"/>
            <a:ext cx="8661400"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800" dirty="0">
                <a:solidFill>
                  <a:schemeClr val="accent2"/>
                </a:solidFill>
                <a:cs typeface="Arial" panose="020B0604020202020204" pitchFamily="34" charset="0"/>
              </a:rPr>
              <a:t>●   ○   </a:t>
            </a:r>
            <a:r>
              <a:rPr lang="en-US" altLang="en-US" sz="800" dirty="0">
                <a:solidFill>
                  <a:schemeClr val="accent2"/>
                </a:solidFill>
              </a:rPr>
              <a:t>●   ○   ●   ○   ●   ○   ●   ○   ●   ○   ●   ○   ●   ○   ●   ○   ●   ○   ●   ○   ●   ○   ●   ○   ●   ○   ●   ○   ●   ○   ●   ○   ●   ○   ●   ○   ●   ○   ●   ○   ●   ○   ●   ○   ●   ○   ●   ○   ●   ○   ●   ○   ●   ○   ●   ○  </a:t>
            </a:r>
          </a:p>
        </p:txBody>
      </p:sp>
    </p:spTree>
    <p:extLst>
      <p:ext uri="{BB962C8B-B14F-4D97-AF65-F5344CB8AC3E}">
        <p14:creationId xmlns:p14="http://schemas.microsoft.com/office/powerpoint/2010/main" val="1705916059"/>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Lst>
  <p:hf sldNum="0" hdr="0"/>
  <p:txStyles>
    <p:titleStyle>
      <a:lvl1pPr algn="l" defTabSz="685800" rtl="0" eaLnBrk="1" latinLnBrk="0" hangingPunct="1">
        <a:lnSpc>
          <a:spcPct val="90000"/>
        </a:lnSpc>
        <a:spcBef>
          <a:spcPct val="0"/>
        </a:spcBef>
        <a:buNone/>
        <a:defRPr sz="3300" kern="1200">
          <a:solidFill>
            <a:schemeClr val="tx1"/>
          </a:solidFill>
          <a:latin typeface="Corbel" panose="020B0503020204020204" pitchFamily="34"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Corbel" panose="020B0503020204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Corbel" panose="020B0503020204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Corbel" panose="020B0503020204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Corbel" panose="020B0503020204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Corbel" panose="020B0503020204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en.wikipedia.org/wiki/Greek_language"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en.wikipedia.org/wiki/Chemical_reaction" TargetMode="External"/><Relationship Id="rId4" Type="http://schemas.openxmlformats.org/officeDocument/2006/relationships/hyperlink" Target="http://en.wikipedia.org/wiki/Rate"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6.xml"/><Relationship Id="rId5" Type="http://schemas.openxmlformats.org/officeDocument/2006/relationships/image" Target="../media/image21.jpg"/><Relationship Id="rId4" Type="http://schemas.openxmlformats.org/officeDocument/2006/relationships/image" Target="../media/image20.jp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30.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29.emf"/><Relationship Id="rId5" Type="http://schemas.openxmlformats.org/officeDocument/2006/relationships/oleObject" Target="../embeddings/oleObject2.bin"/><Relationship Id="rId4" Type="http://schemas.openxmlformats.org/officeDocument/2006/relationships/image" Target="../media/image28.emf"/><Relationship Id="rId9" Type="http://schemas.openxmlformats.org/officeDocument/2006/relationships/image" Target="../media/image31.jpeg"/></Relationships>
</file>

<file path=ppt/slides/_rels/slide20.xml.rels><?xml version="1.0" encoding="UTF-8" standalone="yes"?>
<Relationships xmlns="http://schemas.openxmlformats.org/package/2006/relationships"><Relationship Id="rId3" Type="http://schemas.openxmlformats.org/officeDocument/2006/relationships/image" Target="../media/image32.emf"/><Relationship Id="rId7" Type="http://schemas.openxmlformats.org/officeDocument/2006/relationships/image" Target="../media/image34.emf"/><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oleObject" Target="../embeddings/oleObject5.bin"/><Relationship Id="rId5" Type="http://schemas.openxmlformats.org/officeDocument/2006/relationships/image" Target="../media/image33.emf"/><Relationship Id="rId4" Type="http://schemas.openxmlformats.org/officeDocument/2006/relationships/oleObject" Target="../embeddings/oleObject4.bin"/></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6.emf"/><Relationship Id="rId4" Type="http://schemas.openxmlformats.org/officeDocument/2006/relationships/oleObject" Target="../embeddings/oleObject6.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8.tiff"/><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1.emf"/><Relationship Id="rId5" Type="http://schemas.openxmlformats.org/officeDocument/2006/relationships/image" Target="../media/image40.tiff"/><Relationship Id="rId4" Type="http://schemas.openxmlformats.org/officeDocument/2006/relationships/image" Target="../media/image39.tiff"/></Relationships>
</file>

<file path=ppt/slides/_rels/slide27.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9" Type="http://schemas.openxmlformats.org/officeDocument/2006/relationships/image" Target="../media/image48.png"/></Relationships>
</file>

<file path=ppt/slides/_rels/slide28.xml.rels><?xml version="1.0" encoding="UTF-8" standalone="yes"?>
<Relationships xmlns="http://schemas.openxmlformats.org/package/2006/relationships"><Relationship Id="rId8" Type="http://schemas.openxmlformats.org/officeDocument/2006/relationships/image" Target="../media/image55.emf"/><Relationship Id="rId3" Type="http://schemas.openxmlformats.org/officeDocument/2006/relationships/image" Target="../media/image50.png"/><Relationship Id="rId7" Type="http://schemas.openxmlformats.org/officeDocument/2006/relationships/image" Target="../media/image54.emf"/><Relationship Id="rId2" Type="http://schemas.openxmlformats.org/officeDocument/2006/relationships/image" Target="../media/image49.png"/><Relationship Id="rId1" Type="http://schemas.openxmlformats.org/officeDocument/2006/relationships/slideLayout" Target="../slideLayouts/slideLayout6.xml"/><Relationship Id="rId6" Type="http://schemas.openxmlformats.org/officeDocument/2006/relationships/image" Target="../media/image53.emf"/><Relationship Id="rId5" Type="http://schemas.openxmlformats.org/officeDocument/2006/relationships/image" Target="../media/image52.emf"/><Relationship Id="rId4" Type="http://schemas.openxmlformats.org/officeDocument/2006/relationships/image" Target="../media/image51.emf"/></Relationships>
</file>

<file path=ppt/slides/_rels/slide2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57.emf"/></Relationships>
</file>

<file path=ppt/slides/_rels/slide3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3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tiff"/><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0" name="Rectangle 8">
            <a:extLst>
              <a:ext uri="{FF2B5EF4-FFF2-40B4-BE49-F238E27FC236}">
                <a16:creationId xmlns:a16="http://schemas.microsoft.com/office/drawing/2014/main" id="{9952FEC5-6E78-B275-FB82-C536441BE959}"/>
              </a:ext>
            </a:extLst>
          </p:cNvPr>
          <p:cNvSpPr>
            <a:spLocks noGrp="1" noChangeArrowheads="1"/>
          </p:cNvSpPr>
          <p:nvPr>
            <p:ph type="ctrTitle"/>
          </p:nvPr>
        </p:nvSpPr>
        <p:spPr>
          <a:xfrm>
            <a:off x="1143000" y="1877614"/>
            <a:ext cx="6858000" cy="754857"/>
          </a:xfrm>
        </p:spPr>
        <p:txBody>
          <a:bodyPr>
            <a:normAutofit/>
          </a:bodyPr>
          <a:lstStyle/>
          <a:p>
            <a:r>
              <a:rPr lang="en-US" altLang="en-US" dirty="0"/>
              <a:t>Introduction to Catalysis</a:t>
            </a:r>
          </a:p>
        </p:txBody>
      </p:sp>
      <p:sp>
        <p:nvSpPr>
          <p:cNvPr id="23561" name="Rectangle 9">
            <a:extLst>
              <a:ext uri="{FF2B5EF4-FFF2-40B4-BE49-F238E27FC236}">
                <a16:creationId xmlns:a16="http://schemas.microsoft.com/office/drawing/2014/main" id="{88E79594-C5F8-1A82-6C13-B4227D9E7B66}"/>
              </a:ext>
            </a:extLst>
          </p:cNvPr>
          <p:cNvSpPr>
            <a:spLocks noGrp="1" noChangeArrowheads="1"/>
          </p:cNvSpPr>
          <p:nvPr>
            <p:ph type="subTitle" idx="1"/>
          </p:nvPr>
        </p:nvSpPr>
        <p:spPr/>
        <p:txBody>
          <a:bodyPr>
            <a:normAutofit/>
          </a:bodyPr>
          <a:lstStyle/>
          <a:p>
            <a:pPr>
              <a:lnSpc>
                <a:spcPct val="80000"/>
              </a:lnSpc>
            </a:pPr>
            <a:r>
              <a:rPr lang="en-US" altLang="en-US" sz="1800" dirty="0"/>
              <a:t>William F. Schneider</a:t>
            </a:r>
          </a:p>
        </p:txBody>
      </p:sp>
      <p:sp>
        <p:nvSpPr>
          <p:cNvPr id="2" name="Rectangle 9">
            <a:extLst>
              <a:ext uri="{FF2B5EF4-FFF2-40B4-BE49-F238E27FC236}">
                <a16:creationId xmlns:a16="http://schemas.microsoft.com/office/drawing/2014/main" id="{9B0E4A9A-D742-B88D-263E-FB5520A25A2C}"/>
              </a:ext>
            </a:extLst>
          </p:cNvPr>
          <p:cNvSpPr>
            <a:spLocks noGrp="1" noChangeArrowheads="1"/>
          </p:cNvSpPr>
          <p:nvPr>
            <p:ph type="dt" sz="half" idx="10"/>
          </p:nvPr>
        </p:nvSpPr>
        <p:spPr/>
        <p:txBody>
          <a:bodyPr/>
          <a:lstStyle/>
          <a:p>
            <a:r>
              <a:rPr lang="en-US" altLang="en-US"/>
              <a:t>W. F. Schneider</a:t>
            </a:r>
          </a:p>
        </p:txBody>
      </p:sp>
      <p:sp>
        <p:nvSpPr>
          <p:cNvPr id="3" name="Rectangle 10">
            <a:extLst>
              <a:ext uri="{FF2B5EF4-FFF2-40B4-BE49-F238E27FC236}">
                <a16:creationId xmlns:a16="http://schemas.microsoft.com/office/drawing/2014/main" id="{7A729AC2-4C03-329E-59AB-98CB879A5F96}"/>
              </a:ext>
            </a:extLst>
          </p:cNvPr>
          <p:cNvSpPr>
            <a:spLocks noGrp="1" noChangeArrowheads="1"/>
          </p:cNvSpPr>
          <p:nvPr>
            <p:ph type="ftr" sz="quarter" idx="11"/>
          </p:nvPr>
        </p:nvSpPr>
        <p:spPr/>
        <p:txBody>
          <a:bodyPr/>
          <a:lstStyle/>
          <a:p>
            <a:r>
              <a:rPr lang="en-US" altLang="en-US"/>
              <a:t>CBE 60546</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a:extLst>
              <a:ext uri="{FF2B5EF4-FFF2-40B4-BE49-F238E27FC236}">
                <a16:creationId xmlns:a16="http://schemas.microsoft.com/office/drawing/2014/main" id="{4B5E4BCE-18EF-8A26-8A2B-8EA671148D27}"/>
              </a:ext>
            </a:extLst>
          </p:cNvPr>
          <p:cNvSpPr>
            <a:spLocks noGrp="1" noChangeArrowheads="1"/>
          </p:cNvSpPr>
          <p:nvPr>
            <p:ph type="title"/>
          </p:nvPr>
        </p:nvSpPr>
        <p:spPr/>
        <p:txBody>
          <a:bodyPr>
            <a:normAutofit fontScale="90000"/>
          </a:bodyPr>
          <a:lstStyle/>
          <a:p>
            <a:r>
              <a:rPr lang="en-US" altLang="en-US"/>
              <a:t>What is a “Catalyst”</a:t>
            </a:r>
          </a:p>
        </p:txBody>
      </p:sp>
      <p:sp>
        <p:nvSpPr>
          <p:cNvPr id="174083" name="Rectangle 3">
            <a:extLst>
              <a:ext uri="{FF2B5EF4-FFF2-40B4-BE49-F238E27FC236}">
                <a16:creationId xmlns:a16="http://schemas.microsoft.com/office/drawing/2014/main" id="{754F3368-6FC0-3140-526F-C78890C9293A}"/>
              </a:ext>
            </a:extLst>
          </p:cNvPr>
          <p:cNvSpPr>
            <a:spLocks noGrp="1" noChangeArrowheads="1"/>
          </p:cNvSpPr>
          <p:nvPr>
            <p:ph idx="1"/>
          </p:nvPr>
        </p:nvSpPr>
        <p:spPr>
          <a:xfrm>
            <a:off x="628650" y="738189"/>
            <a:ext cx="7886700" cy="738979"/>
          </a:xfrm>
        </p:spPr>
        <p:txBody>
          <a:bodyPr>
            <a:normAutofit fontScale="92500" lnSpcReduction="10000"/>
          </a:bodyPr>
          <a:lstStyle/>
          <a:p>
            <a:pPr marL="0" indent="0">
              <a:buNone/>
            </a:pPr>
            <a:r>
              <a:rPr lang="en-US" altLang="en-US" sz="1800" dirty="0">
                <a:latin typeface="Corbel" panose="020B0503020204020204" pitchFamily="34" charset="0"/>
              </a:rPr>
              <a:t>A </a:t>
            </a:r>
            <a:r>
              <a:rPr lang="en-US" altLang="en-US" sz="1800" b="1" dirty="0">
                <a:latin typeface="Corbel" panose="020B0503020204020204" pitchFamily="34" charset="0"/>
              </a:rPr>
              <a:t>catalyst</a:t>
            </a:r>
            <a:r>
              <a:rPr lang="en-US" altLang="en-US" sz="1800" dirty="0">
                <a:latin typeface="Corbel" panose="020B0503020204020204" pitchFamily="34" charset="0"/>
              </a:rPr>
              <a:t> (</a:t>
            </a:r>
            <a:r>
              <a:rPr lang="en-US" altLang="en-US" sz="1800" dirty="0">
                <a:latin typeface="Corbel" panose="020B0503020204020204" pitchFamily="34" charset="0"/>
                <a:hlinkClick r:id="rId3" tooltip="Greek language"/>
              </a:rPr>
              <a:t>Greek</a:t>
            </a:r>
            <a:r>
              <a:rPr lang="en-US" altLang="en-US" sz="1800" dirty="0">
                <a:latin typeface="Corbel" panose="020B0503020204020204" pitchFamily="34" charset="0"/>
              </a:rPr>
              <a:t>: </a:t>
            </a:r>
            <a:r>
              <a:rPr lang="en-US" altLang="en-US" sz="1800" dirty="0" err="1">
                <a:latin typeface="Corbel" panose="020B0503020204020204" pitchFamily="34" charset="0"/>
              </a:rPr>
              <a:t>κ</a:t>
            </a:r>
            <a:r>
              <a:rPr lang="en-US" altLang="en-US" sz="1800" dirty="0">
                <a:latin typeface="Corbel" panose="020B0503020204020204" pitchFamily="34" charset="0"/>
              </a:rPr>
              <a:t>α</a:t>
            </a:r>
            <a:r>
              <a:rPr lang="en-US" altLang="en-US" sz="1800" dirty="0" err="1">
                <a:latin typeface="Corbel" panose="020B0503020204020204" pitchFamily="34" charset="0"/>
              </a:rPr>
              <a:t>τ</a:t>
            </a:r>
            <a:r>
              <a:rPr lang="en-US" altLang="en-US" sz="1800" dirty="0">
                <a:latin typeface="Corbel" panose="020B0503020204020204" pitchFamily="34" charset="0"/>
              </a:rPr>
              <a:t>α</a:t>
            </a:r>
            <a:r>
              <a:rPr lang="en-US" altLang="en-US" sz="1800" dirty="0" err="1">
                <a:latin typeface="Corbel" panose="020B0503020204020204" pitchFamily="34" charset="0"/>
              </a:rPr>
              <a:t>λύτης</a:t>
            </a:r>
            <a:r>
              <a:rPr lang="en-US" altLang="en-US" sz="1800" dirty="0">
                <a:latin typeface="Corbel" panose="020B0503020204020204" pitchFamily="34" charset="0"/>
              </a:rPr>
              <a:t>, </a:t>
            </a:r>
            <a:r>
              <a:rPr lang="en-US" altLang="en-US" sz="1800" i="1" dirty="0" err="1">
                <a:latin typeface="Corbel" panose="020B0503020204020204" pitchFamily="34" charset="0"/>
              </a:rPr>
              <a:t>catalytēs</a:t>
            </a:r>
            <a:r>
              <a:rPr lang="en-US" altLang="en-US" sz="1800" dirty="0">
                <a:latin typeface="Corbel" panose="020B0503020204020204" pitchFamily="34" charset="0"/>
              </a:rPr>
              <a:t>) is a substance that accelerates the </a:t>
            </a:r>
            <a:r>
              <a:rPr lang="en-US" altLang="en-US" sz="1800" dirty="0">
                <a:latin typeface="Corbel" panose="020B0503020204020204" pitchFamily="34" charset="0"/>
                <a:hlinkClick r:id="rId4" tooltip="Rate"/>
              </a:rPr>
              <a:t>rate</a:t>
            </a:r>
            <a:r>
              <a:rPr lang="en-US" altLang="en-US" sz="1800" dirty="0">
                <a:latin typeface="Corbel" panose="020B0503020204020204" pitchFamily="34" charset="0"/>
              </a:rPr>
              <a:t> of a </a:t>
            </a:r>
            <a:r>
              <a:rPr lang="en-US" altLang="en-US" sz="1800" dirty="0">
                <a:latin typeface="Corbel" panose="020B0503020204020204" pitchFamily="34" charset="0"/>
                <a:hlinkClick r:id="rId5" tooltip="Chemical reaction"/>
              </a:rPr>
              <a:t>chemical reaction</a:t>
            </a:r>
            <a:r>
              <a:rPr lang="en-US" altLang="en-US" sz="1800" dirty="0">
                <a:latin typeface="Corbel" panose="020B0503020204020204" pitchFamily="34" charset="0"/>
              </a:rPr>
              <a:t> without itself being transformed or consumed by the reaction. (</a:t>
            </a:r>
            <a:r>
              <a:rPr lang="en-US" altLang="en-US" sz="1800" i="1" dirty="0">
                <a:latin typeface="Corbel" panose="020B0503020204020204" pitchFamily="34" charset="0"/>
              </a:rPr>
              <a:t>Wikipedia)</a:t>
            </a:r>
            <a:endParaRPr lang="en-US" altLang="en-US" sz="1800" dirty="0">
              <a:latin typeface="Corbel" panose="020B0503020204020204" pitchFamily="34" charset="0"/>
            </a:endParaRPr>
          </a:p>
        </p:txBody>
      </p:sp>
      <p:sp>
        <p:nvSpPr>
          <p:cNvPr id="2" name="Date Placeholder 3">
            <a:extLst>
              <a:ext uri="{FF2B5EF4-FFF2-40B4-BE49-F238E27FC236}">
                <a16:creationId xmlns:a16="http://schemas.microsoft.com/office/drawing/2014/main" id="{9CA812C8-EA33-0822-DA6F-E6FDB65A838C}"/>
              </a:ext>
            </a:extLst>
          </p:cNvPr>
          <p:cNvSpPr>
            <a:spLocks noGrp="1"/>
          </p:cNvSpPr>
          <p:nvPr>
            <p:ph type="dt" sz="half" idx="10"/>
          </p:nvPr>
        </p:nvSpPr>
        <p:spPr/>
        <p:txBody>
          <a:bodyPr/>
          <a:lstStyle/>
          <a:p>
            <a:r>
              <a:rPr lang="en-US" altLang="en-US"/>
              <a:t>W. F. Schneider</a:t>
            </a:r>
          </a:p>
        </p:txBody>
      </p:sp>
      <p:sp>
        <p:nvSpPr>
          <p:cNvPr id="3" name="Footer Placeholder 4">
            <a:extLst>
              <a:ext uri="{FF2B5EF4-FFF2-40B4-BE49-F238E27FC236}">
                <a16:creationId xmlns:a16="http://schemas.microsoft.com/office/drawing/2014/main" id="{05E2D059-2F29-F4B9-6B53-E4DEB52C45DE}"/>
              </a:ext>
            </a:extLst>
          </p:cNvPr>
          <p:cNvSpPr>
            <a:spLocks noGrp="1"/>
          </p:cNvSpPr>
          <p:nvPr>
            <p:ph type="ftr" sz="quarter" idx="11"/>
          </p:nvPr>
        </p:nvSpPr>
        <p:spPr/>
        <p:txBody>
          <a:bodyPr/>
          <a:lstStyle/>
          <a:p>
            <a:r>
              <a:rPr lang="en-US" altLang="en-US"/>
              <a:t>CBE 60546</a:t>
            </a:r>
          </a:p>
        </p:txBody>
      </p:sp>
      <p:sp>
        <p:nvSpPr>
          <p:cNvPr id="174087" name="Freeform 7">
            <a:extLst>
              <a:ext uri="{FF2B5EF4-FFF2-40B4-BE49-F238E27FC236}">
                <a16:creationId xmlns:a16="http://schemas.microsoft.com/office/drawing/2014/main" id="{A3C564B2-3377-47FF-F342-0C6C976C1422}"/>
              </a:ext>
            </a:extLst>
          </p:cNvPr>
          <p:cNvSpPr>
            <a:spLocks/>
          </p:cNvSpPr>
          <p:nvPr/>
        </p:nvSpPr>
        <p:spPr bwMode="auto">
          <a:xfrm>
            <a:off x="1066800" y="1581150"/>
            <a:ext cx="2819400" cy="2908300"/>
          </a:xfrm>
          <a:custGeom>
            <a:avLst/>
            <a:gdLst>
              <a:gd name="T0" fmla="*/ 0 w 2400"/>
              <a:gd name="T1" fmla="*/ 1304 h 2312"/>
              <a:gd name="T2" fmla="*/ 336 w 2400"/>
              <a:gd name="T3" fmla="*/ 1640 h 2312"/>
              <a:gd name="T4" fmla="*/ 576 w 2400"/>
              <a:gd name="T5" fmla="*/ 1256 h 2312"/>
              <a:gd name="T6" fmla="*/ 816 w 2400"/>
              <a:gd name="T7" fmla="*/ 296 h 2312"/>
              <a:gd name="T8" fmla="*/ 1056 w 2400"/>
              <a:gd name="T9" fmla="*/ 8 h 2312"/>
              <a:gd name="T10" fmla="*/ 1392 w 2400"/>
              <a:gd name="T11" fmla="*/ 344 h 2312"/>
              <a:gd name="T12" fmla="*/ 1728 w 2400"/>
              <a:gd name="T13" fmla="*/ 1976 h 2312"/>
              <a:gd name="T14" fmla="*/ 2112 w 2400"/>
              <a:gd name="T15" fmla="*/ 2264 h 2312"/>
              <a:gd name="T16" fmla="*/ 2400 w 2400"/>
              <a:gd name="T17" fmla="*/ 1688 h 2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00" h="2312">
                <a:moveTo>
                  <a:pt x="0" y="1304"/>
                </a:moveTo>
                <a:cubicBezTo>
                  <a:pt x="120" y="1476"/>
                  <a:pt x="240" y="1648"/>
                  <a:pt x="336" y="1640"/>
                </a:cubicBezTo>
                <a:cubicBezTo>
                  <a:pt x="432" y="1632"/>
                  <a:pt x="496" y="1480"/>
                  <a:pt x="576" y="1256"/>
                </a:cubicBezTo>
                <a:cubicBezTo>
                  <a:pt x="656" y="1032"/>
                  <a:pt x="736" y="504"/>
                  <a:pt x="816" y="296"/>
                </a:cubicBezTo>
                <a:cubicBezTo>
                  <a:pt x="896" y="88"/>
                  <a:pt x="960" y="0"/>
                  <a:pt x="1056" y="8"/>
                </a:cubicBezTo>
                <a:cubicBezTo>
                  <a:pt x="1152" y="16"/>
                  <a:pt x="1280" y="16"/>
                  <a:pt x="1392" y="344"/>
                </a:cubicBezTo>
                <a:cubicBezTo>
                  <a:pt x="1504" y="672"/>
                  <a:pt x="1608" y="1656"/>
                  <a:pt x="1728" y="1976"/>
                </a:cubicBezTo>
                <a:cubicBezTo>
                  <a:pt x="1848" y="2296"/>
                  <a:pt x="2000" y="2312"/>
                  <a:pt x="2112" y="2264"/>
                </a:cubicBezTo>
                <a:cubicBezTo>
                  <a:pt x="2224" y="2216"/>
                  <a:pt x="2352" y="1784"/>
                  <a:pt x="2400" y="1688"/>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orbel" panose="020B0503020204020204" pitchFamily="34" charset="0"/>
            </a:endParaRPr>
          </a:p>
        </p:txBody>
      </p:sp>
      <p:sp>
        <p:nvSpPr>
          <p:cNvPr id="174088" name="Text Box 8">
            <a:extLst>
              <a:ext uri="{FF2B5EF4-FFF2-40B4-BE49-F238E27FC236}">
                <a16:creationId xmlns:a16="http://schemas.microsoft.com/office/drawing/2014/main" id="{F688C125-D90A-46B1-FF54-718BC3FFCA04}"/>
              </a:ext>
            </a:extLst>
          </p:cNvPr>
          <p:cNvSpPr txBox="1">
            <a:spLocks noChangeArrowheads="1"/>
          </p:cNvSpPr>
          <p:nvPr/>
        </p:nvSpPr>
        <p:spPr bwMode="auto">
          <a:xfrm>
            <a:off x="1066800" y="3652838"/>
            <a:ext cx="67839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dirty="0">
                <a:latin typeface="Corbel" panose="020B0503020204020204" pitchFamily="34" charset="0"/>
              </a:rPr>
              <a:t>A + B</a:t>
            </a:r>
          </a:p>
        </p:txBody>
      </p:sp>
      <p:sp>
        <p:nvSpPr>
          <p:cNvPr id="174089" name="Text Box 9">
            <a:extLst>
              <a:ext uri="{FF2B5EF4-FFF2-40B4-BE49-F238E27FC236}">
                <a16:creationId xmlns:a16="http://schemas.microsoft.com/office/drawing/2014/main" id="{70713AAB-4371-6A7B-274E-EAA0F13A456C}"/>
              </a:ext>
            </a:extLst>
          </p:cNvPr>
          <p:cNvSpPr txBox="1">
            <a:spLocks noChangeArrowheads="1"/>
          </p:cNvSpPr>
          <p:nvPr/>
        </p:nvSpPr>
        <p:spPr bwMode="auto">
          <a:xfrm>
            <a:off x="3268663" y="440055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t>C</a:t>
            </a:r>
          </a:p>
        </p:txBody>
      </p:sp>
      <p:sp>
        <p:nvSpPr>
          <p:cNvPr id="174090" name="Line 10">
            <a:extLst>
              <a:ext uri="{FF2B5EF4-FFF2-40B4-BE49-F238E27FC236}">
                <a16:creationId xmlns:a16="http://schemas.microsoft.com/office/drawing/2014/main" id="{8A3D82E7-598C-DABF-4B86-27D83817B87C}"/>
              </a:ext>
            </a:extLst>
          </p:cNvPr>
          <p:cNvSpPr>
            <a:spLocks noChangeShapeType="1"/>
          </p:cNvSpPr>
          <p:nvPr/>
        </p:nvSpPr>
        <p:spPr bwMode="auto">
          <a:xfrm>
            <a:off x="2314575" y="1581150"/>
            <a:ext cx="0" cy="20574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orbel" panose="020B0503020204020204" pitchFamily="34" charset="0"/>
            </a:endParaRPr>
          </a:p>
        </p:txBody>
      </p:sp>
      <p:sp>
        <p:nvSpPr>
          <p:cNvPr id="174091" name="Line 11">
            <a:extLst>
              <a:ext uri="{FF2B5EF4-FFF2-40B4-BE49-F238E27FC236}">
                <a16:creationId xmlns:a16="http://schemas.microsoft.com/office/drawing/2014/main" id="{3F166608-A10E-2967-28A4-3C10911E8711}"/>
              </a:ext>
            </a:extLst>
          </p:cNvPr>
          <p:cNvSpPr>
            <a:spLocks noChangeShapeType="1"/>
          </p:cNvSpPr>
          <p:nvPr/>
        </p:nvSpPr>
        <p:spPr bwMode="auto">
          <a:xfrm>
            <a:off x="1219200" y="3646488"/>
            <a:ext cx="144780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orbel" panose="020B0503020204020204" pitchFamily="34" charset="0"/>
            </a:endParaRPr>
          </a:p>
        </p:txBody>
      </p:sp>
      <p:sp>
        <p:nvSpPr>
          <p:cNvPr id="174092" name="Line 12">
            <a:extLst>
              <a:ext uri="{FF2B5EF4-FFF2-40B4-BE49-F238E27FC236}">
                <a16:creationId xmlns:a16="http://schemas.microsoft.com/office/drawing/2014/main" id="{4B2519DD-B04F-07C4-378D-C3491A13BDB1}"/>
              </a:ext>
            </a:extLst>
          </p:cNvPr>
          <p:cNvSpPr>
            <a:spLocks noChangeShapeType="1"/>
          </p:cNvSpPr>
          <p:nvPr/>
        </p:nvSpPr>
        <p:spPr bwMode="auto">
          <a:xfrm>
            <a:off x="2438400" y="4452938"/>
            <a:ext cx="129540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orbel" panose="020B0503020204020204" pitchFamily="34" charset="0"/>
            </a:endParaRPr>
          </a:p>
        </p:txBody>
      </p:sp>
      <p:sp>
        <p:nvSpPr>
          <p:cNvPr id="174093" name="Line 13">
            <a:extLst>
              <a:ext uri="{FF2B5EF4-FFF2-40B4-BE49-F238E27FC236}">
                <a16:creationId xmlns:a16="http://schemas.microsoft.com/office/drawing/2014/main" id="{2D4187AE-5724-B18F-1582-B1F69C3A1B4C}"/>
              </a:ext>
            </a:extLst>
          </p:cNvPr>
          <p:cNvSpPr>
            <a:spLocks noChangeShapeType="1"/>
          </p:cNvSpPr>
          <p:nvPr/>
        </p:nvSpPr>
        <p:spPr bwMode="auto">
          <a:xfrm>
            <a:off x="2590800" y="3638550"/>
            <a:ext cx="0" cy="8382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orbel" panose="020B0503020204020204" pitchFamily="34" charset="0"/>
            </a:endParaRPr>
          </a:p>
        </p:txBody>
      </p:sp>
      <p:sp>
        <p:nvSpPr>
          <p:cNvPr id="174094" name="Text Box 14">
            <a:extLst>
              <a:ext uri="{FF2B5EF4-FFF2-40B4-BE49-F238E27FC236}">
                <a16:creationId xmlns:a16="http://schemas.microsoft.com/office/drawing/2014/main" id="{AB8F97AD-BC5A-0F2A-C261-453F726733DE}"/>
              </a:ext>
            </a:extLst>
          </p:cNvPr>
          <p:cNvSpPr txBox="1">
            <a:spLocks noChangeArrowheads="1"/>
          </p:cNvSpPr>
          <p:nvPr/>
        </p:nvSpPr>
        <p:spPr bwMode="auto">
          <a:xfrm>
            <a:off x="2112963" y="3875088"/>
            <a:ext cx="48282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l-GR" altLang="en-US" sz="1800" dirty="0">
                <a:solidFill>
                  <a:srgbClr val="FF0000"/>
                </a:solidFill>
                <a:latin typeface="Corbel" panose="020B0503020204020204" pitchFamily="34" charset="0"/>
                <a:cs typeface="Arial" panose="020B0604020202020204" pitchFamily="34" charset="0"/>
              </a:rPr>
              <a:t>Δ</a:t>
            </a:r>
            <a:r>
              <a:rPr lang="en-US" altLang="en-US" sz="1800" i="1" dirty="0">
                <a:solidFill>
                  <a:srgbClr val="FF0000"/>
                </a:solidFill>
                <a:latin typeface="Corbel" panose="020B0503020204020204" pitchFamily="34" charset="0"/>
                <a:cs typeface="Arial" panose="020B0604020202020204" pitchFamily="34" charset="0"/>
              </a:rPr>
              <a:t>G</a:t>
            </a:r>
            <a:endParaRPr lang="el-GR" altLang="en-US" sz="1800" i="1" dirty="0">
              <a:solidFill>
                <a:srgbClr val="FF0000"/>
              </a:solidFill>
              <a:latin typeface="Corbel" panose="020B0503020204020204" pitchFamily="34" charset="0"/>
              <a:cs typeface="Arial" panose="020B0604020202020204" pitchFamily="34" charset="0"/>
            </a:endParaRPr>
          </a:p>
        </p:txBody>
      </p:sp>
      <p:sp>
        <p:nvSpPr>
          <p:cNvPr id="174095" name="Text Box 15">
            <a:extLst>
              <a:ext uri="{FF2B5EF4-FFF2-40B4-BE49-F238E27FC236}">
                <a16:creationId xmlns:a16="http://schemas.microsoft.com/office/drawing/2014/main" id="{B5E2DFCF-56D5-DCAE-C0A5-4F19DFBE803C}"/>
              </a:ext>
            </a:extLst>
          </p:cNvPr>
          <p:cNvSpPr txBox="1">
            <a:spLocks noChangeArrowheads="1"/>
          </p:cNvSpPr>
          <p:nvPr/>
        </p:nvSpPr>
        <p:spPr bwMode="auto">
          <a:xfrm>
            <a:off x="2270125" y="2455863"/>
            <a:ext cx="3866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i="1" dirty="0" err="1">
                <a:solidFill>
                  <a:srgbClr val="FF0000"/>
                </a:solidFill>
                <a:latin typeface="Corbel" panose="020B0503020204020204" pitchFamily="34" charset="0"/>
              </a:rPr>
              <a:t>E</a:t>
            </a:r>
            <a:r>
              <a:rPr lang="en-US" altLang="en-US" sz="1800" baseline="-25000" dirty="0" err="1">
                <a:solidFill>
                  <a:srgbClr val="FF0000"/>
                </a:solidFill>
                <a:latin typeface="Corbel" panose="020B0503020204020204" pitchFamily="34" charset="0"/>
              </a:rPr>
              <a:t>a</a:t>
            </a:r>
            <a:endParaRPr lang="en-US" altLang="en-US" sz="1800" baseline="-25000" dirty="0">
              <a:solidFill>
                <a:srgbClr val="FF0000"/>
              </a:solidFill>
              <a:latin typeface="Corbel" panose="020B0503020204020204" pitchFamily="34" charset="0"/>
            </a:endParaRPr>
          </a:p>
        </p:txBody>
      </p:sp>
      <p:sp>
        <p:nvSpPr>
          <p:cNvPr id="174096" name="Text Box 16">
            <a:extLst>
              <a:ext uri="{FF2B5EF4-FFF2-40B4-BE49-F238E27FC236}">
                <a16:creationId xmlns:a16="http://schemas.microsoft.com/office/drawing/2014/main" id="{8ED270D2-AE10-8F61-9792-08ADFB0CE581}"/>
              </a:ext>
            </a:extLst>
          </p:cNvPr>
          <p:cNvSpPr txBox="1">
            <a:spLocks noChangeArrowheads="1"/>
          </p:cNvSpPr>
          <p:nvPr/>
        </p:nvSpPr>
        <p:spPr bwMode="auto">
          <a:xfrm>
            <a:off x="374302" y="1934648"/>
            <a:ext cx="1316386" cy="3693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i="1">
                <a:latin typeface="Corbel" panose="020B0503020204020204" pitchFamily="34" charset="0"/>
              </a:rPr>
              <a:t>uncatalyzed</a:t>
            </a:r>
          </a:p>
        </p:txBody>
      </p:sp>
      <p:sp>
        <p:nvSpPr>
          <p:cNvPr id="174097" name="Freeform 17">
            <a:extLst>
              <a:ext uri="{FF2B5EF4-FFF2-40B4-BE49-F238E27FC236}">
                <a16:creationId xmlns:a16="http://schemas.microsoft.com/office/drawing/2014/main" id="{BCE16675-503D-9495-FFFC-9C9FE7FB334F}"/>
              </a:ext>
            </a:extLst>
          </p:cNvPr>
          <p:cNvSpPr>
            <a:spLocks/>
          </p:cNvSpPr>
          <p:nvPr/>
        </p:nvSpPr>
        <p:spPr bwMode="auto">
          <a:xfrm>
            <a:off x="5257800" y="1581150"/>
            <a:ext cx="2819400" cy="2908300"/>
          </a:xfrm>
          <a:custGeom>
            <a:avLst/>
            <a:gdLst>
              <a:gd name="T0" fmla="*/ 0 w 2400"/>
              <a:gd name="T1" fmla="*/ 1304 h 2312"/>
              <a:gd name="T2" fmla="*/ 336 w 2400"/>
              <a:gd name="T3" fmla="*/ 1640 h 2312"/>
              <a:gd name="T4" fmla="*/ 576 w 2400"/>
              <a:gd name="T5" fmla="*/ 1256 h 2312"/>
              <a:gd name="T6" fmla="*/ 816 w 2400"/>
              <a:gd name="T7" fmla="*/ 296 h 2312"/>
              <a:gd name="T8" fmla="*/ 1056 w 2400"/>
              <a:gd name="T9" fmla="*/ 8 h 2312"/>
              <a:gd name="T10" fmla="*/ 1392 w 2400"/>
              <a:gd name="T11" fmla="*/ 344 h 2312"/>
              <a:gd name="T12" fmla="*/ 1728 w 2400"/>
              <a:gd name="T13" fmla="*/ 1976 h 2312"/>
              <a:gd name="T14" fmla="*/ 2112 w 2400"/>
              <a:gd name="T15" fmla="*/ 2264 h 2312"/>
              <a:gd name="T16" fmla="*/ 2400 w 2400"/>
              <a:gd name="T17" fmla="*/ 1688 h 2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00" h="2312">
                <a:moveTo>
                  <a:pt x="0" y="1304"/>
                </a:moveTo>
                <a:cubicBezTo>
                  <a:pt x="120" y="1476"/>
                  <a:pt x="240" y="1648"/>
                  <a:pt x="336" y="1640"/>
                </a:cubicBezTo>
                <a:cubicBezTo>
                  <a:pt x="432" y="1632"/>
                  <a:pt x="496" y="1480"/>
                  <a:pt x="576" y="1256"/>
                </a:cubicBezTo>
                <a:cubicBezTo>
                  <a:pt x="656" y="1032"/>
                  <a:pt x="736" y="504"/>
                  <a:pt x="816" y="296"/>
                </a:cubicBezTo>
                <a:cubicBezTo>
                  <a:pt x="896" y="88"/>
                  <a:pt x="960" y="0"/>
                  <a:pt x="1056" y="8"/>
                </a:cubicBezTo>
                <a:cubicBezTo>
                  <a:pt x="1152" y="16"/>
                  <a:pt x="1280" y="16"/>
                  <a:pt x="1392" y="344"/>
                </a:cubicBezTo>
                <a:cubicBezTo>
                  <a:pt x="1504" y="672"/>
                  <a:pt x="1608" y="1656"/>
                  <a:pt x="1728" y="1976"/>
                </a:cubicBezTo>
                <a:cubicBezTo>
                  <a:pt x="1848" y="2296"/>
                  <a:pt x="2000" y="2312"/>
                  <a:pt x="2112" y="2264"/>
                </a:cubicBezTo>
                <a:cubicBezTo>
                  <a:pt x="2224" y="2216"/>
                  <a:pt x="2352" y="1784"/>
                  <a:pt x="2400" y="1688"/>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orbel" panose="020B0503020204020204" pitchFamily="34" charset="0"/>
            </a:endParaRPr>
          </a:p>
        </p:txBody>
      </p:sp>
      <p:sp>
        <p:nvSpPr>
          <p:cNvPr id="174098" name="Text Box 18">
            <a:extLst>
              <a:ext uri="{FF2B5EF4-FFF2-40B4-BE49-F238E27FC236}">
                <a16:creationId xmlns:a16="http://schemas.microsoft.com/office/drawing/2014/main" id="{48FDCFD3-7232-8B2B-C2A1-FF9D397029FF}"/>
              </a:ext>
            </a:extLst>
          </p:cNvPr>
          <p:cNvSpPr txBox="1">
            <a:spLocks noChangeArrowheads="1"/>
          </p:cNvSpPr>
          <p:nvPr/>
        </p:nvSpPr>
        <p:spPr bwMode="auto">
          <a:xfrm>
            <a:off x="5127625" y="3652838"/>
            <a:ext cx="9588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800">
                <a:latin typeface="Corbel" panose="020B0503020204020204" pitchFamily="34" charset="0"/>
              </a:rPr>
              <a:t>A + B +</a:t>
            </a:r>
          </a:p>
          <a:p>
            <a:pPr algn="ctr"/>
            <a:r>
              <a:rPr lang="en-US" altLang="en-US" sz="1800">
                <a:latin typeface="Corbel" panose="020B0503020204020204" pitchFamily="34" charset="0"/>
              </a:rPr>
              <a:t>catalyst</a:t>
            </a:r>
          </a:p>
        </p:txBody>
      </p:sp>
      <p:sp>
        <p:nvSpPr>
          <p:cNvPr id="174099" name="Text Box 19">
            <a:extLst>
              <a:ext uri="{FF2B5EF4-FFF2-40B4-BE49-F238E27FC236}">
                <a16:creationId xmlns:a16="http://schemas.microsoft.com/office/drawing/2014/main" id="{BAE48118-F85D-D70D-EFB8-A3DC3A530B2F}"/>
              </a:ext>
            </a:extLst>
          </p:cNvPr>
          <p:cNvSpPr txBox="1">
            <a:spLocks noChangeArrowheads="1"/>
          </p:cNvSpPr>
          <p:nvPr/>
        </p:nvSpPr>
        <p:spPr bwMode="auto">
          <a:xfrm>
            <a:off x="7058025" y="4400551"/>
            <a:ext cx="13843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800"/>
              <a:t>C + catalyst</a:t>
            </a:r>
          </a:p>
        </p:txBody>
      </p:sp>
      <p:sp>
        <p:nvSpPr>
          <p:cNvPr id="174100" name="Line 20">
            <a:extLst>
              <a:ext uri="{FF2B5EF4-FFF2-40B4-BE49-F238E27FC236}">
                <a16:creationId xmlns:a16="http://schemas.microsoft.com/office/drawing/2014/main" id="{3011D352-B80D-AAD4-5EFD-FD1543AA895B}"/>
              </a:ext>
            </a:extLst>
          </p:cNvPr>
          <p:cNvSpPr>
            <a:spLocks noChangeShapeType="1"/>
          </p:cNvSpPr>
          <p:nvPr/>
        </p:nvSpPr>
        <p:spPr bwMode="auto">
          <a:xfrm>
            <a:off x="6499225" y="2119314"/>
            <a:ext cx="6350" cy="1519237"/>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orbel" panose="020B0503020204020204" pitchFamily="34" charset="0"/>
            </a:endParaRPr>
          </a:p>
        </p:txBody>
      </p:sp>
      <p:sp>
        <p:nvSpPr>
          <p:cNvPr id="174101" name="Line 21">
            <a:extLst>
              <a:ext uri="{FF2B5EF4-FFF2-40B4-BE49-F238E27FC236}">
                <a16:creationId xmlns:a16="http://schemas.microsoft.com/office/drawing/2014/main" id="{55AD5B62-CFB1-B6BD-2402-53D9D7F8BE16}"/>
              </a:ext>
            </a:extLst>
          </p:cNvPr>
          <p:cNvSpPr>
            <a:spLocks noChangeShapeType="1"/>
          </p:cNvSpPr>
          <p:nvPr/>
        </p:nvSpPr>
        <p:spPr bwMode="auto">
          <a:xfrm>
            <a:off x="5410200" y="3646488"/>
            <a:ext cx="144780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orbel" panose="020B0503020204020204" pitchFamily="34" charset="0"/>
            </a:endParaRPr>
          </a:p>
        </p:txBody>
      </p:sp>
      <p:sp>
        <p:nvSpPr>
          <p:cNvPr id="174102" name="Line 22">
            <a:extLst>
              <a:ext uri="{FF2B5EF4-FFF2-40B4-BE49-F238E27FC236}">
                <a16:creationId xmlns:a16="http://schemas.microsoft.com/office/drawing/2014/main" id="{1E7A54BC-1C19-476C-A195-65AF48DE5B60}"/>
              </a:ext>
            </a:extLst>
          </p:cNvPr>
          <p:cNvSpPr>
            <a:spLocks noChangeShapeType="1"/>
          </p:cNvSpPr>
          <p:nvPr/>
        </p:nvSpPr>
        <p:spPr bwMode="auto">
          <a:xfrm>
            <a:off x="6629400" y="4452938"/>
            <a:ext cx="129540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orbel" panose="020B0503020204020204" pitchFamily="34" charset="0"/>
            </a:endParaRPr>
          </a:p>
        </p:txBody>
      </p:sp>
      <p:sp>
        <p:nvSpPr>
          <p:cNvPr id="174103" name="Line 23">
            <a:extLst>
              <a:ext uri="{FF2B5EF4-FFF2-40B4-BE49-F238E27FC236}">
                <a16:creationId xmlns:a16="http://schemas.microsoft.com/office/drawing/2014/main" id="{70483710-8D34-14DC-A540-35D1017AC499}"/>
              </a:ext>
            </a:extLst>
          </p:cNvPr>
          <p:cNvSpPr>
            <a:spLocks noChangeShapeType="1"/>
          </p:cNvSpPr>
          <p:nvPr/>
        </p:nvSpPr>
        <p:spPr bwMode="auto">
          <a:xfrm>
            <a:off x="6781800" y="3638550"/>
            <a:ext cx="0" cy="8382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orbel" panose="020B0503020204020204" pitchFamily="34" charset="0"/>
            </a:endParaRPr>
          </a:p>
        </p:txBody>
      </p:sp>
      <p:sp>
        <p:nvSpPr>
          <p:cNvPr id="174104" name="Text Box 24">
            <a:extLst>
              <a:ext uri="{FF2B5EF4-FFF2-40B4-BE49-F238E27FC236}">
                <a16:creationId xmlns:a16="http://schemas.microsoft.com/office/drawing/2014/main" id="{73674E80-3394-F00C-1C45-83E8311DB13F}"/>
              </a:ext>
            </a:extLst>
          </p:cNvPr>
          <p:cNvSpPr txBox="1">
            <a:spLocks noChangeArrowheads="1"/>
          </p:cNvSpPr>
          <p:nvPr/>
        </p:nvSpPr>
        <p:spPr bwMode="auto">
          <a:xfrm>
            <a:off x="6303963" y="3875088"/>
            <a:ext cx="48282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l-GR" altLang="en-US" sz="1800" dirty="0">
                <a:solidFill>
                  <a:srgbClr val="FF0000"/>
                </a:solidFill>
                <a:latin typeface="Corbel" panose="020B0503020204020204" pitchFamily="34" charset="0"/>
                <a:cs typeface="Arial" panose="020B0604020202020204" pitchFamily="34" charset="0"/>
              </a:rPr>
              <a:t>Δ</a:t>
            </a:r>
            <a:r>
              <a:rPr lang="en-US" altLang="en-US" sz="1800" i="1" dirty="0">
                <a:solidFill>
                  <a:srgbClr val="FF0000"/>
                </a:solidFill>
                <a:latin typeface="Corbel" panose="020B0503020204020204" pitchFamily="34" charset="0"/>
                <a:cs typeface="Arial" panose="020B0604020202020204" pitchFamily="34" charset="0"/>
              </a:rPr>
              <a:t>G</a:t>
            </a:r>
            <a:endParaRPr lang="el-GR" altLang="en-US" sz="1800" i="1" dirty="0">
              <a:solidFill>
                <a:srgbClr val="FF0000"/>
              </a:solidFill>
              <a:latin typeface="Corbel" panose="020B0503020204020204" pitchFamily="34" charset="0"/>
              <a:cs typeface="Arial" panose="020B0604020202020204" pitchFamily="34" charset="0"/>
            </a:endParaRPr>
          </a:p>
        </p:txBody>
      </p:sp>
      <p:sp>
        <p:nvSpPr>
          <p:cNvPr id="174105" name="Text Box 25">
            <a:extLst>
              <a:ext uri="{FF2B5EF4-FFF2-40B4-BE49-F238E27FC236}">
                <a16:creationId xmlns:a16="http://schemas.microsoft.com/office/drawing/2014/main" id="{F0C7EA56-7D32-5163-EAED-77A48CED6AAF}"/>
              </a:ext>
            </a:extLst>
          </p:cNvPr>
          <p:cNvSpPr txBox="1">
            <a:spLocks noChangeArrowheads="1"/>
          </p:cNvSpPr>
          <p:nvPr/>
        </p:nvSpPr>
        <p:spPr bwMode="auto">
          <a:xfrm>
            <a:off x="6461125" y="2455863"/>
            <a:ext cx="42992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i="1" dirty="0" err="1">
                <a:solidFill>
                  <a:srgbClr val="FF0000"/>
                </a:solidFill>
                <a:latin typeface="Corbel" panose="020B0503020204020204" pitchFamily="34" charset="0"/>
              </a:rPr>
              <a:t>E</a:t>
            </a:r>
            <a:r>
              <a:rPr lang="en-US" altLang="en-US" sz="1800" baseline="-25000" dirty="0" err="1">
                <a:solidFill>
                  <a:srgbClr val="FF0000"/>
                </a:solidFill>
                <a:latin typeface="Corbel" panose="020B0503020204020204" pitchFamily="34" charset="0"/>
              </a:rPr>
              <a:t>a</a:t>
            </a:r>
            <a:r>
              <a:rPr lang="en-US" altLang="en-US" sz="1800" dirty="0">
                <a:solidFill>
                  <a:srgbClr val="FF0000"/>
                </a:solidFill>
                <a:latin typeface="Corbel" panose="020B0503020204020204" pitchFamily="34" charset="0"/>
                <a:cs typeface="Arial" panose="020B0604020202020204" pitchFamily="34" charset="0"/>
              </a:rPr>
              <a:t>′</a:t>
            </a:r>
            <a:endParaRPr lang="en-US" altLang="en-US" sz="1800" baseline="-25000" dirty="0">
              <a:solidFill>
                <a:srgbClr val="FF0000"/>
              </a:solidFill>
              <a:latin typeface="Corbel" panose="020B0503020204020204" pitchFamily="34" charset="0"/>
              <a:cs typeface="Arial" panose="020B0604020202020204" pitchFamily="34" charset="0"/>
            </a:endParaRPr>
          </a:p>
        </p:txBody>
      </p:sp>
      <p:sp>
        <p:nvSpPr>
          <p:cNvPr id="174106" name="Text Box 26">
            <a:extLst>
              <a:ext uri="{FF2B5EF4-FFF2-40B4-BE49-F238E27FC236}">
                <a16:creationId xmlns:a16="http://schemas.microsoft.com/office/drawing/2014/main" id="{1E979DCA-916C-5437-53CB-C1D751897FF7}"/>
              </a:ext>
            </a:extLst>
          </p:cNvPr>
          <p:cNvSpPr txBox="1">
            <a:spLocks noChangeArrowheads="1"/>
          </p:cNvSpPr>
          <p:nvPr/>
        </p:nvSpPr>
        <p:spPr bwMode="auto">
          <a:xfrm>
            <a:off x="7449283" y="1934648"/>
            <a:ext cx="1080745" cy="3693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i="1">
                <a:latin typeface="Corbel" panose="020B0503020204020204" pitchFamily="34" charset="0"/>
              </a:rPr>
              <a:t>catalyzed</a:t>
            </a:r>
          </a:p>
        </p:txBody>
      </p:sp>
      <p:sp>
        <p:nvSpPr>
          <p:cNvPr id="174108" name="Freeform 28">
            <a:extLst>
              <a:ext uri="{FF2B5EF4-FFF2-40B4-BE49-F238E27FC236}">
                <a16:creationId xmlns:a16="http://schemas.microsoft.com/office/drawing/2014/main" id="{BE2E864B-EABB-2254-A637-C325F23D57D0}"/>
              </a:ext>
            </a:extLst>
          </p:cNvPr>
          <p:cNvSpPr>
            <a:spLocks/>
          </p:cNvSpPr>
          <p:nvPr/>
        </p:nvSpPr>
        <p:spPr bwMode="auto">
          <a:xfrm>
            <a:off x="5972175" y="2063750"/>
            <a:ext cx="1098550" cy="965200"/>
          </a:xfrm>
          <a:custGeom>
            <a:avLst/>
            <a:gdLst>
              <a:gd name="T0" fmla="*/ 0 w 720"/>
              <a:gd name="T1" fmla="*/ 608 h 608"/>
              <a:gd name="T2" fmla="*/ 192 w 720"/>
              <a:gd name="T3" fmla="*/ 128 h 608"/>
              <a:gd name="T4" fmla="*/ 384 w 720"/>
              <a:gd name="T5" fmla="*/ 32 h 608"/>
              <a:gd name="T6" fmla="*/ 624 w 720"/>
              <a:gd name="T7" fmla="*/ 320 h 608"/>
              <a:gd name="T8" fmla="*/ 720 w 720"/>
              <a:gd name="T9" fmla="*/ 560 h 608"/>
            </a:gdLst>
            <a:ahLst/>
            <a:cxnLst>
              <a:cxn ang="0">
                <a:pos x="T0" y="T1"/>
              </a:cxn>
              <a:cxn ang="0">
                <a:pos x="T2" y="T3"/>
              </a:cxn>
              <a:cxn ang="0">
                <a:pos x="T4" y="T5"/>
              </a:cxn>
              <a:cxn ang="0">
                <a:pos x="T6" y="T7"/>
              </a:cxn>
              <a:cxn ang="0">
                <a:pos x="T8" y="T9"/>
              </a:cxn>
            </a:cxnLst>
            <a:rect l="0" t="0" r="r" b="b"/>
            <a:pathLst>
              <a:path w="720" h="608">
                <a:moveTo>
                  <a:pt x="0" y="608"/>
                </a:moveTo>
                <a:cubicBezTo>
                  <a:pt x="64" y="416"/>
                  <a:pt x="128" y="224"/>
                  <a:pt x="192" y="128"/>
                </a:cubicBezTo>
                <a:cubicBezTo>
                  <a:pt x="256" y="32"/>
                  <a:pt x="312" y="0"/>
                  <a:pt x="384" y="32"/>
                </a:cubicBezTo>
                <a:cubicBezTo>
                  <a:pt x="456" y="64"/>
                  <a:pt x="568" y="232"/>
                  <a:pt x="624" y="320"/>
                </a:cubicBezTo>
                <a:cubicBezTo>
                  <a:pt x="680" y="408"/>
                  <a:pt x="704" y="520"/>
                  <a:pt x="720" y="560"/>
                </a:cubicBezTo>
              </a:path>
            </a:pathLst>
          </a:custGeom>
          <a:noFill/>
          <a:ln w="9525" cap="flat">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orbel" panose="020B0503020204020204" pitchFamily="34" charset="0"/>
            </a:endParaRPr>
          </a:p>
        </p:txBody>
      </p:sp>
      <p:sp>
        <p:nvSpPr>
          <p:cNvPr id="174109" name="Text Box 29">
            <a:extLst>
              <a:ext uri="{FF2B5EF4-FFF2-40B4-BE49-F238E27FC236}">
                <a16:creationId xmlns:a16="http://schemas.microsoft.com/office/drawing/2014/main" id="{666E2971-E3E9-EC07-6754-F6672A1F77E7}"/>
              </a:ext>
            </a:extLst>
          </p:cNvPr>
          <p:cNvSpPr txBox="1">
            <a:spLocks noChangeArrowheads="1"/>
          </p:cNvSpPr>
          <p:nvPr/>
        </p:nvSpPr>
        <p:spPr bwMode="auto">
          <a:xfrm>
            <a:off x="3731573" y="1593850"/>
            <a:ext cx="1510991"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800" i="1" dirty="0">
                <a:latin typeface="Corbel" panose="020B0503020204020204" pitchFamily="34" charset="0"/>
              </a:rPr>
              <a:t>k</a:t>
            </a:r>
            <a:r>
              <a:rPr lang="en-US" altLang="en-US" sz="1800" dirty="0">
                <a:latin typeface="Corbel" panose="020B0503020204020204" pitchFamily="34" charset="0"/>
              </a:rPr>
              <a:t>(</a:t>
            </a:r>
            <a:r>
              <a:rPr lang="en-US" altLang="en-US" sz="1800" i="1" dirty="0">
                <a:latin typeface="Corbel" panose="020B0503020204020204" pitchFamily="34" charset="0"/>
              </a:rPr>
              <a:t>T</a:t>
            </a:r>
            <a:r>
              <a:rPr lang="en-US" altLang="en-US" sz="1800" dirty="0">
                <a:latin typeface="Corbel" panose="020B0503020204020204" pitchFamily="34" charset="0"/>
              </a:rPr>
              <a:t>) = </a:t>
            </a:r>
            <a:r>
              <a:rPr lang="en-US" altLang="en-US" sz="1800" i="1" dirty="0">
                <a:latin typeface="Corbel" panose="020B0503020204020204" pitchFamily="34" charset="0"/>
              </a:rPr>
              <a:t>k</a:t>
            </a:r>
            <a:r>
              <a:rPr lang="en-US" altLang="en-US" sz="1800" baseline="-25000" dirty="0">
                <a:latin typeface="Corbel" panose="020B0503020204020204" pitchFamily="34" charset="0"/>
              </a:rPr>
              <a:t>0</a:t>
            </a:r>
            <a:r>
              <a:rPr lang="en-US" altLang="en-US" sz="1800" dirty="0">
                <a:latin typeface="Corbel" panose="020B0503020204020204" pitchFamily="34" charset="0"/>
              </a:rPr>
              <a:t>e</a:t>
            </a:r>
            <a:r>
              <a:rPr lang="en-US" altLang="en-US" sz="1800" baseline="30000" dirty="0">
                <a:latin typeface="Corbel" panose="020B0503020204020204" pitchFamily="34" charset="0"/>
                <a:cs typeface="Arial" panose="020B0604020202020204" pitchFamily="34" charset="0"/>
              </a:rPr>
              <a:t>-</a:t>
            </a:r>
            <a:r>
              <a:rPr lang="en-US" altLang="en-US" sz="1800" i="1" baseline="30000" dirty="0">
                <a:latin typeface="Corbel" panose="020B0503020204020204" pitchFamily="34" charset="0"/>
                <a:cs typeface="Arial" panose="020B0604020202020204" pitchFamily="34" charset="0"/>
              </a:rPr>
              <a:t>E</a:t>
            </a:r>
            <a:r>
              <a:rPr lang="en-US" altLang="en-US" sz="1800" baseline="30000" dirty="0">
                <a:latin typeface="Corbel" panose="020B0503020204020204" pitchFamily="34" charset="0"/>
                <a:cs typeface="Arial" panose="020B0604020202020204" pitchFamily="34" charset="0"/>
              </a:rPr>
              <a:t>a/</a:t>
            </a:r>
            <a:r>
              <a:rPr lang="en-US" altLang="en-US" sz="1800" i="1" baseline="30000" dirty="0">
                <a:latin typeface="Corbel" panose="020B0503020204020204" pitchFamily="34" charset="0"/>
                <a:cs typeface="Arial" panose="020B0604020202020204" pitchFamily="34" charset="0"/>
              </a:rPr>
              <a:t>RT</a:t>
            </a:r>
          </a:p>
          <a:p>
            <a:pPr algn="ctr"/>
            <a:r>
              <a:rPr lang="en-US" altLang="en-US" sz="1800" i="1" dirty="0" err="1">
                <a:latin typeface="Corbel" panose="020B0503020204020204" pitchFamily="34" charset="0"/>
                <a:cs typeface="Arial" panose="020B0604020202020204" pitchFamily="34" charset="0"/>
              </a:rPr>
              <a:t>E</a:t>
            </a:r>
            <a:r>
              <a:rPr lang="en-US" altLang="en-US" sz="1800" baseline="-25000" dirty="0" err="1">
                <a:latin typeface="Corbel" panose="020B0503020204020204" pitchFamily="34" charset="0"/>
                <a:cs typeface="Arial" panose="020B0604020202020204" pitchFamily="34" charset="0"/>
              </a:rPr>
              <a:t>a</a:t>
            </a:r>
            <a:r>
              <a:rPr lang="en-US" altLang="en-US" sz="1800" dirty="0">
                <a:latin typeface="Corbel" panose="020B0503020204020204" pitchFamily="34" charset="0"/>
                <a:cs typeface="Arial" panose="020B0604020202020204" pitchFamily="34" charset="0"/>
              </a:rPr>
              <a:t>′ &lt; </a:t>
            </a:r>
            <a:r>
              <a:rPr lang="en-US" altLang="en-US" sz="1800" i="1" dirty="0" err="1">
                <a:latin typeface="Corbel" panose="020B0503020204020204" pitchFamily="34" charset="0"/>
                <a:cs typeface="Arial" panose="020B0604020202020204" pitchFamily="34" charset="0"/>
              </a:rPr>
              <a:t>E</a:t>
            </a:r>
            <a:r>
              <a:rPr lang="en-US" altLang="en-US" sz="1800" baseline="-25000" dirty="0" err="1">
                <a:latin typeface="Corbel" panose="020B0503020204020204" pitchFamily="34" charset="0"/>
                <a:cs typeface="Arial" panose="020B0604020202020204" pitchFamily="34" charset="0"/>
              </a:rPr>
              <a:t>a</a:t>
            </a:r>
            <a:endParaRPr lang="en-US" altLang="en-US" sz="1800" baseline="-25000" dirty="0">
              <a:latin typeface="Corbel" panose="020B0503020204020204" pitchFamily="34" charset="0"/>
              <a:cs typeface="Arial" panose="020B0604020202020204" pitchFamily="34" charset="0"/>
            </a:endParaRPr>
          </a:p>
          <a:p>
            <a:pPr algn="ctr"/>
            <a:r>
              <a:rPr lang="en-US" altLang="en-US" sz="1800" i="1" dirty="0">
                <a:latin typeface="Corbel" panose="020B0503020204020204" pitchFamily="34" charset="0"/>
                <a:cs typeface="Arial" panose="020B0604020202020204" pitchFamily="34" charset="0"/>
              </a:rPr>
              <a:t>k</a:t>
            </a:r>
            <a:r>
              <a:rPr lang="en-US" altLang="en-US" sz="1800" baseline="-25000" dirty="0">
                <a:latin typeface="Corbel" panose="020B0503020204020204" pitchFamily="34" charset="0"/>
                <a:cs typeface="Arial" panose="020B0604020202020204" pitchFamily="34" charset="0"/>
              </a:rPr>
              <a:t>0</a:t>
            </a:r>
            <a:r>
              <a:rPr lang="en-US" altLang="en-US" sz="1800" dirty="0">
                <a:latin typeface="Corbel" panose="020B0503020204020204" pitchFamily="34" charset="0"/>
                <a:cs typeface="Arial" panose="020B0604020202020204" pitchFamily="34" charset="0"/>
              </a:rPr>
              <a:t>′ &gt; </a:t>
            </a:r>
            <a:r>
              <a:rPr lang="en-US" altLang="en-US" sz="1800" i="1" dirty="0">
                <a:latin typeface="Corbel" panose="020B0503020204020204" pitchFamily="34" charset="0"/>
                <a:cs typeface="Arial" panose="020B0604020202020204" pitchFamily="34" charset="0"/>
              </a:rPr>
              <a:t>k</a:t>
            </a:r>
            <a:r>
              <a:rPr lang="en-US" altLang="en-US" sz="1800" baseline="-25000" dirty="0">
                <a:latin typeface="Corbel" panose="020B0503020204020204" pitchFamily="34" charset="0"/>
                <a:cs typeface="Arial" panose="020B0604020202020204" pitchFamily="34" charset="0"/>
              </a:rPr>
              <a:t>0</a:t>
            </a:r>
          </a:p>
          <a:p>
            <a:pPr algn="ctr"/>
            <a:r>
              <a:rPr lang="en-US" altLang="en-US" sz="1800" i="1" dirty="0">
                <a:latin typeface="Corbel" panose="020B0503020204020204" pitchFamily="34" charset="0"/>
                <a:cs typeface="Arial" panose="020B0604020202020204" pitchFamily="34" charset="0"/>
              </a:rPr>
              <a:t>k</a:t>
            </a:r>
            <a:r>
              <a:rPr lang="en-US" altLang="en-US" sz="1800" dirty="0">
                <a:latin typeface="Corbel" panose="020B0503020204020204" pitchFamily="34" charset="0"/>
                <a:cs typeface="Arial" panose="020B0604020202020204" pitchFamily="34" charset="0"/>
              </a:rPr>
              <a:t>′ &gt; </a:t>
            </a:r>
            <a:r>
              <a:rPr lang="en-US" altLang="en-US" sz="1800" i="1" dirty="0">
                <a:latin typeface="Corbel" panose="020B0503020204020204" pitchFamily="34" charset="0"/>
                <a:cs typeface="Arial" panose="020B0604020202020204" pitchFamily="34" charset="0"/>
              </a:rPr>
              <a:t>k</a:t>
            </a:r>
          </a:p>
          <a:p>
            <a:pPr algn="ctr"/>
            <a:endParaRPr lang="en-US" altLang="en-US" sz="1800" dirty="0">
              <a:latin typeface="Corbel" panose="020B0503020204020204" pitchFamily="34" charset="0"/>
              <a:cs typeface="Arial" panose="020B0604020202020204" pitchFamily="34" charset="0"/>
            </a:endParaRPr>
          </a:p>
          <a:p>
            <a:pPr algn="ctr"/>
            <a:r>
              <a:rPr lang="el-GR" altLang="en-US" sz="1800" dirty="0">
                <a:solidFill>
                  <a:srgbClr val="FF0000"/>
                </a:solidFill>
                <a:latin typeface="Corbel" panose="020B0503020204020204" pitchFamily="34" charset="0"/>
              </a:rPr>
              <a:t>Δ</a:t>
            </a:r>
            <a:r>
              <a:rPr lang="en-US" altLang="en-US" sz="1800" i="1" dirty="0">
                <a:solidFill>
                  <a:srgbClr val="FF0000"/>
                </a:solidFill>
                <a:latin typeface="Corbel" panose="020B0503020204020204" pitchFamily="34" charset="0"/>
              </a:rPr>
              <a:t>G</a:t>
            </a:r>
            <a:r>
              <a:rPr lang="en-US" altLang="en-US" sz="1800" dirty="0">
                <a:solidFill>
                  <a:srgbClr val="FF0000"/>
                </a:solidFill>
                <a:latin typeface="Corbel" panose="020B0503020204020204" pitchFamily="34" charset="0"/>
              </a:rPr>
              <a:t> = </a:t>
            </a:r>
            <a:r>
              <a:rPr lang="el-GR" altLang="en-US" sz="1800" dirty="0">
                <a:solidFill>
                  <a:srgbClr val="FF0000"/>
                </a:solidFill>
                <a:latin typeface="Corbel" panose="020B0503020204020204" pitchFamily="34" charset="0"/>
              </a:rPr>
              <a:t>Δ</a:t>
            </a:r>
            <a:r>
              <a:rPr lang="en-US" altLang="en-US" sz="1800" i="1" dirty="0">
                <a:solidFill>
                  <a:srgbClr val="FF0000"/>
                </a:solidFill>
                <a:latin typeface="Corbel" panose="020B0503020204020204" pitchFamily="34" charset="0"/>
              </a:rPr>
              <a:t>G</a:t>
            </a:r>
          </a:p>
        </p:txBody>
      </p:sp>
      <p:sp>
        <p:nvSpPr>
          <p:cNvPr id="174110" name="AutoShape 30">
            <a:extLst>
              <a:ext uri="{FF2B5EF4-FFF2-40B4-BE49-F238E27FC236}">
                <a16:creationId xmlns:a16="http://schemas.microsoft.com/office/drawing/2014/main" id="{B2D5E221-B497-1F9C-2706-D63C2E70B6F5}"/>
              </a:ext>
            </a:extLst>
          </p:cNvPr>
          <p:cNvSpPr>
            <a:spLocks noChangeArrowheads="1"/>
          </p:cNvSpPr>
          <p:nvPr/>
        </p:nvSpPr>
        <p:spPr bwMode="auto">
          <a:xfrm>
            <a:off x="3909218" y="2764632"/>
            <a:ext cx="1155700" cy="22860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a:extLst>
              <a:ext uri="{FF2B5EF4-FFF2-40B4-BE49-F238E27FC236}">
                <a16:creationId xmlns:a16="http://schemas.microsoft.com/office/drawing/2014/main" id="{BFD1053C-5133-2DE7-749D-F1BAD782AF65}"/>
              </a:ext>
            </a:extLst>
          </p:cNvPr>
          <p:cNvSpPr>
            <a:spLocks noGrp="1" noChangeArrowheads="1"/>
          </p:cNvSpPr>
          <p:nvPr>
            <p:ph type="title"/>
          </p:nvPr>
        </p:nvSpPr>
        <p:spPr/>
        <p:txBody>
          <a:bodyPr>
            <a:normAutofit fontScale="90000"/>
          </a:bodyPr>
          <a:lstStyle/>
          <a:p>
            <a:r>
              <a:rPr lang="en-US" altLang="en-US"/>
              <a:t>Catalysts Open Up New Reaction Pathways</a:t>
            </a:r>
          </a:p>
        </p:txBody>
      </p:sp>
      <p:sp>
        <p:nvSpPr>
          <p:cNvPr id="2" name="Date Placeholder 2">
            <a:extLst>
              <a:ext uri="{FF2B5EF4-FFF2-40B4-BE49-F238E27FC236}">
                <a16:creationId xmlns:a16="http://schemas.microsoft.com/office/drawing/2014/main" id="{9746163A-73C8-A020-8177-FBD54AB6F857}"/>
              </a:ext>
            </a:extLst>
          </p:cNvPr>
          <p:cNvSpPr>
            <a:spLocks noGrp="1"/>
          </p:cNvSpPr>
          <p:nvPr>
            <p:ph type="dt" sz="half" idx="10"/>
          </p:nvPr>
        </p:nvSpPr>
        <p:spPr/>
        <p:txBody>
          <a:bodyPr/>
          <a:lstStyle/>
          <a:p>
            <a:r>
              <a:rPr lang="en-US" altLang="en-US"/>
              <a:t>W. F. Schneider</a:t>
            </a:r>
          </a:p>
        </p:txBody>
      </p:sp>
      <p:sp>
        <p:nvSpPr>
          <p:cNvPr id="3" name="Footer Placeholder 3">
            <a:extLst>
              <a:ext uri="{FF2B5EF4-FFF2-40B4-BE49-F238E27FC236}">
                <a16:creationId xmlns:a16="http://schemas.microsoft.com/office/drawing/2014/main" id="{3BA41E23-157C-BA93-FF9E-694BFC3A8C1C}"/>
              </a:ext>
            </a:extLst>
          </p:cNvPr>
          <p:cNvSpPr>
            <a:spLocks noGrp="1"/>
          </p:cNvSpPr>
          <p:nvPr>
            <p:ph type="ftr" sz="quarter" idx="11"/>
          </p:nvPr>
        </p:nvSpPr>
        <p:spPr/>
        <p:txBody>
          <a:bodyPr/>
          <a:lstStyle/>
          <a:p>
            <a:r>
              <a:rPr lang="en-US" altLang="en-US"/>
              <a:t>CBE 60546</a:t>
            </a:r>
          </a:p>
        </p:txBody>
      </p:sp>
      <p:sp>
        <p:nvSpPr>
          <p:cNvPr id="175108" name="Text Box 4">
            <a:extLst>
              <a:ext uri="{FF2B5EF4-FFF2-40B4-BE49-F238E27FC236}">
                <a16:creationId xmlns:a16="http://schemas.microsoft.com/office/drawing/2014/main" id="{B400122A-0D90-353F-4492-9ED12498F24B}"/>
              </a:ext>
            </a:extLst>
          </p:cNvPr>
          <p:cNvSpPr txBox="1">
            <a:spLocks noChangeArrowheads="1"/>
          </p:cNvSpPr>
          <p:nvPr/>
        </p:nvSpPr>
        <p:spPr bwMode="auto">
          <a:xfrm>
            <a:off x="1258889" y="2316164"/>
            <a:ext cx="51167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CH</a:t>
            </a:r>
            <a:r>
              <a:rPr lang="en-US" altLang="en-US" baseline="-25000"/>
              <a:t>3</a:t>
            </a:r>
          </a:p>
        </p:txBody>
      </p:sp>
      <p:sp>
        <p:nvSpPr>
          <p:cNvPr id="175109" name="Text Box 5">
            <a:extLst>
              <a:ext uri="{FF2B5EF4-FFF2-40B4-BE49-F238E27FC236}">
                <a16:creationId xmlns:a16="http://schemas.microsoft.com/office/drawing/2014/main" id="{3DE8A0E3-EDDB-A4BB-9239-3F85E1F0B864}"/>
              </a:ext>
            </a:extLst>
          </p:cNvPr>
          <p:cNvSpPr txBox="1">
            <a:spLocks noChangeArrowheads="1"/>
          </p:cNvSpPr>
          <p:nvPr/>
        </p:nvSpPr>
        <p:spPr bwMode="auto">
          <a:xfrm>
            <a:off x="1717675" y="2044700"/>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C</a:t>
            </a:r>
          </a:p>
        </p:txBody>
      </p:sp>
      <p:sp>
        <p:nvSpPr>
          <p:cNvPr id="175110" name="Text Box 6">
            <a:extLst>
              <a:ext uri="{FF2B5EF4-FFF2-40B4-BE49-F238E27FC236}">
                <a16:creationId xmlns:a16="http://schemas.microsoft.com/office/drawing/2014/main" id="{3967067F-B23B-D828-E7AC-4F01079230A3}"/>
              </a:ext>
            </a:extLst>
          </p:cNvPr>
          <p:cNvSpPr txBox="1">
            <a:spLocks noChangeArrowheads="1"/>
          </p:cNvSpPr>
          <p:nvPr/>
        </p:nvSpPr>
        <p:spPr bwMode="auto">
          <a:xfrm>
            <a:off x="2009776" y="2322514"/>
            <a:ext cx="51167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CH</a:t>
            </a:r>
            <a:r>
              <a:rPr lang="en-US" altLang="en-US" baseline="-25000"/>
              <a:t>3</a:t>
            </a:r>
          </a:p>
        </p:txBody>
      </p:sp>
      <p:sp>
        <p:nvSpPr>
          <p:cNvPr id="175111" name="Line 7">
            <a:extLst>
              <a:ext uri="{FF2B5EF4-FFF2-40B4-BE49-F238E27FC236}">
                <a16:creationId xmlns:a16="http://schemas.microsoft.com/office/drawing/2014/main" id="{78794835-37C0-0F7A-4798-834A642F8BE8}"/>
              </a:ext>
            </a:extLst>
          </p:cNvPr>
          <p:cNvSpPr>
            <a:spLocks noChangeShapeType="1"/>
          </p:cNvSpPr>
          <p:nvPr/>
        </p:nvSpPr>
        <p:spPr bwMode="auto">
          <a:xfrm>
            <a:off x="1849438" y="1889125"/>
            <a:ext cx="0" cy="1857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5112" name="Line 8">
            <a:extLst>
              <a:ext uri="{FF2B5EF4-FFF2-40B4-BE49-F238E27FC236}">
                <a16:creationId xmlns:a16="http://schemas.microsoft.com/office/drawing/2014/main" id="{6AE14852-3DDE-47BA-4B2C-0003D854C99B}"/>
              </a:ext>
            </a:extLst>
          </p:cNvPr>
          <p:cNvSpPr>
            <a:spLocks noChangeShapeType="1"/>
          </p:cNvSpPr>
          <p:nvPr/>
        </p:nvSpPr>
        <p:spPr bwMode="auto">
          <a:xfrm>
            <a:off x="1901825" y="1889125"/>
            <a:ext cx="0" cy="1857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5113" name="Line 9">
            <a:extLst>
              <a:ext uri="{FF2B5EF4-FFF2-40B4-BE49-F238E27FC236}">
                <a16:creationId xmlns:a16="http://schemas.microsoft.com/office/drawing/2014/main" id="{7D56E14D-61F8-ACDD-CBD4-37CD862D4956}"/>
              </a:ext>
            </a:extLst>
          </p:cNvPr>
          <p:cNvSpPr>
            <a:spLocks noChangeShapeType="1"/>
          </p:cNvSpPr>
          <p:nvPr/>
        </p:nvSpPr>
        <p:spPr bwMode="auto">
          <a:xfrm flipV="1">
            <a:off x="1649413" y="2286001"/>
            <a:ext cx="131762" cy="746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5114" name="Line 10">
            <a:extLst>
              <a:ext uri="{FF2B5EF4-FFF2-40B4-BE49-F238E27FC236}">
                <a16:creationId xmlns:a16="http://schemas.microsoft.com/office/drawing/2014/main" id="{F991A351-9197-E490-D671-4A6897C3D3B8}"/>
              </a:ext>
            </a:extLst>
          </p:cNvPr>
          <p:cNvSpPr>
            <a:spLocks noChangeShapeType="1"/>
          </p:cNvSpPr>
          <p:nvPr/>
        </p:nvSpPr>
        <p:spPr bwMode="auto">
          <a:xfrm flipH="1" flipV="1">
            <a:off x="1954214" y="2286001"/>
            <a:ext cx="123825" cy="619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5115" name="Text Box 11">
            <a:extLst>
              <a:ext uri="{FF2B5EF4-FFF2-40B4-BE49-F238E27FC236}">
                <a16:creationId xmlns:a16="http://schemas.microsoft.com/office/drawing/2014/main" id="{96766B3F-D92A-F6D0-B25B-ECB340673A25}"/>
              </a:ext>
            </a:extLst>
          </p:cNvPr>
          <p:cNvSpPr txBox="1">
            <a:spLocks noChangeArrowheads="1"/>
          </p:cNvSpPr>
          <p:nvPr/>
        </p:nvSpPr>
        <p:spPr bwMode="auto">
          <a:xfrm>
            <a:off x="1702593" y="1589980"/>
            <a:ext cx="3222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O</a:t>
            </a:r>
          </a:p>
        </p:txBody>
      </p:sp>
      <p:sp>
        <p:nvSpPr>
          <p:cNvPr id="175117" name="Line 13">
            <a:extLst>
              <a:ext uri="{FF2B5EF4-FFF2-40B4-BE49-F238E27FC236}">
                <a16:creationId xmlns:a16="http://schemas.microsoft.com/office/drawing/2014/main" id="{3CD20732-2F11-34DF-843A-127E4EC845A3}"/>
              </a:ext>
            </a:extLst>
          </p:cNvPr>
          <p:cNvSpPr>
            <a:spLocks noChangeShapeType="1"/>
          </p:cNvSpPr>
          <p:nvPr/>
        </p:nvSpPr>
        <p:spPr bwMode="auto">
          <a:xfrm>
            <a:off x="2590800" y="2114550"/>
            <a:ext cx="403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5118" name="Text Box 14">
            <a:extLst>
              <a:ext uri="{FF2B5EF4-FFF2-40B4-BE49-F238E27FC236}">
                <a16:creationId xmlns:a16="http://schemas.microsoft.com/office/drawing/2014/main" id="{4C95CF5A-D813-1E36-C6A9-511B9B664993}"/>
              </a:ext>
            </a:extLst>
          </p:cNvPr>
          <p:cNvSpPr txBox="1">
            <a:spLocks noChangeArrowheads="1"/>
          </p:cNvSpPr>
          <p:nvPr/>
        </p:nvSpPr>
        <p:spPr bwMode="auto">
          <a:xfrm>
            <a:off x="6669089" y="2316164"/>
            <a:ext cx="51167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CH</a:t>
            </a:r>
            <a:r>
              <a:rPr lang="en-US" altLang="en-US" baseline="-25000"/>
              <a:t>2</a:t>
            </a:r>
          </a:p>
        </p:txBody>
      </p:sp>
      <p:sp>
        <p:nvSpPr>
          <p:cNvPr id="175119" name="Text Box 15">
            <a:extLst>
              <a:ext uri="{FF2B5EF4-FFF2-40B4-BE49-F238E27FC236}">
                <a16:creationId xmlns:a16="http://schemas.microsoft.com/office/drawing/2014/main" id="{23390F4E-C461-3EB2-5EE4-2C03F84EAFB1}"/>
              </a:ext>
            </a:extLst>
          </p:cNvPr>
          <p:cNvSpPr txBox="1">
            <a:spLocks noChangeArrowheads="1"/>
          </p:cNvSpPr>
          <p:nvPr/>
        </p:nvSpPr>
        <p:spPr bwMode="auto">
          <a:xfrm>
            <a:off x="7127875" y="2044700"/>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C</a:t>
            </a:r>
          </a:p>
        </p:txBody>
      </p:sp>
      <p:sp>
        <p:nvSpPr>
          <p:cNvPr id="175120" name="Text Box 16">
            <a:extLst>
              <a:ext uri="{FF2B5EF4-FFF2-40B4-BE49-F238E27FC236}">
                <a16:creationId xmlns:a16="http://schemas.microsoft.com/office/drawing/2014/main" id="{F74DAC0A-1156-05DC-CE0F-088E52AFE9B2}"/>
              </a:ext>
            </a:extLst>
          </p:cNvPr>
          <p:cNvSpPr txBox="1">
            <a:spLocks noChangeArrowheads="1"/>
          </p:cNvSpPr>
          <p:nvPr/>
        </p:nvSpPr>
        <p:spPr bwMode="auto">
          <a:xfrm>
            <a:off x="7419976" y="2322514"/>
            <a:ext cx="51167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CH</a:t>
            </a:r>
            <a:r>
              <a:rPr lang="en-US" altLang="en-US" baseline="-25000"/>
              <a:t>3</a:t>
            </a:r>
          </a:p>
        </p:txBody>
      </p:sp>
      <p:sp>
        <p:nvSpPr>
          <p:cNvPr id="175121" name="Line 17">
            <a:extLst>
              <a:ext uri="{FF2B5EF4-FFF2-40B4-BE49-F238E27FC236}">
                <a16:creationId xmlns:a16="http://schemas.microsoft.com/office/drawing/2014/main" id="{B182CF2D-E313-F980-7846-3E01B47C6D14}"/>
              </a:ext>
            </a:extLst>
          </p:cNvPr>
          <p:cNvSpPr>
            <a:spLocks noChangeShapeType="1"/>
          </p:cNvSpPr>
          <p:nvPr/>
        </p:nvSpPr>
        <p:spPr bwMode="auto">
          <a:xfrm>
            <a:off x="7275513" y="1905000"/>
            <a:ext cx="0" cy="1857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5123" name="Line 19">
            <a:extLst>
              <a:ext uri="{FF2B5EF4-FFF2-40B4-BE49-F238E27FC236}">
                <a16:creationId xmlns:a16="http://schemas.microsoft.com/office/drawing/2014/main" id="{63D32188-8DF1-5667-E684-4E0C4AC3032F}"/>
              </a:ext>
            </a:extLst>
          </p:cNvPr>
          <p:cNvSpPr>
            <a:spLocks noChangeShapeType="1"/>
          </p:cNvSpPr>
          <p:nvPr/>
        </p:nvSpPr>
        <p:spPr bwMode="auto">
          <a:xfrm flipV="1">
            <a:off x="7059613" y="2286001"/>
            <a:ext cx="131762" cy="746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5124" name="Line 20">
            <a:extLst>
              <a:ext uri="{FF2B5EF4-FFF2-40B4-BE49-F238E27FC236}">
                <a16:creationId xmlns:a16="http://schemas.microsoft.com/office/drawing/2014/main" id="{6A9F38A2-375B-833C-0E18-1AB114946F46}"/>
              </a:ext>
            </a:extLst>
          </p:cNvPr>
          <p:cNvSpPr>
            <a:spLocks noChangeShapeType="1"/>
          </p:cNvSpPr>
          <p:nvPr/>
        </p:nvSpPr>
        <p:spPr bwMode="auto">
          <a:xfrm flipH="1" flipV="1">
            <a:off x="7364414" y="2286001"/>
            <a:ext cx="123825" cy="619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5125" name="Text Box 21">
            <a:extLst>
              <a:ext uri="{FF2B5EF4-FFF2-40B4-BE49-F238E27FC236}">
                <a16:creationId xmlns:a16="http://schemas.microsoft.com/office/drawing/2014/main" id="{B5EE3E52-5994-765D-558C-ACFAE5018AB1}"/>
              </a:ext>
            </a:extLst>
          </p:cNvPr>
          <p:cNvSpPr txBox="1">
            <a:spLocks noChangeArrowheads="1"/>
          </p:cNvSpPr>
          <p:nvPr/>
        </p:nvSpPr>
        <p:spPr bwMode="auto">
          <a:xfrm>
            <a:off x="7127875" y="1657350"/>
            <a:ext cx="450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OH</a:t>
            </a:r>
          </a:p>
        </p:txBody>
      </p:sp>
      <p:sp>
        <p:nvSpPr>
          <p:cNvPr id="175126" name="Line 22">
            <a:extLst>
              <a:ext uri="{FF2B5EF4-FFF2-40B4-BE49-F238E27FC236}">
                <a16:creationId xmlns:a16="http://schemas.microsoft.com/office/drawing/2014/main" id="{F5649E2E-E9EC-5546-B8B4-232C203A4427}"/>
              </a:ext>
            </a:extLst>
          </p:cNvPr>
          <p:cNvSpPr>
            <a:spLocks noChangeShapeType="1"/>
          </p:cNvSpPr>
          <p:nvPr/>
        </p:nvSpPr>
        <p:spPr bwMode="auto">
          <a:xfrm flipV="1">
            <a:off x="7086601" y="2327276"/>
            <a:ext cx="131763" cy="746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5127" name="Text Box 23">
            <a:extLst>
              <a:ext uri="{FF2B5EF4-FFF2-40B4-BE49-F238E27FC236}">
                <a16:creationId xmlns:a16="http://schemas.microsoft.com/office/drawing/2014/main" id="{888993F0-B318-9760-0307-D6FC4885B685}"/>
              </a:ext>
            </a:extLst>
          </p:cNvPr>
          <p:cNvSpPr txBox="1">
            <a:spLocks noChangeArrowheads="1"/>
          </p:cNvSpPr>
          <p:nvPr/>
        </p:nvSpPr>
        <p:spPr bwMode="auto">
          <a:xfrm>
            <a:off x="1143000" y="2660454"/>
            <a:ext cx="1276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dirty="0"/>
              <a:t>propanone</a:t>
            </a:r>
          </a:p>
        </p:txBody>
      </p:sp>
      <p:sp>
        <p:nvSpPr>
          <p:cNvPr id="175128" name="Text Box 24">
            <a:extLst>
              <a:ext uri="{FF2B5EF4-FFF2-40B4-BE49-F238E27FC236}">
                <a16:creationId xmlns:a16="http://schemas.microsoft.com/office/drawing/2014/main" id="{AEB40681-D418-D775-A2BD-B1CD01FB24E9}"/>
              </a:ext>
            </a:extLst>
          </p:cNvPr>
          <p:cNvSpPr txBox="1">
            <a:spLocks noChangeArrowheads="1"/>
          </p:cNvSpPr>
          <p:nvPr/>
        </p:nvSpPr>
        <p:spPr bwMode="auto">
          <a:xfrm>
            <a:off x="6775450" y="2679701"/>
            <a:ext cx="1073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t>propenol</a:t>
            </a:r>
          </a:p>
        </p:txBody>
      </p:sp>
      <p:sp>
        <p:nvSpPr>
          <p:cNvPr id="175129" name="Rectangle 25">
            <a:extLst>
              <a:ext uri="{FF2B5EF4-FFF2-40B4-BE49-F238E27FC236}">
                <a16:creationId xmlns:a16="http://schemas.microsoft.com/office/drawing/2014/main" id="{0498EDFB-F448-1843-BB9E-2327C7470B12}"/>
              </a:ext>
            </a:extLst>
          </p:cNvPr>
          <p:cNvSpPr>
            <a:spLocks noChangeArrowheads="1"/>
          </p:cNvSpPr>
          <p:nvPr/>
        </p:nvSpPr>
        <p:spPr bwMode="auto">
          <a:xfrm>
            <a:off x="4038600" y="1123950"/>
            <a:ext cx="609600" cy="533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800"/>
          </a:p>
        </p:txBody>
      </p:sp>
      <p:sp>
        <p:nvSpPr>
          <p:cNvPr id="175131" name="Text Box 27">
            <a:extLst>
              <a:ext uri="{FF2B5EF4-FFF2-40B4-BE49-F238E27FC236}">
                <a16:creationId xmlns:a16="http://schemas.microsoft.com/office/drawing/2014/main" id="{D4213693-88D5-D69F-81F8-15615DE280B7}"/>
              </a:ext>
            </a:extLst>
          </p:cNvPr>
          <p:cNvSpPr txBox="1">
            <a:spLocks noChangeArrowheads="1"/>
          </p:cNvSpPr>
          <p:nvPr/>
        </p:nvSpPr>
        <p:spPr bwMode="auto">
          <a:xfrm>
            <a:off x="3681414" y="1489076"/>
            <a:ext cx="511679" cy="30777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H</a:t>
            </a:r>
            <a:r>
              <a:rPr lang="en-US" altLang="en-US" baseline="-25000"/>
              <a:t>2</a:t>
            </a:r>
            <a:r>
              <a:rPr lang="en-US" altLang="en-US"/>
              <a:t>C</a:t>
            </a:r>
          </a:p>
        </p:txBody>
      </p:sp>
      <p:sp>
        <p:nvSpPr>
          <p:cNvPr id="175132" name="Text Box 28">
            <a:extLst>
              <a:ext uri="{FF2B5EF4-FFF2-40B4-BE49-F238E27FC236}">
                <a16:creationId xmlns:a16="http://schemas.microsoft.com/office/drawing/2014/main" id="{7C52474A-419A-D9AA-E3AA-F40740E359D9}"/>
              </a:ext>
            </a:extLst>
          </p:cNvPr>
          <p:cNvSpPr txBox="1">
            <a:spLocks noChangeArrowheads="1"/>
          </p:cNvSpPr>
          <p:nvPr/>
        </p:nvSpPr>
        <p:spPr bwMode="auto">
          <a:xfrm>
            <a:off x="3886200" y="971550"/>
            <a:ext cx="312738"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H</a:t>
            </a:r>
          </a:p>
        </p:txBody>
      </p:sp>
      <p:sp>
        <p:nvSpPr>
          <p:cNvPr id="175133" name="Text Box 29">
            <a:extLst>
              <a:ext uri="{FF2B5EF4-FFF2-40B4-BE49-F238E27FC236}">
                <a16:creationId xmlns:a16="http://schemas.microsoft.com/office/drawing/2014/main" id="{0AD105ED-08CA-DC1C-46FE-A31A25291D84}"/>
              </a:ext>
            </a:extLst>
          </p:cNvPr>
          <p:cNvSpPr txBox="1">
            <a:spLocks noChangeArrowheads="1"/>
          </p:cNvSpPr>
          <p:nvPr/>
        </p:nvSpPr>
        <p:spPr bwMode="auto">
          <a:xfrm>
            <a:off x="4487863" y="971550"/>
            <a:ext cx="322262"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O</a:t>
            </a:r>
          </a:p>
        </p:txBody>
      </p:sp>
      <p:sp>
        <p:nvSpPr>
          <p:cNvPr id="175134" name="Text Box 30">
            <a:extLst>
              <a:ext uri="{FF2B5EF4-FFF2-40B4-BE49-F238E27FC236}">
                <a16:creationId xmlns:a16="http://schemas.microsoft.com/office/drawing/2014/main" id="{18304547-EA96-9EA4-E502-5C4FF5536117}"/>
              </a:ext>
            </a:extLst>
          </p:cNvPr>
          <p:cNvSpPr txBox="1">
            <a:spLocks noChangeArrowheads="1"/>
          </p:cNvSpPr>
          <p:nvPr/>
        </p:nvSpPr>
        <p:spPr bwMode="auto">
          <a:xfrm>
            <a:off x="4487864" y="1481138"/>
            <a:ext cx="312737"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C</a:t>
            </a:r>
          </a:p>
        </p:txBody>
      </p:sp>
      <p:sp>
        <p:nvSpPr>
          <p:cNvPr id="175135" name="Text Box 31">
            <a:extLst>
              <a:ext uri="{FF2B5EF4-FFF2-40B4-BE49-F238E27FC236}">
                <a16:creationId xmlns:a16="http://schemas.microsoft.com/office/drawing/2014/main" id="{AE7AFBCC-A2A3-F087-C6D7-01FCB8A67604}"/>
              </a:ext>
            </a:extLst>
          </p:cNvPr>
          <p:cNvSpPr txBox="1">
            <a:spLocks noChangeArrowheads="1"/>
          </p:cNvSpPr>
          <p:nvPr/>
        </p:nvSpPr>
        <p:spPr bwMode="auto">
          <a:xfrm>
            <a:off x="4805364" y="1709739"/>
            <a:ext cx="51167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CH</a:t>
            </a:r>
            <a:r>
              <a:rPr lang="en-US" altLang="en-US" baseline="-25000"/>
              <a:t>3</a:t>
            </a:r>
          </a:p>
        </p:txBody>
      </p:sp>
      <p:sp>
        <p:nvSpPr>
          <p:cNvPr id="175136" name="Line 32">
            <a:extLst>
              <a:ext uri="{FF2B5EF4-FFF2-40B4-BE49-F238E27FC236}">
                <a16:creationId xmlns:a16="http://schemas.microsoft.com/office/drawing/2014/main" id="{A96DFBA0-E1BB-92F6-2E8D-3B750848D447}"/>
              </a:ext>
            </a:extLst>
          </p:cNvPr>
          <p:cNvSpPr>
            <a:spLocks noChangeShapeType="1"/>
          </p:cNvSpPr>
          <p:nvPr/>
        </p:nvSpPr>
        <p:spPr bwMode="auto">
          <a:xfrm flipH="1" flipV="1">
            <a:off x="4749801" y="1673226"/>
            <a:ext cx="123825" cy="619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5137" name="AutoShape 33">
            <a:extLst>
              <a:ext uri="{FF2B5EF4-FFF2-40B4-BE49-F238E27FC236}">
                <a16:creationId xmlns:a16="http://schemas.microsoft.com/office/drawing/2014/main" id="{7DED9D8D-8856-464B-E85E-5156D4714179}"/>
              </a:ext>
            </a:extLst>
          </p:cNvPr>
          <p:cNvSpPr>
            <a:spLocks noChangeArrowheads="1"/>
          </p:cNvSpPr>
          <p:nvPr/>
        </p:nvSpPr>
        <p:spPr bwMode="auto">
          <a:xfrm>
            <a:off x="3581400" y="895350"/>
            <a:ext cx="1828800" cy="1143000"/>
          </a:xfrm>
          <a:prstGeom prst="bracketPair">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5138" name="Text Box 34">
            <a:extLst>
              <a:ext uri="{FF2B5EF4-FFF2-40B4-BE49-F238E27FC236}">
                <a16:creationId xmlns:a16="http://schemas.microsoft.com/office/drawing/2014/main" id="{31918BB1-2CA5-9095-FA9C-318EA41B5185}"/>
              </a:ext>
            </a:extLst>
          </p:cNvPr>
          <p:cNvSpPr txBox="1">
            <a:spLocks noChangeArrowheads="1"/>
          </p:cNvSpPr>
          <p:nvPr/>
        </p:nvSpPr>
        <p:spPr bwMode="auto">
          <a:xfrm>
            <a:off x="5410200" y="70326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cs typeface="Arial" panose="020B0604020202020204" pitchFamily="34" charset="0"/>
              </a:rPr>
              <a:t>‡</a:t>
            </a:r>
          </a:p>
        </p:txBody>
      </p:sp>
      <p:sp>
        <p:nvSpPr>
          <p:cNvPr id="175139" name="AutoShape 35">
            <a:extLst>
              <a:ext uri="{FF2B5EF4-FFF2-40B4-BE49-F238E27FC236}">
                <a16:creationId xmlns:a16="http://schemas.microsoft.com/office/drawing/2014/main" id="{726350FA-9EA5-69F8-9033-35FAD23376F4}"/>
              </a:ext>
            </a:extLst>
          </p:cNvPr>
          <p:cNvSpPr>
            <a:spLocks noChangeArrowheads="1"/>
          </p:cNvSpPr>
          <p:nvPr/>
        </p:nvSpPr>
        <p:spPr bwMode="auto">
          <a:xfrm>
            <a:off x="3657600" y="590550"/>
            <a:ext cx="1676400" cy="1752600"/>
          </a:xfrm>
          <a:custGeom>
            <a:avLst/>
            <a:gdLst>
              <a:gd name="G0" fmla="+- 2700 0 0"/>
              <a:gd name="G1" fmla="*/ G0 2 1"/>
              <a:gd name="G2" fmla="+- 21600 0 G1"/>
              <a:gd name="G3" fmla="*/ G2 G2 1"/>
              <a:gd name="G4" fmla="*/ G0 G0 1"/>
              <a:gd name="G5" fmla="+- G3 0 G4"/>
              <a:gd name="G6" fmla="*/ G5 1 8"/>
              <a:gd name="G7" fmla="sqrt G6"/>
              <a:gd name="G8" fmla="*/ G4 1 8"/>
              <a:gd name="G9" fmla="sqrt G8"/>
              <a:gd name="G10" fmla="+- G7 G9 0"/>
              <a:gd name="G11" fmla="+- G7 0 G9"/>
              <a:gd name="G12" fmla="+- G10 10800 0"/>
              <a:gd name="G13" fmla="+- 10800 0 G10"/>
              <a:gd name="G14" fmla="+- G11 10800 0"/>
              <a:gd name="G15" fmla="+- 10800 0 G11"/>
              <a:gd name="G16" fmla="+- 21600 0 G0"/>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700"/>
                  <a:pt x="7477" y="3223"/>
                  <a:pt x="6106" y="4198"/>
                </a:cubicBezTo>
                <a:close/>
                <a:moveTo>
                  <a:pt x="4198" y="6106"/>
                </a:moveTo>
                <a:cubicBezTo>
                  <a:pt x="3223" y="7477"/>
                  <a:pt x="2700" y="9117"/>
                  <a:pt x="2700" y="10799"/>
                </a:cubicBezTo>
                <a:cubicBezTo>
                  <a:pt x="2700" y="15273"/>
                  <a:pt x="6326" y="18900"/>
                  <a:pt x="10800" y="18900"/>
                </a:cubicBezTo>
                <a:cubicBezTo>
                  <a:pt x="12482" y="18900"/>
                  <a:pt x="14122" y="18376"/>
                  <a:pt x="15493" y="17401"/>
                </a:cubicBezTo>
                <a:close/>
              </a:path>
            </a:pathLst>
          </a:custGeom>
          <a:solidFill>
            <a:srgbClr val="FF0000">
              <a:alpha val="50999"/>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5140" name="Freeform 36">
            <a:extLst>
              <a:ext uri="{FF2B5EF4-FFF2-40B4-BE49-F238E27FC236}">
                <a16:creationId xmlns:a16="http://schemas.microsoft.com/office/drawing/2014/main" id="{6065C765-AC08-37B4-FDFC-AC2E36B36AC3}"/>
              </a:ext>
            </a:extLst>
          </p:cNvPr>
          <p:cNvSpPr>
            <a:spLocks/>
          </p:cNvSpPr>
          <p:nvPr/>
        </p:nvSpPr>
        <p:spPr bwMode="auto">
          <a:xfrm flipH="1">
            <a:off x="2209800" y="2509836"/>
            <a:ext cx="4114800" cy="1993900"/>
          </a:xfrm>
          <a:custGeom>
            <a:avLst/>
            <a:gdLst>
              <a:gd name="T0" fmla="*/ 0 w 2400"/>
              <a:gd name="T1" fmla="*/ 1304 h 2312"/>
              <a:gd name="T2" fmla="*/ 336 w 2400"/>
              <a:gd name="T3" fmla="*/ 1640 h 2312"/>
              <a:gd name="T4" fmla="*/ 576 w 2400"/>
              <a:gd name="T5" fmla="*/ 1256 h 2312"/>
              <a:gd name="T6" fmla="*/ 816 w 2400"/>
              <a:gd name="T7" fmla="*/ 296 h 2312"/>
              <a:gd name="T8" fmla="*/ 1056 w 2400"/>
              <a:gd name="T9" fmla="*/ 8 h 2312"/>
              <a:gd name="T10" fmla="*/ 1392 w 2400"/>
              <a:gd name="T11" fmla="*/ 344 h 2312"/>
              <a:gd name="T12" fmla="*/ 1728 w 2400"/>
              <a:gd name="T13" fmla="*/ 1976 h 2312"/>
              <a:gd name="T14" fmla="*/ 2112 w 2400"/>
              <a:gd name="T15" fmla="*/ 2264 h 2312"/>
              <a:gd name="T16" fmla="*/ 2400 w 2400"/>
              <a:gd name="T17" fmla="*/ 1688 h 2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00" h="2312">
                <a:moveTo>
                  <a:pt x="0" y="1304"/>
                </a:moveTo>
                <a:cubicBezTo>
                  <a:pt x="120" y="1476"/>
                  <a:pt x="240" y="1648"/>
                  <a:pt x="336" y="1640"/>
                </a:cubicBezTo>
                <a:cubicBezTo>
                  <a:pt x="432" y="1632"/>
                  <a:pt x="496" y="1480"/>
                  <a:pt x="576" y="1256"/>
                </a:cubicBezTo>
                <a:cubicBezTo>
                  <a:pt x="656" y="1032"/>
                  <a:pt x="736" y="504"/>
                  <a:pt x="816" y="296"/>
                </a:cubicBezTo>
                <a:cubicBezTo>
                  <a:pt x="896" y="88"/>
                  <a:pt x="960" y="0"/>
                  <a:pt x="1056" y="8"/>
                </a:cubicBezTo>
                <a:cubicBezTo>
                  <a:pt x="1152" y="16"/>
                  <a:pt x="1280" y="16"/>
                  <a:pt x="1392" y="344"/>
                </a:cubicBezTo>
                <a:cubicBezTo>
                  <a:pt x="1504" y="672"/>
                  <a:pt x="1608" y="1656"/>
                  <a:pt x="1728" y="1976"/>
                </a:cubicBezTo>
                <a:cubicBezTo>
                  <a:pt x="1848" y="2296"/>
                  <a:pt x="2000" y="2312"/>
                  <a:pt x="2112" y="2264"/>
                </a:cubicBezTo>
                <a:cubicBezTo>
                  <a:pt x="2224" y="2216"/>
                  <a:pt x="2352" y="1784"/>
                  <a:pt x="2400" y="1688"/>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5141" name="Text Box 37">
            <a:extLst>
              <a:ext uri="{FF2B5EF4-FFF2-40B4-BE49-F238E27FC236}">
                <a16:creationId xmlns:a16="http://schemas.microsoft.com/office/drawing/2014/main" id="{130E3D35-7506-0D13-2BE6-D2E240796328}"/>
              </a:ext>
            </a:extLst>
          </p:cNvPr>
          <p:cNvSpPr txBox="1">
            <a:spLocks noChangeArrowheads="1"/>
          </p:cNvSpPr>
          <p:nvPr/>
        </p:nvSpPr>
        <p:spPr bwMode="auto">
          <a:xfrm>
            <a:off x="4489451" y="2308501"/>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dirty="0">
                <a:cs typeface="Arial" panose="020B0604020202020204" pitchFamily="34" charset="0"/>
              </a:rPr>
              <a:t>‡</a:t>
            </a:r>
          </a:p>
        </p:txBody>
      </p:sp>
      <p:sp>
        <p:nvSpPr>
          <p:cNvPr id="175142" name="Text Box 38">
            <a:extLst>
              <a:ext uri="{FF2B5EF4-FFF2-40B4-BE49-F238E27FC236}">
                <a16:creationId xmlns:a16="http://schemas.microsoft.com/office/drawing/2014/main" id="{6CF42F0D-0523-C602-C835-4D9839076D3B}"/>
              </a:ext>
            </a:extLst>
          </p:cNvPr>
          <p:cNvSpPr txBox="1">
            <a:spLocks noChangeArrowheads="1"/>
          </p:cNvSpPr>
          <p:nvPr/>
        </p:nvSpPr>
        <p:spPr bwMode="auto">
          <a:xfrm>
            <a:off x="2244725" y="4414837"/>
            <a:ext cx="1276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t>propanone</a:t>
            </a:r>
          </a:p>
        </p:txBody>
      </p:sp>
      <p:sp>
        <p:nvSpPr>
          <p:cNvPr id="175143" name="Text Box 39">
            <a:extLst>
              <a:ext uri="{FF2B5EF4-FFF2-40B4-BE49-F238E27FC236}">
                <a16:creationId xmlns:a16="http://schemas.microsoft.com/office/drawing/2014/main" id="{03F3E81F-A5F9-BE25-9154-ADA436C5E4A2}"/>
              </a:ext>
            </a:extLst>
          </p:cNvPr>
          <p:cNvSpPr txBox="1">
            <a:spLocks noChangeArrowheads="1"/>
          </p:cNvSpPr>
          <p:nvPr/>
        </p:nvSpPr>
        <p:spPr bwMode="auto">
          <a:xfrm>
            <a:off x="5197475" y="3836987"/>
            <a:ext cx="1073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t>propenol</a:t>
            </a:r>
          </a:p>
        </p:txBody>
      </p:sp>
      <p:sp>
        <p:nvSpPr>
          <p:cNvPr id="175144" name="AutoShape 40">
            <a:extLst>
              <a:ext uri="{FF2B5EF4-FFF2-40B4-BE49-F238E27FC236}">
                <a16:creationId xmlns:a16="http://schemas.microsoft.com/office/drawing/2014/main" id="{BC757AA7-23DF-9ADA-7959-4E935BEC5647}"/>
              </a:ext>
            </a:extLst>
          </p:cNvPr>
          <p:cNvSpPr>
            <a:spLocks noChangeArrowheads="1"/>
          </p:cNvSpPr>
          <p:nvPr/>
        </p:nvSpPr>
        <p:spPr bwMode="auto">
          <a:xfrm>
            <a:off x="4343400" y="2509836"/>
            <a:ext cx="228600" cy="1981200"/>
          </a:xfrm>
          <a:prstGeom prst="upDownArrow">
            <a:avLst>
              <a:gd name="adj1" fmla="val 50000"/>
              <a:gd name="adj2" fmla="val 17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nodeType="clickEffect">
                                  <p:stCondLst>
                                    <p:cond delay="0"/>
                                  </p:stCondLst>
                                  <p:childTnLst>
                                    <p:set>
                                      <p:cBhvr>
                                        <p:cTn id="6" dur="1" fill="hold">
                                          <p:stCondLst>
                                            <p:cond delay="0"/>
                                          </p:stCondLst>
                                        </p:cTn>
                                        <p:tgtEl>
                                          <p:spTgt spid="175139"/>
                                        </p:tgtEl>
                                        <p:attrNameLst>
                                          <p:attrName>style.visibility</p:attrName>
                                        </p:attrNameLst>
                                      </p:cBhvr>
                                      <p:to>
                                        <p:strVal val="visible"/>
                                      </p:to>
                                    </p:set>
                                    <p:anim from="(-#ppt_w/2)" to="(#ppt_x)" calcmode="lin" valueType="num">
                                      <p:cBhvr>
                                        <p:cTn id="7" dur="600" fill="hold">
                                          <p:stCondLst>
                                            <p:cond delay="0"/>
                                          </p:stCondLst>
                                        </p:cTn>
                                        <p:tgtEl>
                                          <p:spTgt spid="175139"/>
                                        </p:tgtEl>
                                        <p:attrNameLst>
                                          <p:attrName>ppt_x</p:attrName>
                                        </p:attrNameLst>
                                      </p:cBhvr>
                                    </p:anim>
                                    <p:anim from="0" to="-1.0" calcmode="lin" valueType="num">
                                      <p:cBhvr>
                                        <p:cTn id="8" dur="200" decel="50000" autoRev="1" fill="hold">
                                          <p:stCondLst>
                                            <p:cond delay="600"/>
                                          </p:stCondLst>
                                        </p:cTn>
                                        <p:tgtEl>
                                          <p:spTgt spid="175139"/>
                                        </p:tgtEl>
                                        <p:attrNameLst>
                                          <p:attrName>xshear</p:attrName>
                                        </p:attrNameLst>
                                      </p:cBhvr>
                                    </p:anim>
                                    <p:animScale>
                                      <p:cBhvr>
                                        <p:cTn id="9" dur="200" decel="100000" autoRev="1" fill="hold">
                                          <p:stCondLst>
                                            <p:cond delay="600"/>
                                          </p:stCondLst>
                                        </p:cTn>
                                        <p:tgtEl>
                                          <p:spTgt spid="175139"/>
                                        </p:tgtEl>
                                      </p:cBhvr>
                                      <p:from x="100000" y="100000"/>
                                      <p:to x="80000" y="100000"/>
                                    </p:animScale>
                                    <p:anim by="(#ppt_h/3+#ppt_w*0.1)" calcmode="lin" valueType="num">
                                      <p:cBhvr additive="sum">
                                        <p:cTn id="10" dur="200" decel="100000" autoRev="1" fill="hold">
                                          <p:stCondLst>
                                            <p:cond delay="600"/>
                                          </p:stCondLst>
                                        </p:cTn>
                                        <p:tgtEl>
                                          <p:spTgt spid="175139"/>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a:extLst>
              <a:ext uri="{FF2B5EF4-FFF2-40B4-BE49-F238E27FC236}">
                <a16:creationId xmlns:a16="http://schemas.microsoft.com/office/drawing/2014/main" id="{B85FCE65-D457-82F5-288C-5CAAD76796A2}"/>
              </a:ext>
            </a:extLst>
          </p:cNvPr>
          <p:cNvSpPr>
            <a:spLocks noGrp="1" noChangeArrowheads="1"/>
          </p:cNvSpPr>
          <p:nvPr>
            <p:ph type="title"/>
          </p:nvPr>
        </p:nvSpPr>
        <p:spPr/>
        <p:txBody>
          <a:bodyPr>
            <a:normAutofit fontScale="90000"/>
          </a:bodyPr>
          <a:lstStyle/>
          <a:p>
            <a:r>
              <a:rPr lang="en-US" altLang="en-US"/>
              <a:t>Catalysts Open Up New Reaction Pathways</a:t>
            </a:r>
          </a:p>
        </p:txBody>
      </p:sp>
      <p:sp>
        <p:nvSpPr>
          <p:cNvPr id="2" name="Date Placeholder 2">
            <a:extLst>
              <a:ext uri="{FF2B5EF4-FFF2-40B4-BE49-F238E27FC236}">
                <a16:creationId xmlns:a16="http://schemas.microsoft.com/office/drawing/2014/main" id="{AE174D60-BDB1-6302-8A25-7C089DE50F75}"/>
              </a:ext>
            </a:extLst>
          </p:cNvPr>
          <p:cNvSpPr>
            <a:spLocks noGrp="1"/>
          </p:cNvSpPr>
          <p:nvPr>
            <p:ph type="dt" sz="half" idx="10"/>
          </p:nvPr>
        </p:nvSpPr>
        <p:spPr/>
        <p:txBody>
          <a:bodyPr/>
          <a:lstStyle/>
          <a:p>
            <a:r>
              <a:rPr lang="en-US" altLang="en-US"/>
              <a:t>W. F. Schneider</a:t>
            </a:r>
          </a:p>
        </p:txBody>
      </p:sp>
      <p:sp>
        <p:nvSpPr>
          <p:cNvPr id="3" name="Footer Placeholder 3">
            <a:extLst>
              <a:ext uri="{FF2B5EF4-FFF2-40B4-BE49-F238E27FC236}">
                <a16:creationId xmlns:a16="http://schemas.microsoft.com/office/drawing/2014/main" id="{508C260F-4DB2-5E58-40ED-44543CE8B55F}"/>
              </a:ext>
            </a:extLst>
          </p:cNvPr>
          <p:cNvSpPr>
            <a:spLocks noGrp="1"/>
          </p:cNvSpPr>
          <p:nvPr>
            <p:ph type="ftr" sz="quarter" idx="11"/>
          </p:nvPr>
        </p:nvSpPr>
        <p:spPr/>
        <p:txBody>
          <a:bodyPr/>
          <a:lstStyle/>
          <a:p>
            <a:r>
              <a:rPr lang="en-US" altLang="en-US"/>
              <a:t>CBE 60546</a:t>
            </a:r>
          </a:p>
        </p:txBody>
      </p:sp>
      <p:sp>
        <p:nvSpPr>
          <p:cNvPr id="178179" name="Text Box 3">
            <a:extLst>
              <a:ext uri="{FF2B5EF4-FFF2-40B4-BE49-F238E27FC236}">
                <a16:creationId xmlns:a16="http://schemas.microsoft.com/office/drawing/2014/main" id="{8867CECF-0F0A-701E-4442-1A78887001F6}"/>
              </a:ext>
            </a:extLst>
          </p:cNvPr>
          <p:cNvSpPr txBox="1">
            <a:spLocks noChangeArrowheads="1"/>
          </p:cNvSpPr>
          <p:nvPr/>
        </p:nvSpPr>
        <p:spPr bwMode="auto">
          <a:xfrm>
            <a:off x="1258889" y="2620964"/>
            <a:ext cx="51167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CH</a:t>
            </a:r>
            <a:r>
              <a:rPr lang="en-US" altLang="en-US" baseline="-25000"/>
              <a:t>3</a:t>
            </a:r>
          </a:p>
        </p:txBody>
      </p:sp>
      <p:sp>
        <p:nvSpPr>
          <p:cNvPr id="178180" name="Text Box 4">
            <a:extLst>
              <a:ext uri="{FF2B5EF4-FFF2-40B4-BE49-F238E27FC236}">
                <a16:creationId xmlns:a16="http://schemas.microsoft.com/office/drawing/2014/main" id="{FB70CCFF-818A-6705-CE5F-DB25018ACE15}"/>
              </a:ext>
            </a:extLst>
          </p:cNvPr>
          <p:cNvSpPr txBox="1">
            <a:spLocks noChangeArrowheads="1"/>
          </p:cNvSpPr>
          <p:nvPr/>
        </p:nvSpPr>
        <p:spPr bwMode="auto">
          <a:xfrm>
            <a:off x="1717675" y="2349500"/>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C</a:t>
            </a:r>
          </a:p>
        </p:txBody>
      </p:sp>
      <p:sp>
        <p:nvSpPr>
          <p:cNvPr id="178181" name="Text Box 5">
            <a:extLst>
              <a:ext uri="{FF2B5EF4-FFF2-40B4-BE49-F238E27FC236}">
                <a16:creationId xmlns:a16="http://schemas.microsoft.com/office/drawing/2014/main" id="{1BC3BEE3-7426-B8A7-E84B-A250E841A619}"/>
              </a:ext>
            </a:extLst>
          </p:cNvPr>
          <p:cNvSpPr txBox="1">
            <a:spLocks noChangeArrowheads="1"/>
          </p:cNvSpPr>
          <p:nvPr/>
        </p:nvSpPr>
        <p:spPr bwMode="auto">
          <a:xfrm>
            <a:off x="1979004" y="2636939"/>
            <a:ext cx="51167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CH</a:t>
            </a:r>
            <a:r>
              <a:rPr lang="en-US" altLang="en-US" baseline="-25000" dirty="0"/>
              <a:t>3</a:t>
            </a:r>
          </a:p>
        </p:txBody>
      </p:sp>
      <p:sp>
        <p:nvSpPr>
          <p:cNvPr id="178182" name="Line 6">
            <a:extLst>
              <a:ext uri="{FF2B5EF4-FFF2-40B4-BE49-F238E27FC236}">
                <a16:creationId xmlns:a16="http://schemas.microsoft.com/office/drawing/2014/main" id="{C8679701-1FFE-1EB0-690E-157BC8054215}"/>
              </a:ext>
            </a:extLst>
          </p:cNvPr>
          <p:cNvSpPr>
            <a:spLocks noChangeShapeType="1"/>
          </p:cNvSpPr>
          <p:nvPr/>
        </p:nvSpPr>
        <p:spPr bwMode="auto">
          <a:xfrm>
            <a:off x="1849438" y="2193925"/>
            <a:ext cx="0" cy="1857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183" name="Line 7">
            <a:extLst>
              <a:ext uri="{FF2B5EF4-FFF2-40B4-BE49-F238E27FC236}">
                <a16:creationId xmlns:a16="http://schemas.microsoft.com/office/drawing/2014/main" id="{138A88E3-9935-1513-C2D1-D6DFF6AEEC24}"/>
              </a:ext>
            </a:extLst>
          </p:cNvPr>
          <p:cNvSpPr>
            <a:spLocks noChangeShapeType="1"/>
          </p:cNvSpPr>
          <p:nvPr/>
        </p:nvSpPr>
        <p:spPr bwMode="auto">
          <a:xfrm>
            <a:off x="1901825" y="2193925"/>
            <a:ext cx="0" cy="1857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184" name="Line 8">
            <a:extLst>
              <a:ext uri="{FF2B5EF4-FFF2-40B4-BE49-F238E27FC236}">
                <a16:creationId xmlns:a16="http://schemas.microsoft.com/office/drawing/2014/main" id="{C3F892E3-DB5A-B458-9D89-78B84FD62C9D}"/>
              </a:ext>
            </a:extLst>
          </p:cNvPr>
          <p:cNvSpPr>
            <a:spLocks noChangeShapeType="1"/>
          </p:cNvSpPr>
          <p:nvPr/>
        </p:nvSpPr>
        <p:spPr bwMode="auto">
          <a:xfrm flipV="1">
            <a:off x="1649413" y="2590801"/>
            <a:ext cx="131762" cy="746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185" name="Line 9">
            <a:extLst>
              <a:ext uri="{FF2B5EF4-FFF2-40B4-BE49-F238E27FC236}">
                <a16:creationId xmlns:a16="http://schemas.microsoft.com/office/drawing/2014/main" id="{8223B8C8-85A0-296E-D3BE-CECED631FA4F}"/>
              </a:ext>
            </a:extLst>
          </p:cNvPr>
          <p:cNvSpPr>
            <a:spLocks noChangeShapeType="1"/>
          </p:cNvSpPr>
          <p:nvPr/>
        </p:nvSpPr>
        <p:spPr bwMode="auto">
          <a:xfrm flipH="1" flipV="1">
            <a:off x="1954214" y="2590801"/>
            <a:ext cx="123825" cy="619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186" name="Text Box 10">
            <a:extLst>
              <a:ext uri="{FF2B5EF4-FFF2-40B4-BE49-F238E27FC236}">
                <a16:creationId xmlns:a16="http://schemas.microsoft.com/office/drawing/2014/main" id="{A2E68F50-EBD6-C820-207A-44AF39DBEA3F}"/>
              </a:ext>
            </a:extLst>
          </p:cNvPr>
          <p:cNvSpPr txBox="1">
            <a:spLocks noChangeArrowheads="1"/>
          </p:cNvSpPr>
          <p:nvPr/>
        </p:nvSpPr>
        <p:spPr bwMode="auto">
          <a:xfrm>
            <a:off x="1735137" y="1885950"/>
            <a:ext cx="3222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O</a:t>
            </a:r>
          </a:p>
        </p:txBody>
      </p:sp>
      <p:sp>
        <p:nvSpPr>
          <p:cNvPr id="178187" name="Line 11">
            <a:extLst>
              <a:ext uri="{FF2B5EF4-FFF2-40B4-BE49-F238E27FC236}">
                <a16:creationId xmlns:a16="http://schemas.microsoft.com/office/drawing/2014/main" id="{2FE7971E-A6CB-7A5E-A993-D0445A20DFE8}"/>
              </a:ext>
            </a:extLst>
          </p:cNvPr>
          <p:cNvSpPr>
            <a:spLocks noChangeShapeType="1"/>
          </p:cNvSpPr>
          <p:nvPr/>
        </p:nvSpPr>
        <p:spPr bwMode="auto">
          <a:xfrm>
            <a:off x="2590800" y="2419350"/>
            <a:ext cx="403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188" name="Text Box 12">
            <a:extLst>
              <a:ext uri="{FF2B5EF4-FFF2-40B4-BE49-F238E27FC236}">
                <a16:creationId xmlns:a16="http://schemas.microsoft.com/office/drawing/2014/main" id="{130AB491-E761-440C-F078-65C19C3F5E77}"/>
              </a:ext>
            </a:extLst>
          </p:cNvPr>
          <p:cNvSpPr txBox="1">
            <a:spLocks noChangeArrowheads="1"/>
          </p:cNvSpPr>
          <p:nvPr/>
        </p:nvSpPr>
        <p:spPr bwMode="auto">
          <a:xfrm>
            <a:off x="6669089" y="2620964"/>
            <a:ext cx="51167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CH</a:t>
            </a:r>
            <a:r>
              <a:rPr lang="en-US" altLang="en-US" baseline="-25000"/>
              <a:t>2</a:t>
            </a:r>
          </a:p>
        </p:txBody>
      </p:sp>
      <p:sp>
        <p:nvSpPr>
          <p:cNvPr id="178189" name="Text Box 13">
            <a:extLst>
              <a:ext uri="{FF2B5EF4-FFF2-40B4-BE49-F238E27FC236}">
                <a16:creationId xmlns:a16="http://schemas.microsoft.com/office/drawing/2014/main" id="{A29D7C0B-3984-471E-A77F-12E2C9AEDE74}"/>
              </a:ext>
            </a:extLst>
          </p:cNvPr>
          <p:cNvSpPr txBox="1">
            <a:spLocks noChangeArrowheads="1"/>
          </p:cNvSpPr>
          <p:nvPr/>
        </p:nvSpPr>
        <p:spPr bwMode="auto">
          <a:xfrm>
            <a:off x="7127875" y="2349500"/>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C</a:t>
            </a:r>
          </a:p>
        </p:txBody>
      </p:sp>
      <p:sp>
        <p:nvSpPr>
          <p:cNvPr id="178190" name="Text Box 14">
            <a:extLst>
              <a:ext uri="{FF2B5EF4-FFF2-40B4-BE49-F238E27FC236}">
                <a16:creationId xmlns:a16="http://schemas.microsoft.com/office/drawing/2014/main" id="{0CD794A7-DC0E-1208-6371-7A495FB1C4E8}"/>
              </a:ext>
            </a:extLst>
          </p:cNvPr>
          <p:cNvSpPr txBox="1">
            <a:spLocks noChangeArrowheads="1"/>
          </p:cNvSpPr>
          <p:nvPr/>
        </p:nvSpPr>
        <p:spPr bwMode="auto">
          <a:xfrm>
            <a:off x="7419976" y="2627314"/>
            <a:ext cx="51167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CH</a:t>
            </a:r>
            <a:r>
              <a:rPr lang="en-US" altLang="en-US" baseline="-25000"/>
              <a:t>3</a:t>
            </a:r>
          </a:p>
        </p:txBody>
      </p:sp>
      <p:sp>
        <p:nvSpPr>
          <p:cNvPr id="178191" name="Line 15">
            <a:extLst>
              <a:ext uri="{FF2B5EF4-FFF2-40B4-BE49-F238E27FC236}">
                <a16:creationId xmlns:a16="http://schemas.microsoft.com/office/drawing/2014/main" id="{A03BF15F-B227-E35D-380A-3555E9553B70}"/>
              </a:ext>
            </a:extLst>
          </p:cNvPr>
          <p:cNvSpPr>
            <a:spLocks noChangeShapeType="1"/>
          </p:cNvSpPr>
          <p:nvPr/>
        </p:nvSpPr>
        <p:spPr bwMode="auto">
          <a:xfrm>
            <a:off x="7275513" y="2209800"/>
            <a:ext cx="0" cy="1857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192" name="Line 16">
            <a:extLst>
              <a:ext uri="{FF2B5EF4-FFF2-40B4-BE49-F238E27FC236}">
                <a16:creationId xmlns:a16="http://schemas.microsoft.com/office/drawing/2014/main" id="{66DCA6D8-9BEB-6BF4-49A7-0B05538650B3}"/>
              </a:ext>
            </a:extLst>
          </p:cNvPr>
          <p:cNvSpPr>
            <a:spLocks noChangeShapeType="1"/>
          </p:cNvSpPr>
          <p:nvPr/>
        </p:nvSpPr>
        <p:spPr bwMode="auto">
          <a:xfrm flipV="1">
            <a:off x="7059613" y="2590801"/>
            <a:ext cx="131762" cy="746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193" name="Line 17">
            <a:extLst>
              <a:ext uri="{FF2B5EF4-FFF2-40B4-BE49-F238E27FC236}">
                <a16:creationId xmlns:a16="http://schemas.microsoft.com/office/drawing/2014/main" id="{E2DEC332-7013-0051-4F5A-91BB96519708}"/>
              </a:ext>
            </a:extLst>
          </p:cNvPr>
          <p:cNvSpPr>
            <a:spLocks noChangeShapeType="1"/>
          </p:cNvSpPr>
          <p:nvPr/>
        </p:nvSpPr>
        <p:spPr bwMode="auto">
          <a:xfrm flipH="1" flipV="1">
            <a:off x="7364414" y="2590801"/>
            <a:ext cx="123825" cy="619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194" name="Text Box 18">
            <a:extLst>
              <a:ext uri="{FF2B5EF4-FFF2-40B4-BE49-F238E27FC236}">
                <a16:creationId xmlns:a16="http://schemas.microsoft.com/office/drawing/2014/main" id="{DB176156-0EC8-ACB4-AB87-78A7D1102FE8}"/>
              </a:ext>
            </a:extLst>
          </p:cNvPr>
          <p:cNvSpPr txBox="1">
            <a:spLocks noChangeArrowheads="1"/>
          </p:cNvSpPr>
          <p:nvPr/>
        </p:nvSpPr>
        <p:spPr bwMode="auto">
          <a:xfrm>
            <a:off x="7127875" y="1962150"/>
            <a:ext cx="450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OH</a:t>
            </a:r>
          </a:p>
        </p:txBody>
      </p:sp>
      <p:sp>
        <p:nvSpPr>
          <p:cNvPr id="178195" name="Line 19">
            <a:extLst>
              <a:ext uri="{FF2B5EF4-FFF2-40B4-BE49-F238E27FC236}">
                <a16:creationId xmlns:a16="http://schemas.microsoft.com/office/drawing/2014/main" id="{D94FA91C-61DE-A7CE-EDD8-DAE2FCABDC33}"/>
              </a:ext>
            </a:extLst>
          </p:cNvPr>
          <p:cNvSpPr>
            <a:spLocks noChangeShapeType="1"/>
          </p:cNvSpPr>
          <p:nvPr/>
        </p:nvSpPr>
        <p:spPr bwMode="auto">
          <a:xfrm flipV="1">
            <a:off x="7086601" y="2632076"/>
            <a:ext cx="131763" cy="746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208" name="Line 32">
            <a:extLst>
              <a:ext uri="{FF2B5EF4-FFF2-40B4-BE49-F238E27FC236}">
                <a16:creationId xmlns:a16="http://schemas.microsoft.com/office/drawing/2014/main" id="{55B1713F-8B64-E115-D72C-6BD9F49042F7}"/>
              </a:ext>
            </a:extLst>
          </p:cNvPr>
          <p:cNvSpPr>
            <a:spLocks noChangeShapeType="1"/>
          </p:cNvSpPr>
          <p:nvPr/>
        </p:nvSpPr>
        <p:spPr bwMode="auto">
          <a:xfrm flipV="1">
            <a:off x="2209800" y="1276350"/>
            <a:ext cx="12954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209" name="Text Box 33">
            <a:extLst>
              <a:ext uri="{FF2B5EF4-FFF2-40B4-BE49-F238E27FC236}">
                <a16:creationId xmlns:a16="http://schemas.microsoft.com/office/drawing/2014/main" id="{575230C2-7590-9B7B-D737-0BC4D25544E1}"/>
              </a:ext>
            </a:extLst>
          </p:cNvPr>
          <p:cNvSpPr txBox="1">
            <a:spLocks noChangeArrowheads="1"/>
          </p:cNvSpPr>
          <p:nvPr/>
        </p:nvSpPr>
        <p:spPr bwMode="auto">
          <a:xfrm>
            <a:off x="1227138" y="142081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1800"/>
          </a:p>
        </p:txBody>
      </p:sp>
      <p:sp>
        <p:nvSpPr>
          <p:cNvPr id="178210" name="Text Box 34">
            <a:extLst>
              <a:ext uri="{FF2B5EF4-FFF2-40B4-BE49-F238E27FC236}">
                <a16:creationId xmlns:a16="http://schemas.microsoft.com/office/drawing/2014/main" id="{A258881B-075A-FBA3-46C8-F913C0072B1A}"/>
              </a:ext>
            </a:extLst>
          </p:cNvPr>
          <p:cNvSpPr txBox="1">
            <a:spLocks noChangeArrowheads="1"/>
          </p:cNvSpPr>
          <p:nvPr/>
        </p:nvSpPr>
        <p:spPr bwMode="auto">
          <a:xfrm>
            <a:off x="2362201" y="1200151"/>
            <a:ext cx="52450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FF0000"/>
                </a:solidFill>
              </a:rPr>
              <a:t>OH</a:t>
            </a:r>
            <a:r>
              <a:rPr lang="en-US" altLang="en-US" baseline="30000">
                <a:solidFill>
                  <a:srgbClr val="FF0000"/>
                </a:solidFill>
                <a:cs typeface="Arial" panose="020B0604020202020204" pitchFamily="34" charset="0"/>
              </a:rPr>
              <a:t>−</a:t>
            </a:r>
          </a:p>
        </p:txBody>
      </p:sp>
      <p:sp>
        <p:nvSpPr>
          <p:cNvPr id="178219" name="Text Box 43">
            <a:extLst>
              <a:ext uri="{FF2B5EF4-FFF2-40B4-BE49-F238E27FC236}">
                <a16:creationId xmlns:a16="http://schemas.microsoft.com/office/drawing/2014/main" id="{E2C9457E-56BA-63A9-5871-8B0B6997921F}"/>
              </a:ext>
            </a:extLst>
          </p:cNvPr>
          <p:cNvSpPr txBox="1">
            <a:spLocks noChangeArrowheads="1"/>
          </p:cNvSpPr>
          <p:nvPr/>
        </p:nvSpPr>
        <p:spPr bwMode="auto">
          <a:xfrm>
            <a:off x="3524251" y="1020764"/>
            <a:ext cx="51167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CH</a:t>
            </a:r>
            <a:r>
              <a:rPr lang="en-US" altLang="en-US" baseline="-25000"/>
              <a:t>2</a:t>
            </a:r>
          </a:p>
        </p:txBody>
      </p:sp>
      <p:sp>
        <p:nvSpPr>
          <p:cNvPr id="178220" name="Text Box 44">
            <a:extLst>
              <a:ext uri="{FF2B5EF4-FFF2-40B4-BE49-F238E27FC236}">
                <a16:creationId xmlns:a16="http://schemas.microsoft.com/office/drawing/2014/main" id="{091754F3-F089-3FBC-7062-D85A379F874F}"/>
              </a:ext>
            </a:extLst>
          </p:cNvPr>
          <p:cNvSpPr txBox="1">
            <a:spLocks noChangeArrowheads="1"/>
          </p:cNvSpPr>
          <p:nvPr/>
        </p:nvSpPr>
        <p:spPr bwMode="auto">
          <a:xfrm>
            <a:off x="3983039" y="749300"/>
            <a:ext cx="3127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C</a:t>
            </a:r>
          </a:p>
        </p:txBody>
      </p:sp>
      <p:sp>
        <p:nvSpPr>
          <p:cNvPr id="178221" name="Text Box 45">
            <a:extLst>
              <a:ext uri="{FF2B5EF4-FFF2-40B4-BE49-F238E27FC236}">
                <a16:creationId xmlns:a16="http://schemas.microsoft.com/office/drawing/2014/main" id="{AED6C68F-C672-3538-13F1-702F6ED46DCE}"/>
              </a:ext>
            </a:extLst>
          </p:cNvPr>
          <p:cNvSpPr txBox="1">
            <a:spLocks noChangeArrowheads="1"/>
          </p:cNvSpPr>
          <p:nvPr/>
        </p:nvSpPr>
        <p:spPr bwMode="auto">
          <a:xfrm>
            <a:off x="4275139" y="1027114"/>
            <a:ext cx="51167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CH</a:t>
            </a:r>
            <a:r>
              <a:rPr lang="en-US" altLang="en-US" baseline="-25000"/>
              <a:t>3</a:t>
            </a:r>
          </a:p>
        </p:txBody>
      </p:sp>
      <p:sp>
        <p:nvSpPr>
          <p:cNvPr id="178222" name="Line 46">
            <a:extLst>
              <a:ext uri="{FF2B5EF4-FFF2-40B4-BE49-F238E27FC236}">
                <a16:creationId xmlns:a16="http://schemas.microsoft.com/office/drawing/2014/main" id="{4964D607-E1CD-47F3-CE2B-0AF5F3084D64}"/>
              </a:ext>
            </a:extLst>
          </p:cNvPr>
          <p:cNvSpPr>
            <a:spLocks noChangeShapeType="1"/>
          </p:cNvSpPr>
          <p:nvPr/>
        </p:nvSpPr>
        <p:spPr bwMode="auto">
          <a:xfrm>
            <a:off x="4130675" y="609600"/>
            <a:ext cx="0" cy="1857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223" name="Line 47">
            <a:extLst>
              <a:ext uri="{FF2B5EF4-FFF2-40B4-BE49-F238E27FC236}">
                <a16:creationId xmlns:a16="http://schemas.microsoft.com/office/drawing/2014/main" id="{3D2C62A9-8F05-8BBF-09A8-A31D5A56F67B}"/>
              </a:ext>
            </a:extLst>
          </p:cNvPr>
          <p:cNvSpPr>
            <a:spLocks noChangeShapeType="1"/>
          </p:cNvSpPr>
          <p:nvPr/>
        </p:nvSpPr>
        <p:spPr bwMode="auto">
          <a:xfrm flipV="1">
            <a:off x="3914776" y="990601"/>
            <a:ext cx="131763" cy="746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224" name="Line 48">
            <a:extLst>
              <a:ext uri="{FF2B5EF4-FFF2-40B4-BE49-F238E27FC236}">
                <a16:creationId xmlns:a16="http://schemas.microsoft.com/office/drawing/2014/main" id="{D23228EF-D557-011F-0F4B-E9D51B6E3BE8}"/>
              </a:ext>
            </a:extLst>
          </p:cNvPr>
          <p:cNvSpPr>
            <a:spLocks noChangeShapeType="1"/>
          </p:cNvSpPr>
          <p:nvPr/>
        </p:nvSpPr>
        <p:spPr bwMode="auto">
          <a:xfrm flipH="1" flipV="1">
            <a:off x="4219576" y="990601"/>
            <a:ext cx="123825" cy="619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225" name="Text Box 49">
            <a:extLst>
              <a:ext uri="{FF2B5EF4-FFF2-40B4-BE49-F238E27FC236}">
                <a16:creationId xmlns:a16="http://schemas.microsoft.com/office/drawing/2014/main" id="{00B73AB4-E1BA-BBD7-6CAB-04B60B5DD1B6}"/>
              </a:ext>
            </a:extLst>
          </p:cNvPr>
          <p:cNvSpPr txBox="1">
            <a:spLocks noChangeArrowheads="1"/>
          </p:cNvSpPr>
          <p:nvPr/>
        </p:nvSpPr>
        <p:spPr bwMode="auto">
          <a:xfrm>
            <a:off x="3983038" y="361951"/>
            <a:ext cx="39466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O</a:t>
            </a:r>
            <a:r>
              <a:rPr lang="en-US" altLang="en-US" baseline="30000">
                <a:cs typeface="Arial" panose="020B0604020202020204" pitchFamily="34" charset="0"/>
              </a:rPr>
              <a:t>−</a:t>
            </a:r>
          </a:p>
        </p:txBody>
      </p:sp>
      <p:sp>
        <p:nvSpPr>
          <p:cNvPr id="178226" name="Line 50">
            <a:extLst>
              <a:ext uri="{FF2B5EF4-FFF2-40B4-BE49-F238E27FC236}">
                <a16:creationId xmlns:a16="http://schemas.microsoft.com/office/drawing/2014/main" id="{F053665A-3F2D-A47A-3E87-12F4F4F604F4}"/>
              </a:ext>
            </a:extLst>
          </p:cNvPr>
          <p:cNvSpPr>
            <a:spLocks noChangeShapeType="1"/>
          </p:cNvSpPr>
          <p:nvPr/>
        </p:nvSpPr>
        <p:spPr bwMode="auto">
          <a:xfrm flipV="1">
            <a:off x="3941763" y="1031876"/>
            <a:ext cx="131762" cy="746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227" name="Text Box 51">
            <a:extLst>
              <a:ext uri="{FF2B5EF4-FFF2-40B4-BE49-F238E27FC236}">
                <a16:creationId xmlns:a16="http://schemas.microsoft.com/office/drawing/2014/main" id="{BD589D8D-8802-7B58-4AD4-8CDEB7D84BAD}"/>
              </a:ext>
            </a:extLst>
          </p:cNvPr>
          <p:cNvSpPr txBox="1">
            <a:spLocks noChangeArrowheads="1"/>
          </p:cNvSpPr>
          <p:nvPr/>
        </p:nvSpPr>
        <p:spPr bwMode="auto">
          <a:xfrm>
            <a:off x="4514851" y="666751"/>
            <a:ext cx="67518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FF0000"/>
                </a:solidFill>
              </a:rPr>
              <a:t>+ H</a:t>
            </a:r>
            <a:r>
              <a:rPr lang="en-US" altLang="en-US" baseline="-25000">
                <a:solidFill>
                  <a:srgbClr val="FF0000"/>
                </a:solidFill>
              </a:rPr>
              <a:t>2</a:t>
            </a:r>
            <a:r>
              <a:rPr lang="en-US" altLang="en-US">
                <a:solidFill>
                  <a:srgbClr val="FF0000"/>
                </a:solidFill>
                <a:cs typeface="Arial" panose="020B0604020202020204" pitchFamily="34" charset="0"/>
              </a:rPr>
              <a:t>O</a:t>
            </a:r>
          </a:p>
        </p:txBody>
      </p:sp>
      <p:sp>
        <p:nvSpPr>
          <p:cNvPr id="178228" name="Line 52">
            <a:extLst>
              <a:ext uri="{FF2B5EF4-FFF2-40B4-BE49-F238E27FC236}">
                <a16:creationId xmlns:a16="http://schemas.microsoft.com/office/drawing/2014/main" id="{F093AFF3-176E-01C4-7904-73DC8BCEA207}"/>
              </a:ext>
            </a:extLst>
          </p:cNvPr>
          <p:cNvSpPr>
            <a:spLocks noChangeShapeType="1"/>
          </p:cNvSpPr>
          <p:nvPr/>
        </p:nvSpPr>
        <p:spPr bwMode="auto">
          <a:xfrm>
            <a:off x="4953000" y="1276350"/>
            <a:ext cx="1600200" cy="914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229" name="Text Box 53">
            <a:extLst>
              <a:ext uri="{FF2B5EF4-FFF2-40B4-BE49-F238E27FC236}">
                <a16:creationId xmlns:a16="http://schemas.microsoft.com/office/drawing/2014/main" id="{05F9BCBD-FB17-8ED8-8116-EB3383BA62DF}"/>
              </a:ext>
            </a:extLst>
          </p:cNvPr>
          <p:cNvSpPr txBox="1">
            <a:spLocks noChangeArrowheads="1"/>
          </p:cNvSpPr>
          <p:nvPr/>
        </p:nvSpPr>
        <p:spPr bwMode="auto">
          <a:xfrm>
            <a:off x="5486400" y="1200151"/>
            <a:ext cx="6286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FF0000"/>
                </a:solidFill>
                <a:cs typeface="Arial" panose="020B0604020202020204" pitchFamily="34" charset="0"/>
              </a:rPr>
              <a:t>−</a:t>
            </a:r>
            <a:r>
              <a:rPr lang="en-US" altLang="en-US">
                <a:solidFill>
                  <a:srgbClr val="FF0000"/>
                </a:solidFill>
              </a:rPr>
              <a:t>OH</a:t>
            </a:r>
            <a:r>
              <a:rPr lang="en-US" altLang="en-US" baseline="30000">
                <a:solidFill>
                  <a:srgbClr val="FF0000"/>
                </a:solidFill>
                <a:cs typeface="Arial" panose="020B0604020202020204" pitchFamily="34" charset="0"/>
              </a:rPr>
              <a:t>−</a:t>
            </a:r>
          </a:p>
        </p:txBody>
      </p:sp>
      <p:sp>
        <p:nvSpPr>
          <p:cNvPr id="178230" name="Arc 54">
            <a:extLst>
              <a:ext uri="{FF2B5EF4-FFF2-40B4-BE49-F238E27FC236}">
                <a16:creationId xmlns:a16="http://schemas.microsoft.com/office/drawing/2014/main" id="{144D43E0-875B-8857-875C-516FAC7084C6}"/>
              </a:ext>
            </a:extLst>
          </p:cNvPr>
          <p:cNvSpPr>
            <a:spLocks/>
          </p:cNvSpPr>
          <p:nvPr/>
        </p:nvSpPr>
        <p:spPr bwMode="auto">
          <a:xfrm rot="10800000" flipH="1" flipV="1">
            <a:off x="4419600" y="514350"/>
            <a:ext cx="381000" cy="1524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9525">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8231" name="Text Box 55">
            <a:extLst>
              <a:ext uri="{FF2B5EF4-FFF2-40B4-BE49-F238E27FC236}">
                <a16:creationId xmlns:a16="http://schemas.microsoft.com/office/drawing/2014/main" id="{FD749A86-BE7E-12AD-6B4F-1D0B39C746E4}"/>
              </a:ext>
            </a:extLst>
          </p:cNvPr>
          <p:cNvSpPr txBox="1">
            <a:spLocks noChangeArrowheads="1"/>
          </p:cNvSpPr>
          <p:nvPr/>
        </p:nvSpPr>
        <p:spPr bwMode="auto">
          <a:xfrm>
            <a:off x="3565526" y="1733550"/>
            <a:ext cx="13874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i="1">
                <a:solidFill>
                  <a:srgbClr val="FF0000"/>
                </a:solidFill>
              </a:rPr>
              <a:t>Base catalyzed</a:t>
            </a:r>
          </a:p>
        </p:txBody>
      </p:sp>
      <p:sp>
        <p:nvSpPr>
          <p:cNvPr id="178234" name="Freeform 58">
            <a:extLst>
              <a:ext uri="{FF2B5EF4-FFF2-40B4-BE49-F238E27FC236}">
                <a16:creationId xmlns:a16="http://schemas.microsoft.com/office/drawing/2014/main" id="{B35DF44E-F93B-84FD-2FAF-5D206693D33F}"/>
              </a:ext>
            </a:extLst>
          </p:cNvPr>
          <p:cNvSpPr>
            <a:spLocks/>
          </p:cNvSpPr>
          <p:nvPr/>
        </p:nvSpPr>
        <p:spPr bwMode="auto">
          <a:xfrm>
            <a:off x="1828800" y="2800349"/>
            <a:ext cx="4953000" cy="1600200"/>
          </a:xfrm>
          <a:custGeom>
            <a:avLst/>
            <a:gdLst>
              <a:gd name="T0" fmla="*/ 0 w 2688"/>
              <a:gd name="T1" fmla="*/ 624 h 1008"/>
              <a:gd name="T2" fmla="*/ 96 w 2688"/>
              <a:gd name="T3" fmla="*/ 912 h 1008"/>
              <a:gd name="T4" fmla="*/ 240 w 2688"/>
              <a:gd name="T5" fmla="*/ 1008 h 1008"/>
              <a:gd name="T6" fmla="*/ 384 w 2688"/>
              <a:gd name="T7" fmla="*/ 912 h 1008"/>
              <a:gd name="T8" fmla="*/ 528 w 2688"/>
              <a:gd name="T9" fmla="*/ 528 h 1008"/>
              <a:gd name="T10" fmla="*/ 624 w 2688"/>
              <a:gd name="T11" fmla="*/ 192 h 1008"/>
              <a:gd name="T12" fmla="*/ 768 w 2688"/>
              <a:gd name="T13" fmla="*/ 48 h 1008"/>
              <a:gd name="T14" fmla="*/ 960 w 2688"/>
              <a:gd name="T15" fmla="*/ 144 h 1008"/>
              <a:gd name="T16" fmla="*/ 1104 w 2688"/>
              <a:gd name="T17" fmla="*/ 480 h 1008"/>
              <a:gd name="T18" fmla="*/ 1200 w 2688"/>
              <a:gd name="T19" fmla="*/ 768 h 1008"/>
              <a:gd name="T20" fmla="*/ 1344 w 2688"/>
              <a:gd name="T21" fmla="*/ 816 h 1008"/>
              <a:gd name="T22" fmla="*/ 1488 w 2688"/>
              <a:gd name="T23" fmla="*/ 624 h 1008"/>
              <a:gd name="T24" fmla="*/ 1584 w 2688"/>
              <a:gd name="T25" fmla="*/ 240 h 1008"/>
              <a:gd name="T26" fmla="*/ 1680 w 2688"/>
              <a:gd name="T27" fmla="*/ 48 h 1008"/>
              <a:gd name="T28" fmla="*/ 1872 w 2688"/>
              <a:gd name="T29" fmla="*/ 48 h 1008"/>
              <a:gd name="T30" fmla="*/ 2064 w 2688"/>
              <a:gd name="T31" fmla="*/ 336 h 1008"/>
              <a:gd name="T32" fmla="*/ 2256 w 2688"/>
              <a:gd name="T33" fmla="*/ 576 h 1008"/>
              <a:gd name="T34" fmla="*/ 2496 w 2688"/>
              <a:gd name="T35" fmla="*/ 624 h 1008"/>
              <a:gd name="T36" fmla="*/ 2688 w 2688"/>
              <a:gd name="T37" fmla="*/ 336 h 10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88" h="1008">
                <a:moveTo>
                  <a:pt x="0" y="624"/>
                </a:moveTo>
                <a:cubicBezTo>
                  <a:pt x="28" y="736"/>
                  <a:pt x="56" y="848"/>
                  <a:pt x="96" y="912"/>
                </a:cubicBezTo>
                <a:cubicBezTo>
                  <a:pt x="136" y="976"/>
                  <a:pt x="192" y="1008"/>
                  <a:pt x="240" y="1008"/>
                </a:cubicBezTo>
                <a:cubicBezTo>
                  <a:pt x="288" y="1008"/>
                  <a:pt x="336" y="992"/>
                  <a:pt x="384" y="912"/>
                </a:cubicBezTo>
                <a:cubicBezTo>
                  <a:pt x="432" y="832"/>
                  <a:pt x="488" y="648"/>
                  <a:pt x="528" y="528"/>
                </a:cubicBezTo>
                <a:cubicBezTo>
                  <a:pt x="568" y="408"/>
                  <a:pt x="584" y="272"/>
                  <a:pt x="624" y="192"/>
                </a:cubicBezTo>
                <a:cubicBezTo>
                  <a:pt x="664" y="112"/>
                  <a:pt x="712" y="56"/>
                  <a:pt x="768" y="48"/>
                </a:cubicBezTo>
                <a:cubicBezTo>
                  <a:pt x="824" y="40"/>
                  <a:pt x="904" y="72"/>
                  <a:pt x="960" y="144"/>
                </a:cubicBezTo>
                <a:cubicBezTo>
                  <a:pt x="1016" y="216"/>
                  <a:pt x="1064" y="376"/>
                  <a:pt x="1104" y="480"/>
                </a:cubicBezTo>
                <a:cubicBezTo>
                  <a:pt x="1144" y="584"/>
                  <a:pt x="1160" y="712"/>
                  <a:pt x="1200" y="768"/>
                </a:cubicBezTo>
                <a:cubicBezTo>
                  <a:pt x="1240" y="824"/>
                  <a:pt x="1296" y="840"/>
                  <a:pt x="1344" y="816"/>
                </a:cubicBezTo>
                <a:cubicBezTo>
                  <a:pt x="1392" y="792"/>
                  <a:pt x="1448" y="720"/>
                  <a:pt x="1488" y="624"/>
                </a:cubicBezTo>
                <a:cubicBezTo>
                  <a:pt x="1528" y="528"/>
                  <a:pt x="1552" y="336"/>
                  <a:pt x="1584" y="240"/>
                </a:cubicBezTo>
                <a:cubicBezTo>
                  <a:pt x="1616" y="144"/>
                  <a:pt x="1632" y="80"/>
                  <a:pt x="1680" y="48"/>
                </a:cubicBezTo>
                <a:cubicBezTo>
                  <a:pt x="1728" y="16"/>
                  <a:pt x="1808" y="0"/>
                  <a:pt x="1872" y="48"/>
                </a:cubicBezTo>
                <a:cubicBezTo>
                  <a:pt x="1936" y="96"/>
                  <a:pt x="2000" y="248"/>
                  <a:pt x="2064" y="336"/>
                </a:cubicBezTo>
                <a:cubicBezTo>
                  <a:pt x="2128" y="424"/>
                  <a:pt x="2184" y="528"/>
                  <a:pt x="2256" y="576"/>
                </a:cubicBezTo>
                <a:cubicBezTo>
                  <a:pt x="2328" y="624"/>
                  <a:pt x="2424" y="664"/>
                  <a:pt x="2496" y="624"/>
                </a:cubicBezTo>
                <a:cubicBezTo>
                  <a:pt x="2568" y="584"/>
                  <a:pt x="2628" y="460"/>
                  <a:pt x="2688" y="336"/>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235" name="Text Box 59">
            <a:extLst>
              <a:ext uri="{FF2B5EF4-FFF2-40B4-BE49-F238E27FC236}">
                <a16:creationId xmlns:a16="http://schemas.microsoft.com/office/drawing/2014/main" id="{D3E4572C-0EA4-E677-C065-E159F1647290}"/>
              </a:ext>
            </a:extLst>
          </p:cNvPr>
          <p:cNvSpPr txBox="1">
            <a:spLocks noChangeArrowheads="1"/>
          </p:cNvSpPr>
          <p:nvPr/>
        </p:nvSpPr>
        <p:spPr bwMode="auto">
          <a:xfrm>
            <a:off x="1752600" y="4324349"/>
            <a:ext cx="10302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propanone</a:t>
            </a:r>
          </a:p>
        </p:txBody>
      </p:sp>
      <p:sp>
        <p:nvSpPr>
          <p:cNvPr id="178236" name="Text Box 60">
            <a:extLst>
              <a:ext uri="{FF2B5EF4-FFF2-40B4-BE49-F238E27FC236}">
                <a16:creationId xmlns:a16="http://schemas.microsoft.com/office/drawing/2014/main" id="{17C2F198-8F70-C835-3DA2-FCBCE8B07FA3}"/>
              </a:ext>
            </a:extLst>
          </p:cNvPr>
          <p:cNvSpPr txBox="1">
            <a:spLocks noChangeArrowheads="1"/>
          </p:cNvSpPr>
          <p:nvPr/>
        </p:nvSpPr>
        <p:spPr bwMode="auto">
          <a:xfrm>
            <a:off x="5927726" y="3733799"/>
            <a:ext cx="8731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propenol</a:t>
            </a:r>
          </a:p>
        </p:txBody>
      </p:sp>
      <p:sp>
        <p:nvSpPr>
          <p:cNvPr id="178237" name="Text Box 61">
            <a:extLst>
              <a:ext uri="{FF2B5EF4-FFF2-40B4-BE49-F238E27FC236}">
                <a16:creationId xmlns:a16="http://schemas.microsoft.com/office/drawing/2014/main" id="{68E42AB4-3A55-9827-407A-946E12BB375A}"/>
              </a:ext>
            </a:extLst>
          </p:cNvPr>
          <p:cNvSpPr txBox="1">
            <a:spLocks noChangeArrowheads="1"/>
          </p:cNvSpPr>
          <p:nvPr/>
        </p:nvSpPr>
        <p:spPr bwMode="auto">
          <a:xfrm>
            <a:off x="3709989" y="4638675"/>
            <a:ext cx="11588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i="1">
                <a:solidFill>
                  <a:srgbClr val="FF0000"/>
                </a:solidFill>
              </a:rPr>
              <a:t>intermediate</a:t>
            </a:r>
          </a:p>
        </p:txBody>
      </p:sp>
      <p:sp>
        <p:nvSpPr>
          <p:cNvPr id="178238" name="Text Box 62">
            <a:extLst>
              <a:ext uri="{FF2B5EF4-FFF2-40B4-BE49-F238E27FC236}">
                <a16:creationId xmlns:a16="http://schemas.microsoft.com/office/drawing/2014/main" id="{060ADD43-FEE4-F9A8-702D-822FF800FE80}"/>
              </a:ext>
            </a:extLst>
          </p:cNvPr>
          <p:cNvSpPr txBox="1">
            <a:spLocks noChangeArrowheads="1"/>
          </p:cNvSpPr>
          <p:nvPr/>
        </p:nvSpPr>
        <p:spPr bwMode="auto">
          <a:xfrm>
            <a:off x="3124200" y="2495550"/>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dirty="0">
                <a:cs typeface="Arial" panose="020B0604020202020204" pitchFamily="34" charset="0"/>
              </a:rPr>
              <a:t>‡</a:t>
            </a:r>
          </a:p>
        </p:txBody>
      </p:sp>
      <p:sp>
        <p:nvSpPr>
          <p:cNvPr id="178239" name="Text Box 63">
            <a:extLst>
              <a:ext uri="{FF2B5EF4-FFF2-40B4-BE49-F238E27FC236}">
                <a16:creationId xmlns:a16="http://schemas.microsoft.com/office/drawing/2014/main" id="{C5C6878B-4159-24C9-0B76-ADA2AA76E27D}"/>
              </a:ext>
            </a:extLst>
          </p:cNvPr>
          <p:cNvSpPr txBox="1">
            <a:spLocks noChangeArrowheads="1"/>
          </p:cNvSpPr>
          <p:nvPr/>
        </p:nvSpPr>
        <p:spPr bwMode="auto">
          <a:xfrm>
            <a:off x="4953000" y="2495550"/>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cs typeface="Arial" panose="020B0604020202020204" pitchFamily="34" charset="0"/>
              </a:rPr>
              <a:t>‡</a:t>
            </a:r>
          </a:p>
        </p:txBody>
      </p:sp>
      <p:sp>
        <p:nvSpPr>
          <p:cNvPr id="178240" name="Text Box 64">
            <a:extLst>
              <a:ext uri="{FF2B5EF4-FFF2-40B4-BE49-F238E27FC236}">
                <a16:creationId xmlns:a16="http://schemas.microsoft.com/office/drawing/2014/main" id="{8982AF50-274C-F8FC-832C-269C795BA31F}"/>
              </a:ext>
            </a:extLst>
          </p:cNvPr>
          <p:cNvSpPr txBox="1">
            <a:spLocks noChangeArrowheads="1"/>
          </p:cNvSpPr>
          <p:nvPr/>
        </p:nvSpPr>
        <p:spPr bwMode="auto">
          <a:xfrm>
            <a:off x="3336926" y="2114551"/>
            <a:ext cx="196079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i="1"/>
              <a:t>rate</a:t>
            </a:r>
            <a:r>
              <a:rPr lang="en-US" altLang="en-US"/>
              <a:t> = </a:t>
            </a:r>
            <a:r>
              <a:rPr lang="en-US" altLang="en-US" i="1"/>
              <a:t>k</a:t>
            </a:r>
            <a:r>
              <a:rPr lang="en-US" altLang="en-US"/>
              <a:t>[OH</a:t>
            </a:r>
            <a:r>
              <a:rPr lang="en-US" altLang="en-US" baseline="30000">
                <a:cs typeface="Arial" panose="020B0604020202020204" pitchFamily="34" charset="0"/>
              </a:rPr>
              <a:t>−</a:t>
            </a:r>
            <a:r>
              <a:rPr lang="en-US" altLang="en-US">
                <a:cs typeface="Arial" panose="020B0604020202020204" pitchFamily="34" charset="0"/>
              </a:rPr>
              <a:t>][acetone]</a:t>
            </a:r>
          </a:p>
        </p:txBody>
      </p:sp>
      <p:sp>
        <p:nvSpPr>
          <p:cNvPr id="178241" name="AutoShape 65">
            <a:extLst>
              <a:ext uri="{FF2B5EF4-FFF2-40B4-BE49-F238E27FC236}">
                <a16:creationId xmlns:a16="http://schemas.microsoft.com/office/drawing/2014/main" id="{202A7104-6F88-4AA2-B52E-B40514BBD1C3}"/>
              </a:ext>
            </a:extLst>
          </p:cNvPr>
          <p:cNvSpPr>
            <a:spLocks noChangeArrowheads="1"/>
          </p:cNvSpPr>
          <p:nvPr/>
        </p:nvSpPr>
        <p:spPr bwMode="auto">
          <a:xfrm>
            <a:off x="3200400" y="2914649"/>
            <a:ext cx="152400" cy="1524000"/>
          </a:xfrm>
          <a:prstGeom prst="upDownArrow">
            <a:avLst>
              <a:gd name="adj1" fmla="val 50000"/>
              <a:gd name="adj2" fmla="val 20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178242" name="AutoShape 66">
            <a:extLst>
              <a:ext uri="{FF2B5EF4-FFF2-40B4-BE49-F238E27FC236}">
                <a16:creationId xmlns:a16="http://schemas.microsoft.com/office/drawing/2014/main" id="{855498CF-BFDA-0EC1-1873-D2AF0577A56C}"/>
              </a:ext>
            </a:extLst>
          </p:cNvPr>
          <p:cNvSpPr>
            <a:spLocks noChangeArrowheads="1"/>
          </p:cNvSpPr>
          <p:nvPr/>
        </p:nvSpPr>
        <p:spPr bwMode="auto">
          <a:xfrm>
            <a:off x="5029200" y="2876549"/>
            <a:ext cx="152400" cy="1219200"/>
          </a:xfrm>
          <a:prstGeom prst="upDownArrow">
            <a:avLst>
              <a:gd name="adj1" fmla="val 50000"/>
              <a:gd name="adj2" fmla="val 16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a:extLst>
              <a:ext uri="{FF2B5EF4-FFF2-40B4-BE49-F238E27FC236}">
                <a16:creationId xmlns:a16="http://schemas.microsoft.com/office/drawing/2014/main" id="{BA858346-26BF-748E-F44C-65990D3D7B65}"/>
              </a:ext>
            </a:extLst>
          </p:cNvPr>
          <p:cNvSpPr>
            <a:spLocks noGrp="1" noChangeArrowheads="1"/>
          </p:cNvSpPr>
          <p:nvPr>
            <p:ph type="title"/>
          </p:nvPr>
        </p:nvSpPr>
        <p:spPr/>
        <p:txBody>
          <a:bodyPr>
            <a:normAutofit fontScale="90000"/>
          </a:bodyPr>
          <a:lstStyle/>
          <a:p>
            <a:r>
              <a:rPr lang="en-US" altLang="en-US"/>
              <a:t>Catalysts Open Up New Reaction Pathways</a:t>
            </a:r>
          </a:p>
        </p:txBody>
      </p:sp>
      <p:sp>
        <p:nvSpPr>
          <p:cNvPr id="2" name="Date Placeholder 2">
            <a:extLst>
              <a:ext uri="{FF2B5EF4-FFF2-40B4-BE49-F238E27FC236}">
                <a16:creationId xmlns:a16="http://schemas.microsoft.com/office/drawing/2014/main" id="{950FD990-77A1-B350-1271-883036EE77B5}"/>
              </a:ext>
            </a:extLst>
          </p:cNvPr>
          <p:cNvSpPr>
            <a:spLocks noGrp="1"/>
          </p:cNvSpPr>
          <p:nvPr>
            <p:ph type="dt" sz="half" idx="10"/>
          </p:nvPr>
        </p:nvSpPr>
        <p:spPr/>
        <p:txBody>
          <a:bodyPr/>
          <a:lstStyle/>
          <a:p>
            <a:r>
              <a:rPr lang="en-US" altLang="en-US">
                <a:latin typeface="Corbel" panose="020B0503020204020204" pitchFamily="34" charset="0"/>
              </a:rPr>
              <a:t>W. F. Schneider</a:t>
            </a:r>
          </a:p>
        </p:txBody>
      </p:sp>
      <p:sp>
        <p:nvSpPr>
          <p:cNvPr id="3" name="Footer Placeholder 3">
            <a:extLst>
              <a:ext uri="{FF2B5EF4-FFF2-40B4-BE49-F238E27FC236}">
                <a16:creationId xmlns:a16="http://schemas.microsoft.com/office/drawing/2014/main" id="{5D34A367-4C4E-6F70-20D2-D8C975279492}"/>
              </a:ext>
            </a:extLst>
          </p:cNvPr>
          <p:cNvSpPr>
            <a:spLocks noGrp="1"/>
          </p:cNvSpPr>
          <p:nvPr>
            <p:ph type="ftr" sz="quarter" idx="11"/>
          </p:nvPr>
        </p:nvSpPr>
        <p:spPr/>
        <p:txBody>
          <a:bodyPr/>
          <a:lstStyle/>
          <a:p>
            <a:r>
              <a:rPr lang="en-US" altLang="en-US">
                <a:latin typeface="Corbel" panose="020B0503020204020204" pitchFamily="34" charset="0"/>
              </a:rPr>
              <a:t>CBE 60546</a:t>
            </a:r>
          </a:p>
        </p:txBody>
      </p:sp>
      <p:sp>
        <p:nvSpPr>
          <p:cNvPr id="179203" name="Text Box 3">
            <a:extLst>
              <a:ext uri="{FF2B5EF4-FFF2-40B4-BE49-F238E27FC236}">
                <a16:creationId xmlns:a16="http://schemas.microsoft.com/office/drawing/2014/main" id="{1AC0C6DD-4DD3-F1FB-8D8C-39A73CA8DB5D}"/>
              </a:ext>
            </a:extLst>
          </p:cNvPr>
          <p:cNvSpPr txBox="1">
            <a:spLocks noChangeArrowheads="1"/>
          </p:cNvSpPr>
          <p:nvPr/>
        </p:nvSpPr>
        <p:spPr bwMode="auto">
          <a:xfrm>
            <a:off x="1258889" y="2925764"/>
            <a:ext cx="54534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rbel" panose="020B0503020204020204" pitchFamily="34" charset="0"/>
              </a:rPr>
              <a:t>CH</a:t>
            </a:r>
            <a:r>
              <a:rPr lang="en-US" altLang="en-US" baseline="-25000">
                <a:latin typeface="Corbel" panose="020B0503020204020204" pitchFamily="34" charset="0"/>
              </a:rPr>
              <a:t>3</a:t>
            </a:r>
          </a:p>
        </p:txBody>
      </p:sp>
      <p:sp>
        <p:nvSpPr>
          <p:cNvPr id="179204" name="Text Box 4">
            <a:extLst>
              <a:ext uri="{FF2B5EF4-FFF2-40B4-BE49-F238E27FC236}">
                <a16:creationId xmlns:a16="http://schemas.microsoft.com/office/drawing/2014/main" id="{6A2D0860-E230-782E-1D4A-792A7A7972FA}"/>
              </a:ext>
            </a:extLst>
          </p:cNvPr>
          <p:cNvSpPr txBox="1">
            <a:spLocks noChangeArrowheads="1"/>
          </p:cNvSpPr>
          <p:nvPr/>
        </p:nvSpPr>
        <p:spPr bwMode="auto">
          <a:xfrm>
            <a:off x="1717675" y="2654300"/>
            <a:ext cx="3209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rbel" panose="020B0503020204020204" pitchFamily="34" charset="0"/>
              </a:rPr>
              <a:t>C</a:t>
            </a:r>
          </a:p>
        </p:txBody>
      </p:sp>
      <p:sp>
        <p:nvSpPr>
          <p:cNvPr id="179205" name="Text Box 5">
            <a:extLst>
              <a:ext uri="{FF2B5EF4-FFF2-40B4-BE49-F238E27FC236}">
                <a16:creationId xmlns:a16="http://schemas.microsoft.com/office/drawing/2014/main" id="{99193F93-90B7-BAC1-39E9-4639A1FF4CE2}"/>
              </a:ext>
            </a:extLst>
          </p:cNvPr>
          <p:cNvSpPr txBox="1">
            <a:spLocks noChangeArrowheads="1"/>
          </p:cNvSpPr>
          <p:nvPr/>
        </p:nvSpPr>
        <p:spPr bwMode="auto">
          <a:xfrm>
            <a:off x="2009776" y="2932114"/>
            <a:ext cx="54534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rbel" panose="020B0503020204020204" pitchFamily="34" charset="0"/>
              </a:rPr>
              <a:t>CH</a:t>
            </a:r>
            <a:r>
              <a:rPr lang="en-US" altLang="en-US" baseline="-25000">
                <a:latin typeface="Corbel" panose="020B0503020204020204" pitchFamily="34" charset="0"/>
              </a:rPr>
              <a:t>3</a:t>
            </a:r>
          </a:p>
        </p:txBody>
      </p:sp>
      <p:sp>
        <p:nvSpPr>
          <p:cNvPr id="179206" name="Line 6">
            <a:extLst>
              <a:ext uri="{FF2B5EF4-FFF2-40B4-BE49-F238E27FC236}">
                <a16:creationId xmlns:a16="http://schemas.microsoft.com/office/drawing/2014/main" id="{B4BC1676-7043-7976-9BA8-6CA34A7EF472}"/>
              </a:ext>
            </a:extLst>
          </p:cNvPr>
          <p:cNvSpPr>
            <a:spLocks noChangeShapeType="1"/>
          </p:cNvSpPr>
          <p:nvPr/>
        </p:nvSpPr>
        <p:spPr bwMode="auto">
          <a:xfrm>
            <a:off x="1849438" y="2498725"/>
            <a:ext cx="0" cy="1857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orbel" panose="020B0503020204020204" pitchFamily="34" charset="0"/>
            </a:endParaRPr>
          </a:p>
        </p:txBody>
      </p:sp>
      <p:sp>
        <p:nvSpPr>
          <p:cNvPr id="179207" name="Line 7">
            <a:extLst>
              <a:ext uri="{FF2B5EF4-FFF2-40B4-BE49-F238E27FC236}">
                <a16:creationId xmlns:a16="http://schemas.microsoft.com/office/drawing/2014/main" id="{E1E616B3-E0CE-1CA6-1C4A-826E85083E7C}"/>
              </a:ext>
            </a:extLst>
          </p:cNvPr>
          <p:cNvSpPr>
            <a:spLocks noChangeShapeType="1"/>
          </p:cNvSpPr>
          <p:nvPr/>
        </p:nvSpPr>
        <p:spPr bwMode="auto">
          <a:xfrm>
            <a:off x="1901825" y="2498725"/>
            <a:ext cx="0" cy="1857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orbel" panose="020B0503020204020204" pitchFamily="34" charset="0"/>
            </a:endParaRPr>
          </a:p>
        </p:txBody>
      </p:sp>
      <p:sp>
        <p:nvSpPr>
          <p:cNvPr id="179208" name="Line 8">
            <a:extLst>
              <a:ext uri="{FF2B5EF4-FFF2-40B4-BE49-F238E27FC236}">
                <a16:creationId xmlns:a16="http://schemas.microsoft.com/office/drawing/2014/main" id="{7473DAD8-116F-8B5D-4E9E-604F59CF0F10}"/>
              </a:ext>
            </a:extLst>
          </p:cNvPr>
          <p:cNvSpPr>
            <a:spLocks noChangeShapeType="1"/>
          </p:cNvSpPr>
          <p:nvPr/>
        </p:nvSpPr>
        <p:spPr bwMode="auto">
          <a:xfrm flipV="1">
            <a:off x="1649413" y="2895601"/>
            <a:ext cx="131762" cy="746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orbel" panose="020B0503020204020204" pitchFamily="34" charset="0"/>
            </a:endParaRPr>
          </a:p>
        </p:txBody>
      </p:sp>
      <p:sp>
        <p:nvSpPr>
          <p:cNvPr id="179209" name="Line 9">
            <a:extLst>
              <a:ext uri="{FF2B5EF4-FFF2-40B4-BE49-F238E27FC236}">
                <a16:creationId xmlns:a16="http://schemas.microsoft.com/office/drawing/2014/main" id="{4A08038A-CC0D-FD72-1C8F-7A46BE8409CB}"/>
              </a:ext>
            </a:extLst>
          </p:cNvPr>
          <p:cNvSpPr>
            <a:spLocks noChangeShapeType="1"/>
          </p:cNvSpPr>
          <p:nvPr/>
        </p:nvSpPr>
        <p:spPr bwMode="auto">
          <a:xfrm flipH="1" flipV="1">
            <a:off x="1954214" y="2895601"/>
            <a:ext cx="123825" cy="619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orbel" panose="020B0503020204020204" pitchFamily="34" charset="0"/>
            </a:endParaRPr>
          </a:p>
        </p:txBody>
      </p:sp>
      <p:sp>
        <p:nvSpPr>
          <p:cNvPr id="179210" name="Text Box 10">
            <a:extLst>
              <a:ext uri="{FF2B5EF4-FFF2-40B4-BE49-F238E27FC236}">
                <a16:creationId xmlns:a16="http://schemas.microsoft.com/office/drawing/2014/main" id="{957CC546-9C28-EC38-B886-F9FD5C92931F}"/>
              </a:ext>
            </a:extLst>
          </p:cNvPr>
          <p:cNvSpPr txBox="1">
            <a:spLocks noChangeArrowheads="1"/>
          </p:cNvSpPr>
          <p:nvPr/>
        </p:nvSpPr>
        <p:spPr bwMode="auto">
          <a:xfrm>
            <a:off x="1717676" y="2266950"/>
            <a:ext cx="35298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rbel" panose="020B0503020204020204" pitchFamily="34" charset="0"/>
              </a:rPr>
              <a:t>O</a:t>
            </a:r>
          </a:p>
        </p:txBody>
      </p:sp>
      <p:sp>
        <p:nvSpPr>
          <p:cNvPr id="179211" name="Line 11">
            <a:extLst>
              <a:ext uri="{FF2B5EF4-FFF2-40B4-BE49-F238E27FC236}">
                <a16:creationId xmlns:a16="http://schemas.microsoft.com/office/drawing/2014/main" id="{487C1658-DAE9-88F8-44D5-DC39D0EB26E7}"/>
              </a:ext>
            </a:extLst>
          </p:cNvPr>
          <p:cNvSpPr>
            <a:spLocks noChangeShapeType="1"/>
          </p:cNvSpPr>
          <p:nvPr/>
        </p:nvSpPr>
        <p:spPr bwMode="auto">
          <a:xfrm>
            <a:off x="2590800" y="2724150"/>
            <a:ext cx="403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orbel" panose="020B0503020204020204" pitchFamily="34" charset="0"/>
            </a:endParaRPr>
          </a:p>
        </p:txBody>
      </p:sp>
      <p:sp>
        <p:nvSpPr>
          <p:cNvPr id="179212" name="Text Box 12">
            <a:extLst>
              <a:ext uri="{FF2B5EF4-FFF2-40B4-BE49-F238E27FC236}">
                <a16:creationId xmlns:a16="http://schemas.microsoft.com/office/drawing/2014/main" id="{96F1EEFB-298A-F9DA-DDF6-51E465958F96}"/>
              </a:ext>
            </a:extLst>
          </p:cNvPr>
          <p:cNvSpPr txBox="1">
            <a:spLocks noChangeArrowheads="1"/>
          </p:cNvSpPr>
          <p:nvPr/>
        </p:nvSpPr>
        <p:spPr bwMode="auto">
          <a:xfrm>
            <a:off x="6669089" y="2925764"/>
            <a:ext cx="55335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rbel" panose="020B0503020204020204" pitchFamily="34" charset="0"/>
              </a:rPr>
              <a:t>CH</a:t>
            </a:r>
            <a:r>
              <a:rPr lang="en-US" altLang="en-US" baseline="-25000">
                <a:latin typeface="Corbel" panose="020B0503020204020204" pitchFamily="34" charset="0"/>
              </a:rPr>
              <a:t>2</a:t>
            </a:r>
          </a:p>
        </p:txBody>
      </p:sp>
      <p:sp>
        <p:nvSpPr>
          <p:cNvPr id="179213" name="Text Box 13">
            <a:extLst>
              <a:ext uri="{FF2B5EF4-FFF2-40B4-BE49-F238E27FC236}">
                <a16:creationId xmlns:a16="http://schemas.microsoft.com/office/drawing/2014/main" id="{C0D9AC9C-6A02-7F61-610A-33577BAB1358}"/>
              </a:ext>
            </a:extLst>
          </p:cNvPr>
          <p:cNvSpPr txBox="1">
            <a:spLocks noChangeArrowheads="1"/>
          </p:cNvSpPr>
          <p:nvPr/>
        </p:nvSpPr>
        <p:spPr bwMode="auto">
          <a:xfrm>
            <a:off x="7127875" y="2654300"/>
            <a:ext cx="3209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rbel" panose="020B0503020204020204" pitchFamily="34" charset="0"/>
              </a:rPr>
              <a:t>C</a:t>
            </a:r>
          </a:p>
        </p:txBody>
      </p:sp>
      <p:sp>
        <p:nvSpPr>
          <p:cNvPr id="179214" name="Text Box 14">
            <a:extLst>
              <a:ext uri="{FF2B5EF4-FFF2-40B4-BE49-F238E27FC236}">
                <a16:creationId xmlns:a16="http://schemas.microsoft.com/office/drawing/2014/main" id="{9A9FE50F-CB51-CB16-C617-2A01C71098D1}"/>
              </a:ext>
            </a:extLst>
          </p:cNvPr>
          <p:cNvSpPr txBox="1">
            <a:spLocks noChangeArrowheads="1"/>
          </p:cNvSpPr>
          <p:nvPr/>
        </p:nvSpPr>
        <p:spPr bwMode="auto">
          <a:xfrm>
            <a:off x="7419976" y="2932114"/>
            <a:ext cx="54534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rbel" panose="020B0503020204020204" pitchFamily="34" charset="0"/>
              </a:rPr>
              <a:t>CH</a:t>
            </a:r>
            <a:r>
              <a:rPr lang="en-US" altLang="en-US" baseline="-25000">
                <a:latin typeface="Corbel" panose="020B0503020204020204" pitchFamily="34" charset="0"/>
              </a:rPr>
              <a:t>3</a:t>
            </a:r>
          </a:p>
        </p:txBody>
      </p:sp>
      <p:sp>
        <p:nvSpPr>
          <p:cNvPr id="179215" name="Line 15">
            <a:extLst>
              <a:ext uri="{FF2B5EF4-FFF2-40B4-BE49-F238E27FC236}">
                <a16:creationId xmlns:a16="http://schemas.microsoft.com/office/drawing/2014/main" id="{A09671FE-EB7D-A92C-23F5-9568E36E0408}"/>
              </a:ext>
            </a:extLst>
          </p:cNvPr>
          <p:cNvSpPr>
            <a:spLocks noChangeShapeType="1"/>
          </p:cNvSpPr>
          <p:nvPr/>
        </p:nvSpPr>
        <p:spPr bwMode="auto">
          <a:xfrm>
            <a:off x="7275513" y="2514600"/>
            <a:ext cx="0" cy="1857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orbel" panose="020B0503020204020204" pitchFamily="34" charset="0"/>
            </a:endParaRPr>
          </a:p>
        </p:txBody>
      </p:sp>
      <p:sp>
        <p:nvSpPr>
          <p:cNvPr id="179216" name="Line 16">
            <a:extLst>
              <a:ext uri="{FF2B5EF4-FFF2-40B4-BE49-F238E27FC236}">
                <a16:creationId xmlns:a16="http://schemas.microsoft.com/office/drawing/2014/main" id="{ECB0401D-6FEC-11CF-F91C-84BB07DEE383}"/>
              </a:ext>
            </a:extLst>
          </p:cNvPr>
          <p:cNvSpPr>
            <a:spLocks noChangeShapeType="1"/>
          </p:cNvSpPr>
          <p:nvPr/>
        </p:nvSpPr>
        <p:spPr bwMode="auto">
          <a:xfrm flipV="1">
            <a:off x="7059613" y="2895601"/>
            <a:ext cx="131762" cy="746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orbel" panose="020B0503020204020204" pitchFamily="34" charset="0"/>
            </a:endParaRPr>
          </a:p>
        </p:txBody>
      </p:sp>
      <p:sp>
        <p:nvSpPr>
          <p:cNvPr id="179217" name="Line 17">
            <a:extLst>
              <a:ext uri="{FF2B5EF4-FFF2-40B4-BE49-F238E27FC236}">
                <a16:creationId xmlns:a16="http://schemas.microsoft.com/office/drawing/2014/main" id="{D4CA3542-A08E-83D2-1712-85EA71FF0592}"/>
              </a:ext>
            </a:extLst>
          </p:cNvPr>
          <p:cNvSpPr>
            <a:spLocks noChangeShapeType="1"/>
          </p:cNvSpPr>
          <p:nvPr/>
        </p:nvSpPr>
        <p:spPr bwMode="auto">
          <a:xfrm flipH="1" flipV="1">
            <a:off x="7364414" y="2895601"/>
            <a:ext cx="123825" cy="619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orbel" panose="020B0503020204020204" pitchFamily="34" charset="0"/>
            </a:endParaRPr>
          </a:p>
        </p:txBody>
      </p:sp>
      <p:sp>
        <p:nvSpPr>
          <p:cNvPr id="179218" name="Text Box 18">
            <a:extLst>
              <a:ext uri="{FF2B5EF4-FFF2-40B4-BE49-F238E27FC236}">
                <a16:creationId xmlns:a16="http://schemas.microsoft.com/office/drawing/2014/main" id="{762B1E8C-19DD-FEF6-5392-A2854AA5A28D}"/>
              </a:ext>
            </a:extLst>
          </p:cNvPr>
          <p:cNvSpPr txBox="1">
            <a:spLocks noChangeArrowheads="1"/>
          </p:cNvSpPr>
          <p:nvPr/>
        </p:nvSpPr>
        <p:spPr bwMode="auto">
          <a:xfrm>
            <a:off x="7127875" y="2266950"/>
            <a:ext cx="50687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rbel" panose="020B0503020204020204" pitchFamily="34" charset="0"/>
              </a:rPr>
              <a:t>OH</a:t>
            </a:r>
          </a:p>
        </p:txBody>
      </p:sp>
      <p:sp>
        <p:nvSpPr>
          <p:cNvPr id="179219" name="Line 19">
            <a:extLst>
              <a:ext uri="{FF2B5EF4-FFF2-40B4-BE49-F238E27FC236}">
                <a16:creationId xmlns:a16="http://schemas.microsoft.com/office/drawing/2014/main" id="{8B74AFE7-D260-7B84-74D2-EC70B4C16281}"/>
              </a:ext>
            </a:extLst>
          </p:cNvPr>
          <p:cNvSpPr>
            <a:spLocks noChangeShapeType="1"/>
          </p:cNvSpPr>
          <p:nvPr/>
        </p:nvSpPr>
        <p:spPr bwMode="auto">
          <a:xfrm flipV="1">
            <a:off x="7086601" y="2936876"/>
            <a:ext cx="131763" cy="746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orbel" panose="020B0503020204020204" pitchFamily="34" charset="0"/>
            </a:endParaRPr>
          </a:p>
        </p:txBody>
      </p:sp>
      <p:sp>
        <p:nvSpPr>
          <p:cNvPr id="179222" name="Line 22">
            <a:extLst>
              <a:ext uri="{FF2B5EF4-FFF2-40B4-BE49-F238E27FC236}">
                <a16:creationId xmlns:a16="http://schemas.microsoft.com/office/drawing/2014/main" id="{0C36A7FA-0635-DBB2-21FB-F5C9DE0998FE}"/>
              </a:ext>
            </a:extLst>
          </p:cNvPr>
          <p:cNvSpPr>
            <a:spLocks noChangeShapeType="1"/>
          </p:cNvSpPr>
          <p:nvPr/>
        </p:nvSpPr>
        <p:spPr bwMode="auto">
          <a:xfrm>
            <a:off x="2209800" y="3409950"/>
            <a:ext cx="12954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orbel" panose="020B0503020204020204" pitchFamily="34" charset="0"/>
            </a:endParaRPr>
          </a:p>
        </p:txBody>
      </p:sp>
      <p:sp>
        <p:nvSpPr>
          <p:cNvPr id="179233" name="Text Box 33">
            <a:extLst>
              <a:ext uri="{FF2B5EF4-FFF2-40B4-BE49-F238E27FC236}">
                <a16:creationId xmlns:a16="http://schemas.microsoft.com/office/drawing/2014/main" id="{49A29188-44A7-D99A-C8A9-A19F74EE5EAC}"/>
              </a:ext>
            </a:extLst>
          </p:cNvPr>
          <p:cNvSpPr txBox="1">
            <a:spLocks noChangeArrowheads="1"/>
          </p:cNvSpPr>
          <p:nvPr/>
        </p:nvSpPr>
        <p:spPr bwMode="auto">
          <a:xfrm>
            <a:off x="3803146" y="4248151"/>
            <a:ext cx="75052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00D405"/>
                </a:solidFill>
                <a:latin typeface="Corbel" panose="020B0503020204020204" pitchFamily="34" charset="0"/>
              </a:rPr>
              <a:t>+ H</a:t>
            </a:r>
            <a:r>
              <a:rPr lang="en-US" altLang="en-US" baseline="-25000">
                <a:solidFill>
                  <a:srgbClr val="00D405"/>
                </a:solidFill>
                <a:latin typeface="Corbel" panose="020B0503020204020204" pitchFamily="34" charset="0"/>
              </a:rPr>
              <a:t>2</a:t>
            </a:r>
            <a:r>
              <a:rPr lang="en-US" altLang="en-US">
                <a:solidFill>
                  <a:srgbClr val="00D405"/>
                </a:solidFill>
                <a:latin typeface="Corbel" panose="020B0503020204020204" pitchFamily="34" charset="0"/>
                <a:cs typeface="Arial" panose="020B0604020202020204" pitchFamily="34" charset="0"/>
              </a:rPr>
              <a:t>O</a:t>
            </a:r>
          </a:p>
        </p:txBody>
      </p:sp>
      <p:sp>
        <p:nvSpPr>
          <p:cNvPr id="179234" name="Line 34">
            <a:extLst>
              <a:ext uri="{FF2B5EF4-FFF2-40B4-BE49-F238E27FC236}">
                <a16:creationId xmlns:a16="http://schemas.microsoft.com/office/drawing/2014/main" id="{9EE2FB48-F46C-2ACD-35AE-EAA38D9BDFF6}"/>
              </a:ext>
            </a:extLst>
          </p:cNvPr>
          <p:cNvSpPr>
            <a:spLocks noChangeShapeType="1"/>
          </p:cNvSpPr>
          <p:nvPr/>
        </p:nvSpPr>
        <p:spPr bwMode="auto">
          <a:xfrm flipV="1">
            <a:off x="4953000" y="3409950"/>
            <a:ext cx="1600200" cy="914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orbel" panose="020B0503020204020204" pitchFamily="34" charset="0"/>
            </a:endParaRPr>
          </a:p>
        </p:txBody>
      </p:sp>
      <p:sp>
        <p:nvSpPr>
          <p:cNvPr id="179236" name="Arc 36">
            <a:extLst>
              <a:ext uri="{FF2B5EF4-FFF2-40B4-BE49-F238E27FC236}">
                <a16:creationId xmlns:a16="http://schemas.microsoft.com/office/drawing/2014/main" id="{463AA722-A8BC-DEE8-494F-D93DDF1463A8}"/>
              </a:ext>
            </a:extLst>
          </p:cNvPr>
          <p:cNvSpPr>
            <a:spLocks/>
          </p:cNvSpPr>
          <p:nvPr/>
        </p:nvSpPr>
        <p:spPr bwMode="auto">
          <a:xfrm rot="10800000" flipH="1">
            <a:off x="4470142" y="4248151"/>
            <a:ext cx="381000" cy="1524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9525">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79237" name="Text Box 37">
            <a:extLst>
              <a:ext uri="{FF2B5EF4-FFF2-40B4-BE49-F238E27FC236}">
                <a16:creationId xmlns:a16="http://schemas.microsoft.com/office/drawing/2014/main" id="{F69E74FB-B055-5762-F8DA-CE294FF48E15}"/>
              </a:ext>
            </a:extLst>
          </p:cNvPr>
          <p:cNvSpPr txBox="1">
            <a:spLocks noChangeArrowheads="1"/>
          </p:cNvSpPr>
          <p:nvPr/>
        </p:nvSpPr>
        <p:spPr bwMode="auto">
          <a:xfrm>
            <a:off x="3624264" y="2800350"/>
            <a:ext cx="152939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i="1">
                <a:solidFill>
                  <a:srgbClr val="00D405"/>
                </a:solidFill>
                <a:latin typeface="Corbel" panose="020B0503020204020204" pitchFamily="34" charset="0"/>
              </a:rPr>
              <a:t>Acid catalyzed</a:t>
            </a:r>
          </a:p>
        </p:txBody>
      </p:sp>
      <p:sp>
        <p:nvSpPr>
          <p:cNvPr id="179238" name="Text Box 38">
            <a:extLst>
              <a:ext uri="{FF2B5EF4-FFF2-40B4-BE49-F238E27FC236}">
                <a16:creationId xmlns:a16="http://schemas.microsoft.com/office/drawing/2014/main" id="{F4EC274C-B26B-564C-087C-461B8A9102AF}"/>
              </a:ext>
            </a:extLst>
          </p:cNvPr>
          <p:cNvSpPr txBox="1">
            <a:spLocks noChangeArrowheads="1"/>
          </p:cNvSpPr>
          <p:nvPr/>
        </p:nvSpPr>
        <p:spPr bwMode="auto">
          <a:xfrm>
            <a:off x="2238376" y="3714751"/>
            <a:ext cx="6559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00D405"/>
                </a:solidFill>
                <a:latin typeface="Corbel" panose="020B0503020204020204" pitchFamily="34" charset="0"/>
              </a:rPr>
              <a:t>H</a:t>
            </a:r>
            <a:r>
              <a:rPr lang="en-US" altLang="en-US" baseline="-25000">
                <a:solidFill>
                  <a:srgbClr val="00D405"/>
                </a:solidFill>
                <a:latin typeface="Corbel" panose="020B0503020204020204" pitchFamily="34" charset="0"/>
              </a:rPr>
              <a:t>3</a:t>
            </a:r>
            <a:r>
              <a:rPr lang="en-US" altLang="en-US">
                <a:solidFill>
                  <a:srgbClr val="00D405"/>
                </a:solidFill>
                <a:latin typeface="Corbel" panose="020B0503020204020204" pitchFamily="34" charset="0"/>
              </a:rPr>
              <a:t>O</a:t>
            </a:r>
            <a:r>
              <a:rPr lang="en-US" altLang="en-US" baseline="30000">
                <a:solidFill>
                  <a:srgbClr val="00D405"/>
                </a:solidFill>
                <a:latin typeface="Corbel" panose="020B0503020204020204" pitchFamily="34" charset="0"/>
              </a:rPr>
              <a:t>+</a:t>
            </a:r>
          </a:p>
        </p:txBody>
      </p:sp>
      <p:sp>
        <p:nvSpPr>
          <p:cNvPr id="179239" name="Text Box 39">
            <a:extLst>
              <a:ext uri="{FF2B5EF4-FFF2-40B4-BE49-F238E27FC236}">
                <a16:creationId xmlns:a16="http://schemas.microsoft.com/office/drawing/2014/main" id="{56F2F318-3048-C767-F220-CDB7D01B8377}"/>
              </a:ext>
            </a:extLst>
          </p:cNvPr>
          <p:cNvSpPr txBox="1">
            <a:spLocks noChangeArrowheads="1"/>
          </p:cNvSpPr>
          <p:nvPr/>
        </p:nvSpPr>
        <p:spPr bwMode="auto">
          <a:xfrm>
            <a:off x="3690434" y="3840164"/>
            <a:ext cx="54534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rbel" panose="020B0503020204020204" pitchFamily="34" charset="0"/>
              </a:rPr>
              <a:t>CH</a:t>
            </a:r>
            <a:r>
              <a:rPr lang="en-US" altLang="en-US" baseline="-25000">
                <a:latin typeface="Corbel" panose="020B0503020204020204" pitchFamily="34" charset="0"/>
              </a:rPr>
              <a:t>3</a:t>
            </a:r>
          </a:p>
        </p:txBody>
      </p:sp>
      <p:sp>
        <p:nvSpPr>
          <p:cNvPr id="179240" name="Text Box 40">
            <a:extLst>
              <a:ext uri="{FF2B5EF4-FFF2-40B4-BE49-F238E27FC236}">
                <a16:creationId xmlns:a16="http://schemas.microsoft.com/office/drawing/2014/main" id="{80C977D5-0C3D-ADEF-F15C-90F81F0C9DFA}"/>
              </a:ext>
            </a:extLst>
          </p:cNvPr>
          <p:cNvSpPr txBox="1">
            <a:spLocks noChangeArrowheads="1"/>
          </p:cNvSpPr>
          <p:nvPr/>
        </p:nvSpPr>
        <p:spPr bwMode="auto">
          <a:xfrm>
            <a:off x="4149220" y="3568700"/>
            <a:ext cx="3209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rbel" panose="020B0503020204020204" pitchFamily="34" charset="0"/>
              </a:rPr>
              <a:t>C</a:t>
            </a:r>
          </a:p>
        </p:txBody>
      </p:sp>
      <p:sp>
        <p:nvSpPr>
          <p:cNvPr id="179241" name="Text Box 41">
            <a:extLst>
              <a:ext uri="{FF2B5EF4-FFF2-40B4-BE49-F238E27FC236}">
                <a16:creationId xmlns:a16="http://schemas.microsoft.com/office/drawing/2014/main" id="{6248F200-77CC-24F6-BEDB-B8C9A737CCB6}"/>
              </a:ext>
            </a:extLst>
          </p:cNvPr>
          <p:cNvSpPr txBox="1">
            <a:spLocks noChangeArrowheads="1"/>
          </p:cNvSpPr>
          <p:nvPr/>
        </p:nvSpPr>
        <p:spPr bwMode="auto">
          <a:xfrm>
            <a:off x="4441321" y="3846514"/>
            <a:ext cx="54534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rbel" panose="020B0503020204020204" pitchFamily="34" charset="0"/>
              </a:rPr>
              <a:t>CH</a:t>
            </a:r>
            <a:r>
              <a:rPr lang="en-US" altLang="en-US" baseline="-25000">
                <a:latin typeface="Corbel" panose="020B0503020204020204" pitchFamily="34" charset="0"/>
              </a:rPr>
              <a:t>3</a:t>
            </a:r>
          </a:p>
        </p:txBody>
      </p:sp>
      <p:sp>
        <p:nvSpPr>
          <p:cNvPr id="179242" name="Line 42">
            <a:extLst>
              <a:ext uri="{FF2B5EF4-FFF2-40B4-BE49-F238E27FC236}">
                <a16:creationId xmlns:a16="http://schemas.microsoft.com/office/drawing/2014/main" id="{9BA33A15-2527-0C1E-0C68-CA6383AAF02C}"/>
              </a:ext>
            </a:extLst>
          </p:cNvPr>
          <p:cNvSpPr>
            <a:spLocks noChangeShapeType="1"/>
          </p:cNvSpPr>
          <p:nvPr/>
        </p:nvSpPr>
        <p:spPr bwMode="auto">
          <a:xfrm>
            <a:off x="4296858" y="3429000"/>
            <a:ext cx="0" cy="1857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orbel" panose="020B0503020204020204" pitchFamily="34" charset="0"/>
            </a:endParaRPr>
          </a:p>
        </p:txBody>
      </p:sp>
      <p:sp>
        <p:nvSpPr>
          <p:cNvPr id="179243" name="Line 43">
            <a:extLst>
              <a:ext uri="{FF2B5EF4-FFF2-40B4-BE49-F238E27FC236}">
                <a16:creationId xmlns:a16="http://schemas.microsoft.com/office/drawing/2014/main" id="{0B45A840-2194-AFC1-78BE-B0280ABE97CD}"/>
              </a:ext>
            </a:extLst>
          </p:cNvPr>
          <p:cNvSpPr>
            <a:spLocks noChangeShapeType="1"/>
          </p:cNvSpPr>
          <p:nvPr/>
        </p:nvSpPr>
        <p:spPr bwMode="auto">
          <a:xfrm flipV="1">
            <a:off x="4080958" y="3810001"/>
            <a:ext cx="131762" cy="746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orbel" panose="020B0503020204020204" pitchFamily="34" charset="0"/>
            </a:endParaRPr>
          </a:p>
        </p:txBody>
      </p:sp>
      <p:sp>
        <p:nvSpPr>
          <p:cNvPr id="179244" name="Line 44">
            <a:extLst>
              <a:ext uri="{FF2B5EF4-FFF2-40B4-BE49-F238E27FC236}">
                <a16:creationId xmlns:a16="http://schemas.microsoft.com/office/drawing/2014/main" id="{805CF33E-5449-3D15-FAE1-8C1424AC7E0D}"/>
              </a:ext>
            </a:extLst>
          </p:cNvPr>
          <p:cNvSpPr>
            <a:spLocks noChangeShapeType="1"/>
          </p:cNvSpPr>
          <p:nvPr/>
        </p:nvSpPr>
        <p:spPr bwMode="auto">
          <a:xfrm flipH="1" flipV="1">
            <a:off x="4385759" y="3810001"/>
            <a:ext cx="123825" cy="619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orbel" panose="020B0503020204020204" pitchFamily="34" charset="0"/>
            </a:endParaRPr>
          </a:p>
        </p:txBody>
      </p:sp>
      <p:sp>
        <p:nvSpPr>
          <p:cNvPr id="179245" name="Text Box 45">
            <a:extLst>
              <a:ext uri="{FF2B5EF4-FFF2-40B4-BE49-F238E27FC236}">
                <a16:creationId xmlns:a16="http://schemas.microsoft.com/office/drawing/2014/main" id="{B6B2B0ED-1D7A-F3FD-9820-5E028CFDAB75}"/>
              </a:ext>
            </a:extLst>
          </p:cNvPr>
          <p:cNvSpPr txBox="1">
            <a:spLocks noChangeArrowheads="1"/>
          </p:cNvSpPr>
          <p:nvPr/>
        </p:nvSpPr>
        <p:spPr bwMode="auto">
          <a:xfrm>
            <a:off x="4149220" y="3181350"/>
            <a:ext cx="50687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rbel" panose="020B0503020204020204" pitchFamily="34" charset="0"/>
              </a:rPr>
              <a:t>O</a:t>
            </a:r>
            <a:r>
              <a:rPr lang="en-US" altLang="en-US">
                <a:solidFill>
                  <a:srgbClr val="00D405"/>
                </a:solidFill>
                <a:latin typeface="Corbel" panose="020B0503020204020204" pitchFamily="34" charset="0"/>
              </a:rPr>
              <a:t>H</a:t>
            </a:r>
          </a:p>
        </p:txBody>
      </p:sp>
      <p:sp>
        <p:nvSpPr>
          <p:cNvPr id="179247" name="Text Box 47">
            <a:extLst>
              <a:ext uri="{FF2B5EF4-FFF2-40B4-BE49-F238E27FC236}">
                <a16:creationId xmlns:a16="http://schemas.microsoft.com/office/drawing/2014/main" id="{AC30DD9C-DCE4-53CC-9B03-C31E41D17E00}"/>
              </a:ext>
            </a:extLst>
          </p:cNvPr>
          <p:cNvSpPr txBox="1">
            <a:spLocks noChangeArrowheads="1"/>
          </p:cNvSpPr>
          <p:nvPr/>
        </p:nvSpPr>
        <p:spPr bwMode="auto">
          <a:xfrm>
            <a:off x="4160334" y="3714750"/>
            <a:ext cx="3032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rbel" panose="020B0503020204020204" pitchFamily="34" charset="0"/>
              </a:rPr>
              <a:t>+</a:t>
            </a:r>
          </a:p>
        </p:txBody>
      </p:sp>
      <p:sp>
        <p:nvSpPr>
          <p:cNvPr id="179248" name="Text Box 48">
            <a:extLst>
              <a:ext uri="{FF2B5EF4-FFF2-40B4-BE49-F238E27FC236}">
                <a16:creationId xmlns:a16="http://schemas.microsoft.com/office/drawing/2014/main" id="{EC77BB00-C321-14B3-A5BC-9104074535FB}"/>
              </a:ext>
            </a:extLst>
          </p:cNvPr>
          <p:cNvSpPr txBox="1">
            <a:spLocks noChangeArrowheads="1"/>
          </p:cNvSpPr>
          <p:nvPr/>
        </p:nvSpPr>
        <p:spPr bwMode="auto">
          <a:xfrm>
            <a:off x="5791200" y="3790951"/>
            <a:ext cx="77457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00D405"/>
                </a:solidFill>
                <a:latin typeface="Corbel" panose="020B0503020204020204" pitchFamily="34" charset="0"/>
                <a:cs typeface="Arial" panose="020B0604020202020204" pitchFamily="34" charset="0"/>
              </a:rPr>
              <a:t>−</a:t>
            </a:r>
            <a:r>
              <a:rPr lang="en-US" altLang="en-US">
                <a:solidFill>
                  <a:srgbClr val="00D405"/>
                </a:solidFill>
                <a:latin typeface="Corbel" panose="020B0503020204020204" pitchFamily="34" charset="0"/>
              </a:rPr>
              <a:t>H</a:t>
            </a:r>
            <a:r>
              <a:rPr lang="en-US" altLang="en-US" baseline="-25000">
                <a:solidFill>
                  <a:srgbClr val="00D405"/>
                </a:solidFill>
                <a:latin typeface="Corbel" panose="020B0503020204020204" pitchFamily="34" charset="0"/>
              </a:rPr>
              <a:t>3</a:t>
            </a:r>
            <a:r>
              <a:rPr lang="en-US" altLang="en-US">
                <a:solidFill>
                  <a:srgbClr val="00D405"/>
                </a:solidFill>
                <a:latin typeface="Corbel" panose="020B0503020204020204" pitchFamily="34" charset="0"/>
              </a:rPr>
              <a:t>O</a:t>
            </a:r>
            <a:r>
              <a:rPr lang="en-US" altLang="en-US" baseline="30000">
                <a:solidFill>
                  <a:srgbClr val="00D405"/>
                </a:solidFill>
                <a:latin typeface="Corbel" panose="020B0503020204020204" pitchFamily="34" charset="0"/>
              </a:rPr>
              <a:t>+</a:t>
            </a:r>
          </a:p>
        </p:txBody>
      </p:sp>
      <p:sp>
        <p:nvSpPr>
          <p:cNvPr id="179249" name="Freeform 49">
            <a:extLst>
              <a:ext uri="{FF2B5EF4-FFF2-40B4-BE49-F238E27FC236}">
                <a16:creationId xmlns:a16="http://schemas.microsoft.com/office/drawing/2014/main" id="{F5E5D737-6D26-767E-CA3E-C146AAB0992A}"/>
              </a:ext>
            </a:extLst>
          </p:cNvPr>
          <p:cNvSpPr>
            <a:spLocks/>
          </p:cNvSpPr>
          <p:nvPr/>
        </p:nvSpPr>
        <p:spPr bwMode="auto">
          <a:xfrm>
            <a:off x="2133600" y="714375"/>
            <a:ext cx="4953000" cy="1447800"/>
          </a:xfrm>
          <a:custGeom>
            <a:avLst/>
            <a:gdLst>
              <a:gd name="T0" fmla="*/ 0 w 2688"/>
              <a:gd name="T1" fmla="*/ 624 h 1008"/>
              <a:gd name="T2" fmla="*/ 96 w 2688"/>
              <a:gd name="T3" fmla="*/ 912 h 1008"/>
              <a:gd name="T4" fmla="*/ 240 w 2688"/>
              <a:gd name="T5" fmla="*/ 1008 h 1008"/>
              <a:gd name="T6" fmla="*/ 384 w 2688"/>
              <a:gd name="T7" fmla="*/ 912 h 1008"/>
              <a:gd name="T8" fmla="*/ 528 w 2688"/>
              <a:gd name="T9" fmla="*/ 528 h 1008"/>
              <a:gd name="T10" fmla="*/ 624 w 2688"/>
              <a:gd name="T11" fmla="*/ 192 h 1008"/>
              <a:gd name="T12" fmla="*/ 768 w 2688"/>
              <a:gd name="T13" fmla="*/ 48 h 1008"/>
              <a:gd name="T14" fmla="*/ 960 w 2688"/>
              <a:gd name="T15" fmla="*/ 144 h 1008"/>
              <a:gd name="T16" fmla="*/ 1104 w 2688"/>
              <a:gd name="T17" fmla="*/ 480 h 1008"/>
              <a:gd name="T18" fmla="*/ 1200 w 2688"/>
              <a:gd name="T19" fmla="*/ 768 h 1008"/>
              <a:gd name="T20" fmla="*/ 1344 w 2688"/>
              <a:gd name="T21" fmla="*/ 816 h 1008"/>
              <a:gd name="T22" fmla="*/ 1488 w 2688"/>
              <a:gd name="T23" fmla="*/ 624 h 1008"/>
              <a:gd name="T24" fmla="*/ 1584 w 2688"/>
              <a:gd name="T25" fmla="*/ 240 h 1008"/>
              <a:gd name="T26" fmla="*/ 1680 w 2688"/>
              <a:gd name="T27" fmla="*/ 48 h 1008"/>
              <a:gd name="T28" fmla="*/ 1872 w 2688"/>
              <a:gd name="T29" fmla="*/ 48 h 1008"/>
              <a:gd name="T30" fmla="*/ 2064 w 2688"/>
              <a:gd name="T31" fmla="*/ 336 h 1008"/>
              <a:gd name="T32" fmla="*/ 2256 w 2688"/>
              <a:gd name="T33" fmla="*/ 576 h 1008"/>
              <a:gd name="T34" fmla="*/ 2496 w 2688"/>
              <a:gd name="T35" fmla="*/ 624 h 1008"/>
              <a:gd name="T36" fmla="*/ 2688 w 2688"/>
              <a:gd name="T37" fmla="*/ 336 h 10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88" h="1008">
                <a:moveTo>
                  <a:pt x="0" y="624"/>
                </a:moveTo>
                <a:cubicBezTo>
                  <a:pt x="28" y="736"/>
                  <a:pt x="56" y="848"/>
                  <a:pt x="96" y="912"/>
                </a:cubicBezTo>
                <a:cubicBezTo>
                  <a:pt x="136" y="976"/>
                  <a:pt x="192" y="1008"/>
                  <a:pt x="240" y="1008"/>
                </a:cubicBezTo>
                <a:cubicBezTo>
                  <a:pt x="288" y="1008"/>
                  <a:pt x="336" y="992"/>
                  <a:pt x="384" y="912"/>
                </a:cubicBezTo>
                <a:cubicBezTo>
                  <a:pt x="432" y="832"/>
                  <a:pt x="488" y="648"/>
                  <a:pt x="528" y="528"/>
                </a:cubicBezTo>
                <a:cubicBezTo>
                  <a:pt x="568" y="408"/>
                  <a:pt x="584" y="272"/>
                  <a:pt x="624" y="192"/>
                </a:cubicBezTo>
                <a:cubicBezTo>
                  <a:pt x="664" y="112"/>
                  <a:pt x="712" y="56"/>
                  <a:pt x="768" y="48"/>
                </a:cubicBezTo>
                <a:cubicBezTo>
                  <a:pt x="824" y="40"/>
                  <a:pt x="904" y="72"/>
                  <a:pt x="960" y="144"/>
                </a:cubicBezTo>
                <a:cubicBezTo>
                  <a:pt x="1016" y="216"/>
                  <a:pt x="1064" y="376"/>
                  <a:pt x="1104" y="480"/>
                </a:cubicBezTo>
                <a:cubicBezTo>
                  <a:pt x="1144" y="584"/>
                  <a:pt x="1160" y="712"/>
                  <a:pt x="1200" y="768"/>
                </a:cubicBezTo>
                <a:cubicBezTo>
                  <a:pt x="1240" y="824"/>
                  <a:pt x="1296" y="840"/>
                  <a:pt x="1344" y="816"/>
                </a:cubicBezTo>
                <a:cubicBezTo>
                  <a:pt x="1392" y="792"/>
                  <a:pt x="1448" y="720"/>
                  <a:pt x="1488" y="624"/>
                </a:cubicBezTo>
                <a:cubicBezTo>
                  <a:pt x="1528" y="528"/>
                  <a:pt x="1552" y="336"/>
                  <a:pt x="1584" y="240"/>
                </a:cubicBezTo>
                <a:cubicBezTo>
                  <a:pt x="1616" y="144"/>
                  <a:pt x="1632" y="80"/>
                  <a:pt x="1680" y="48"/>
                </a:cubicBezTo>
                <a:cubicBezTo>
                  <a:pt x="1728" y="16"/>
                  <a:pt x="1808" y="0"/>
                  <a:pt x="1872" y="48"/>
                </a:cubicBezTo>
                <a:cubicBezTo>
                  <a:pt x="1936" y="96"/>
                  <a:pt x="2000" y="248"/>
                  <a:pt x="2064" y="336"/>
                </a:cubicBezTo>
                <a:cubicBezTo>
                  <a:pt x="2128" y="424"/>
                  <a:pt x="2184" y="528"/>
                  <a:pt x="2256" y="576"/>
                </a:cubicBezTo>
                <a:cubicBezTo>
                  <a:pt x="2328" y="624"/>
                  <a:pt x="2424" y="664"/>
                  <a:pt x="2496" y="624"/>
                </a:cubicBezTo>
                <a:cubicBezTo>
                  <a:pt x="2568" y="584"/>
                  <a:pt x="2628" y="460"/>
                  <a:pt x="2688" y="336"/>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orbel" panose="020B0503020204020204" pitchFamily="34" charset="0"/>
            </a:endParaRPr>
          </a:p>
        </p:txBody>
      </p:sp>
      <p:sp>
        <p:nvSpPr>
          <p:cNvPr id="179251" name="Text Box 51">
            <a:extLst>
              <a:ext uri="{FF2B5EF4-FFF2-40B4-BE49-F238E27FC236}">
                <a16:creationId xmlns:a16="http://schemas.microsoft.com/office/drawing/2014/main" id="{BE5071BD-786C-0792-EDEF-9DA9412E0E93}"/>
              </a:ext>
            </a:extLst>
          </p:cNvPr>
          <p:cNvSpPr txBox="1">
            <a:spLocks noChangeArrowheads="1"/>
          </p:cNvSpPr>
          <p:nvPr/>
        </p:nvSpPr>
        <p:spPr bwMode="auto">
          <a:xfrm>
            <a:off x="6161088" y="1552575"/>
            <a:ext cx="104227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rbel" panose="020B0503020204020204" pitchFamily="34" charset="0"/>
              </a:rPr>
              <a:t>propenol</a:t>
            </a:r>
          </a:p>
        </p:txBody>
      </p:sp>
      <p:sp>
        <p:nvSpPr>
          <p:cNvPr id="179252" name="Text Box 52">
            <a:extLst>
              <a:ext uri="{FF2B5EF4-FFF2-40B4-BE49-F238E27FC236}">
                <a16:creationId xmlns:a16="http://schemas.microsoft.com/office/drawing/2014/main" id="{39C2BF14-5113-7615-F10B-F5C91F5A13DD}"/>
              </a:ext>
            </a:extLst>
          </p:cNvPr>
          <p:cNvSpPr txBox="1">
            <a:spLocks noChangeArrowheads="1"/>
          </p:cNvSpPr>
          <p:nvPr/>
        </p:nvSpPr>
        <p:spPr bwMode="auto">
          <a:xfrm>
            <a:off x="3933260" y="1873250"/>
            <a:ext cx="123303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600" i="1" dirty="0">
                <a:solidFill>
                  <a:srgbClr val="00D405"/>
                </a:solidFill>
                <a:latin typeface="Corbel" panose="020B0503020204020204" pitchFamily="34" charset="0"/>
              </a:rPr>
              <a:t>different</a:t>
            </a:r>
          </a:p>
          <a:p>
            <a:pPr algn="ctr"/>
            <a:r>
              <a:rPr lang="en-US" altLang="en-US" sz="1600" i="1" dirty="0">
                <a:solidFill>
                  <a:srgbClr val="00D405"/>
                </a:solidFill>
                <a:latin typeface="Corbel" panose="020B0503020204020204" pitchFamily="34" charset="0"/>
              </a:rPr>
              <a:t>intermediate</a:t>
            </a:r>
          </a:p>
        </p:txBody>
      </p:sp>
      <p:sp>
        <p:nvSpPr>
          <p:cNvPr id="179253" name="Text Box 53">
            <a:extLst>
              <a:ext uri="{FF2B5EF4-FFF2-40B4-BE49-F238E27FC236}">
                <a16:creationId xmlns:a16="http://schemas.microsoft.com/office/drawing/2014/main" id="{E1991440-2021-B250-E497-3A4E91BAA845}"/>
              </a:ext>
            </a:extLst>
          </p:cNvPr>
          <p:cNvSpPr txBox="1">
            <a:spLocks noChangeArrowheads="1"/>
          </p:cNvSpPr>
          <p:nvPr/>
        </p:nvSpPr>
        <p:spPr bwMode="auto">
          <a:xfrm>
            <a:off x="3429000" y="400050"/>
            <a:ext cx="2920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Corbel" panose="020B0503020204020204" pitchFamily="34" charset="0"/>
                <a:cs typeface="Arial" panose="020B0604020202020204" pitchFamily="34" charset="0"/>
              </a:rPr>
              <a:t>‡</a:t>
            </a:r>
          </a:p>
        </p:txBody>
      </p:sp>
      <p:sp>
        <p:nvSpPr>
          <p:cNvPr id="179254" name="Text Box 54">
            <a:extLst>
              <a:ext uri="{FF2B5EF4-FFF2-40B4-BE49-F238E27FC236}">
                <a16:creationId xmlns:a16="http://schemas.microsoft.com/office/drawing/2014/main" id="{FF21336C-4B01-74EA-04FD-6BCBC6D86C99}"/>
              </a:ext>
            </a:extLst>
          </p:cNvPr>
          <p:cNvSpPr txBox="1">
            <a:spLocks noChangeArrowheads="1"/>
          </p:cNvSpPr>
          <p:nvPr/>
        </p:nvSpPr>
        <p:spPr bwMode="auto">
          <a:xfrm>
            <a:off x="5257800" y="400050"/>
            <a:ext cx="2920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Corbel" panose="020B0503020204020204" pitchFamily="34" charset="0"/>
                <a:cs typeface="Arial" panose="020B0604020202020204" pitchFamily="34" charset="0"/>
              </a:rPr>
              <a:t>‡</a:t>
            </a:r>
          </a:p>
        </p:txBody>
      </p:sp>
      <p:sp>
        <p:nvSpPr>
          <p:cNvPr id="179255" name="Text Box 55">
            <a:extLst>
              <a:ext uri="{FF2B5EF4-FFF2-40B4-BE49-F238E27FC236}">
                <a16:creationId xmlns:a16="http://schemas.microsoft.com/office/drawing/2014/main" id="{7FC515C0-FBF3-F3E3-72D6-19453E30AD58}"/>
              </a:ext>
            </a:extLst>
          </p:cNvPr>
          <p:cNvSpPr txBox="1">
            <a:spLocks noChangeArrowheads="1"/>
          </p:cNvSpPr>
          <p:nvPr/>
        </p:nvSpPr>
        <p:spPr bwMode="auto">
          <a:xfrm>
            <a:off x="2117726" y="2114550"/>
            <a:ext cx="122501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rbel" panose="020B0503020204020204" pitchFamily="34" charset="0"/>
              </a:rPr>
              <a:t>propanone</a:t>
            </a:r>
          </a:p>
        </p:txBody>
      </p:sp>
      <p:sp>
        <p:nvSpPr>
          <p:cNvPr id="179256" name="Text Box 56">
            <a:extLst>
              <a:ext uri="{FF2B5EF4-FFF2-40B4-BE49-F238E27FC236}">
                <a16:creationId xmlns:a16="http://schemas.microsoft.com/office/drawing/2014/main" id="{FE1D9DD0-65B2-1174-AB3F-C8E79D604121}"/>
              </a:ext>
            </a:extLst>
          </p:cNvPr>
          <p:cNvSpPr txBox="1">
            <a:spLocks noChangeArrowheads="1"/>
          </p:cNvSpPr>
          <p:nvPr/>
        </p:nvSpPr>
        <p:spPr bwMode="auto">
          <a:xfrm>
            <a:off x="3336926" y="2419351"/>
            <a:ext cx="215712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i="1" dirty="0">
                <a:latin typeface="Corbel" panose="020B0503020204020204" pitchFamily="34" charset="0"/>
              </a:rPr>
              <a:t>rate</a:t>
            </a:r>
            <a:r>
              <a:rPr lang="en-US" altLang="en-US" sz="1600" dirty="0">
                <a:latin typeface="Corbel" panose="020B0503020204020204" pitchFamily="34" charset="0"/>
              </a:rPr>
              <a:t> = </a:t>
            </a:r>
            <a:r>
              <a:rPr lang="en-US" altLang="en-US" sz="1600" i="1" dirty="0">
                <a:latin typeface="Corbel" panose="020B0503020204020204" pitchFamily="34" charset="0"/>
              </a:rPr>
              <a:t>k</a:t>
            </a:r>
            <a:r>
              <a:rPr lang="en-US" altLang="en-US" sz="1600" dirty="0">
                <a:latin typeface="Corbel" panose="020B0503020204020204" pitchFamily="34" charset="0"/>
              </a:rPr>
              <a:t>[H</a:t>
            </a:r>
            <a:r>
              <a:rPr lang="en-US" altLang="en-US" sz="1600" baseline="-25000" dirty="0">
                <a:latin typeface="Corbel" panose="020B0503020204020204" pitchFamily="34" charset="0"/>
              </a:rPr>
              <a:t>3</a:t>
            </a:r>
            <a:r>
              <a:rPr lang="en-US" altLang="en-US" sz="1600" dirty="0">
                <a:latin typeface="Corbel" panose="020B0503020204020204" pitchFamily="34" charset="0"/>
              </a:rPr>
              <a:t>O</a:t>
            </a:r>
            <a:r>
              <a:rPr lang="en-US" altLang="en-US" sz="1600" baseline="30000" dirty="0">
                <a:latin typeface="Corbel" panose="020B0503020204020204" pitchFamily="34" charset="0"/>
              </a:rPr>
              <a:t>+</a:t>
            </a:r>
            <a:r>
              <a:rPr lang="en-US" altLang="en-US" sz="1600" dirty="0">
                <a:latin typeface="Corbel" panose="020B0503020204020204" pitchFamily="34" charset="0"/>
                <a:cs typeface="Arial" panose="020B0604020202020204" pitchFamily="34" charset="0"/>
              </a:rPr>
              <a:t>][acetone]</a:t>
            </a:r>
          </a:p>
        </p:txBody>
      </p:sp>
      <p:sp>
        <p:nvSpPr>
          <p:cNvPr id="179257" name="AutoShape 57">
            <a:extLst>
              <a:ext uri="{FF2B5EF4-FFF2-40B4-BE49-F238E27FC236}">
                <a16:creationId xmlns:a16="http://schemas.microsoft.com/office/drawing/2014/main" id="{89DFD6E3-F6A7-8A90-CBA8-125FEC833F20}"/>
              </a:ext>
            </a:extLst>
          </p:cNvPr>
          <p:cNvSpPr>
            <a:spLocks noChangeArrowheads="1"/>
          </p:cNvSpPr>
          <p:nvPr/>
        </p:nvSpPr>
        <p:spPr bwMode="auto">
          <a:xfrm>
            <a:off x="3500438" y="819151"/>
            <a:ext cx="180975" cy="1343025"/>
          </a:xfrm>
          <a:prstGeom prst="upDownArrow">
            <a:avLst>
              <a:gd name="adj1" fmla="val 50000"/>
              <a:gd name="adj2" fmla="val 14842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latin typeface="Corbel" panose="020B0503020204020204" pitchFamily="34" charset="0"/>
            </a:endParaRPr>
          </a:p>
        </p:txBody>
      </p:sp>
      <p:sp>
        <p:nvSpPr>
          <p:cNvPr id="179258" name="AutoShape 58">
            <a:extLst>
              <a:ext uri="{FF2B5EF4-FFF2-40B4-BE49-F238E27FC236}">
                <a16:creationId xmlns:a16="http://schemas.microsoft.com/office/drawing/2014/main" id="{DF68EE8A-B942-0672-0948-3B1C4F4549F2}"/>
              </a:ext>
            </a:extLst>
          </p:cNvPr>
          <p:cNvSpPr>
            <a:spLocks noChangeArrowheads="1"/>
          </p:cNvSpPr>
          <p:nvPr/>
        </p:nvSpPr>
        <p:spPr bwMode="auto">
          <a:xfrm>
            <a:off x="5357812" y="714375"/>
            <a:ext cx="152400" cy="1219200"/>
          </a:xfrm>
          <a:prstGeom prst="upDownArrow">
            <a:avLst>
              <a:gd name="adj1" fmla="val 50000"/>
              <a:gd name="adj2" fmla="val 16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latin typeface="Corbel" panose="020B0503020204020204" pitchFamily="34"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a:extLst>
              <a:ext uri="{FF2B5EF4-FFF2-40B4-BE49-F238E27FC236}">
                <a16:creationId xmlns:a16="http://schemas.microsoft.com/office/drawing/2014/main" id="{9AE0D28C-960F-D6DA-AF34-BD1E28D78BCE}"/>
              </a:ext>
            </a:extLst>
          </p:cNvPr>
          <p:cNvSpPr>
            <a:spLocks noGrp="1" noChangeArrowheads="1"/>
          </p:cNvSpPr>
          <p:nvPr>
            <p:ph type="title"/>
          </p:nvPr>
        </p:nvSpPr>
        <p:spPr/>
        <p:txBody>
          <a:bodyPr>
            <a:normAutofit fontScale="90000"/>
          </a:bodyPr>
          <a:lstStyle/>
          <a:p>
            <a:r>
              <a:rPr lang="en-US" altLang="en-US"/>
              <a:t>Types of Catalysts - </a:t>
            </a:r>
            <a:r>
              <a:rPr lang="en-US" altLang="en-US" u="sng"/>
              <a:t>Enzymes</a:t>
            </a:r>
          </a:p>
        </p:txBody>
      </p:sp>
      <p:sp>
        <p:nvSpPr>
          <p:cNvPr id="177162" name="Rectangle 10">
            <a:extLst>
              <a:ext uri="{FF2B5EF4-FFF2-40B4-BE49-F238E27FC236}">
                <a16:creationId xmlns:a16="http://schemas.microsoft.com/office/drawing/2014/main" id="{5F111977-1D37-AC89-DB2F-DC416FBA7339}"/>
              </a:ext>
            </a:extLst>
          </p:cNvPr>
          <p:cNvSpPr>
            <a:spLocks noGrp="1" noChangeArrowheads="1"/>
          </p:cNvSpPr>
          <p:nvPr>
            <p:ph sz="half" idx="1"/>
          </p:nvPr>
        </p:nvSpPr>
        <p:spPr>
          <a:xfrm>
            <a:off x="5791200" y="403226"/>
            <a:ext cx="3124200" cy="4835525"/>
          </a:xfrm>
        </p:spPr>
        <p:txBody>
          <a:bodyPr/>
          <a:lstStyle/>
          <a:p>
            <a:pPr marL="228600" indent="-228600"/>
            <a:r>
              <a:rPr lang="en-US" altLang="en-US" sz="2000"/>
              <a:t>The “Gold Standard” of catalysts</a:t>
            </a:r>
          </a:p>
          <a:p>
            <a:pPr marL="228600" indent="-228600"/>
            <a:r>
              <a:rPr lang="en-US" altLang="en-US" sz="2000"/>
              <a:t>Highly specific</a:t>
            </a:r>
          </a:p>
          <a:p>
            <a:pPr marL="228600" indent="-228600"/>
            <a:r>
              <a:rPr lang="en-US" altLang="en-US" sz="2000"/>
              <a:t>Highly selective</a:t>
            </a:r>
          </a:p>
          <a:p>
            <a:pPr marL="228600" indent="-228600"/>
            <a:r>
              <a:rPr lang="en-US" altLang="en-US" sz="2000"/>
              <a:t>Highly efficient</a:t>
            </a:r>
          </a:p>
          <a:p>
            <a:pPr marL="228600" indent="-228600"/>
            <a:r>
              <a:rPr lang="en-US" altLang="en-US" sz="2000"/>
              <a:t>Catalyze very difficult reactions</a:t>
            </a:r>
          </a:p>
          <a:p>
            <a:pPr marL="571500" lvl="1" indent="-228600"/>
            <a:r>
              <a:rPr lang="en-US" altLang="en-US" sz="1800"/>
              <a:t>N</a:t>
            </a:r>
            <a:r>
              <a:rPr lang="en-US" altLang="en-US" sz="1800" baseline="-25000"/>
              <a:t>2</a:t>
            </a:r>
            <a:r>
              <a:rPr lang="en-US" altLang="en-US" sz="1800"/>
              <a:t> </a:t>
            </a:r>
            <a:r>
              <a:rPr lang="en-US" altLang="en-US" sz="1800">
                <a:sym typeface="Wingdings" pitchFamily="2" charset="2"/>
              </a:rPr>
              <a:t> NH</a:t>
            </a:r>
            <a:r>
              <a:rPr lang="en-US" altLang="en-US" sz="1800" baseline="-25000">
                <a:sym typeface="Wingdings" pitchFamily="2" charset="2"/>
              </a:rPr>
              <a:t>3</a:t>
            </a:r>
          </a:p>
          <a:p>
            <a:pPr marL="571500" lvl="1" indent="-228600"/>
            <a:r>
              <a:rPr lang="en-US" altLang="en-US" sz="1800">
                <a:sym typeface="Wingdings" pitchFamily="2" charset="2"/>
              </a:rPr>
              <a:t>CO</a:t>
            </a:r>
            <a:r>
              <a:rPr lang="en-US" altLang="en-US" sz="1800" baseline="-25000">
                <a:sym typeface="Wingdings" pitchFamily="2" charset="2"/>
              </a:rPr>
              <a:t>2</a:t>
            </a:r>
            <a:r>
              <a:rPr lang="en-US" altLang="en-US" sz="1800">
                <a:sym typeface="Wingdings" pitchFamily="2" charset="2"/>
              </a:rPr>
              <a:t> + H</a:t>
            </a:r>
            <a:r>
              <a:rPr lang="en-US" altLang="en-US" sz="1800" baseline="-25000">
                <a:sym typeface="Wingdings" pitchFamily="2" charset="2"/>
              </a:rPr>
              <a:t>2</a:t>
            </a:r>
            <a:r>
              <a:rPr lang="en-US" altLang="en-US" sz="1800">
                <a:sym typeface="Wingdings" pitchFamily="2" charset="2"/>
              </a:rPr>
              <a:t>O  C</a:t>
            </a:r>
            <a:r>
              <a:rPr lang="en-US" altLang="en-US" sz="1800" baseline="-25000">
                <a:sym typeface="Wingdings" pitchFamily="2" charset="2"/>
              </a:rPr>
              <a:t>6</a:t>
            </a:r>
            <a:r>
              <a:rPr lang="en-US" altLang="en-US" sz="1800">
                <a:sym typeface="Wingdings" pitchFamily="2" charset="2"/>
              </a:rPr>
              <a:t>H</a:t>
            </a:r>
            <a:r>
              <a:rPr lang="en-US" altLang="en-US" sz="1800" baseline="-25000">
                <a:sym typeface="Wingdings" pitchFamily="2" charset="2"/>
              </a:rPr>
              <a:t>12</a:t>
            </a:r>
            <a:r>
              <a:rPr lang="en-US" altLang="en-US" sz="1800">
                <a:sym typeface="Wingdings" pitchFamily="2" charset="2"/>
              </a:rPr>
              <a:t>O</a:t>
            </a:r>
            <a:r>
              <a:rPr lang="en-US" altLang="en-US" sz="1800" baseline="-25000">
                <a:sym typeface="Wingdings" pitchFamily="2" charset="2"/>
              </a:rPr>
              <a:t>6</a:t>
            </a:r>
          </a:p>
          <a:p>
            <a:pPr marL="571500" lvl="1" indent="-228600"/>
            <a:endParaRPr lang="en-US" altLang="en-US" sz="1800">
              <a:sym typeface="Wingdings" pitchFamily="2" charset="2"/>
            </a:endParaRPr>
          </a:p>
          <a:p>
            <a:pPr marL="228600" indent="-228600"/>
            <a:r>
              <a:rPr lang="en-US" altLang="en-US" sz="2000">
                <a:sym typeface="Wingdings" pitchFamily="2" charset="2"/>
              </a:rPr>
              <a:t>Works better in a cell than in a 100000 l reactor</a:t>
            </a:r>
          </a:p>
        </p:txBody>
      </p:sp>
      <p:sp>
        <p:nvSpPr>
          <p:cNvPr id="2" name="Date Placeholder 4">
            <a:extLst>
              <a:ext uri="{FF2B5EF4-FFF2-40B4-BE49-F238E27FC236}">
                <a16:creationId xmlns:a16="http://schemas.microsoft.com/office/drawing/2014/main" id="{0846C5D6-3B5D-30F8-E959-1E600F5AB8EC}"/>
              </a:ext>
            </a:extLst>
          </p:cNvPr>
          <p:cNvSpPr>
            <a:spLocks noGrp="1"/>
          </p:cNvSpPr>
          <p:nvPr>
            <p:ph type="dt" sz="half" idx="10"/>
          </p:nvPr>
        </p:nvSpPr>
        <p:spPr/>
        <p:txBody>
          <a:bodyPr/>
          <a:lstStyle/>
          <a:p>
            <a:r>
              <a:rPr lang="en-US" altLang="en-US"/>
              <a:t>W. F. Schneider</a:t>
            </a:r>
          </a:p>
        </p:txBody>
      </p:sp>
      <p:sp>
        <p:nvSpPr>
          <p:cNvPr id="3" name="Footer Placeholder 5">
            <a:extLst>
              <a:ext uri="{FF2B5EF4-FFF2-40B4-BE49-F238E27FC236}">
                <a16:creationId xmlns:a16="http://schemas.microsoft.com/office/drawing/2014/main" id="{8226907F-35F5-A855-7FA8-559EB19CCB78}"/>
              </a:ext>
            </a:extLst>
          </p:cNvPr>
          <p:cNvSpPr>
            <a:spLocks noGrp="1"/>
          </p:cNvSpPr>
          <p:nvPr>
            <p:ph type="ftr" sz="quarter" idx="11"/>
          </p:nvPr>
        </p:nvSpPr>
        <p:spPr/>
        <p:txBody>
          <a:bodyPr/>
          <a:lstStyle/>
          <a:p>
            <a:r>
              <a:rPr lang="en-US" altLang="en-US"/>
              <a:t>CBE 60546</a:t>
            </a:r>
          </a:p>
        </p:txBody>
      </p:sp>
      <p:pic>
        <p:nvPicPr>
          <p:cNvPr id="177156" name="Picture 4">
            <a:extLst>
              <a:ext uri="{FF2B5EF4-FFF2-40B4-BE49-F238E27FC236}">
                <a16:creationId xmlns:a16="http://schemas.microsoft.com/office/drawing/2014/main" id="{2EF13D7E-E665-FD33-5F96-50503BBAB5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813" y="1200150"/>
            <a:ext cx="228600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7158" name="Rectangle 6">
            <a:extLst>
              <a:ext uri="{FF2B5EF4-FFF2-40B4-BE49-F238E27FC236}">
                <a16:creationId xmlns:a16="http://schemas.microsoft.com/office/drawing/2014/main" id="{579B4170-8316-0341-53D7-0795DD6E9B6B}"/>
              </a:ext>
            </a:extLst>
          </p:cNvPr>
          <p:cNvSpPr>
            <a:spLocks noChangeArrowheads="1"/>
          </p:cNvSpPr>
          <p:nvPr/>
        </p:nvSpPr>
        <p:spPr bwMode="auto">
          <a:xfrm>
            <a:off x="345694" y="3528904"/>
            <a:ext cx="286302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en-US" b="1">
                <a:latin typeface="Corbel" panose="020B0503020204020204" pitchFamily="34" charset="0"/>
              </a:rPr>
              <a:t>Triosephosphateisomerase</a:t>
            </a:r>
          </a:p>
          <a:p>
            <a:pPr algn="ctr"/>
            <a:r>
              <a:rPr lang="en-US" altLang="en-US" sz="1800">
                <a:latin typeface="Corbel" panose="020B0503020204020204" pitchFamily="34" charset="0"/>
              </a:rPr>
              <a:t>“TIM”</a:t>
            </a:r>
          </a:p>
        </p:txBody>
      </p:sp>
      <p:pic>
        <p:nvPicPr>
          <p:cNvPr id="177159" name="Picture 7">
            <a:extLst>
              <a:ext uri="{FF2B5EF4-FFF2-40B4-BE49-F238E27FC236}">
                <a16:creationId xmlns:a16="http://schemas.microsoft.com/office/drawing/2014/main" id="{6EC12537-9051-7769-EC95-8601C209D0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1" y="666750"/>
            <a:ext cx="2257425" cy="329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7160" name="Rectangle 8">
            <a:extLst>
              <a:ext uri="{FF2B5EF4-FFF2-40B4-BE49-F238E27FC236}">
                <a16:creationId xmlns:a16="http://schemas.microsoft.com/office/drawing/2014/main" id="{1CC29894-B22B-156C-B230-B332E60AFED0}"/>
              </a:ext>
            </a:extLst>
          </p:cNvPr>
          <p:cNvSpPr>
            <a:spLocks noChangeArrowheads="1"/>
          </p:cNvSpPr>
          <p:nvPr/>
        </p:nvSpPr>
        <p:spPr bwMode="auto">
          <a:xfrm>
            <a:off x="3312786" y="4063484"/>
            <a:ext cx="242476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en-US" b="1">
                <a:latin typeface="Corbel" panose="020B0503020204020204" pitchFamily="34" charset="0"/>
              </a:rPr>
              <a:t>Cytochrome C Oxidase</a:t>
            </a:r>
            <a:endParaRPr lang="en-US" altLang="en-US" sz="1800">
              <a:latin typeface="Corbel" panose="020B0503020204020204" pitchFamily="34" charset="0"/>
            </a:endParaRPr>
          </a:p>
        </p:txBody>
      </p:sp>
      <p:sp>
        <p:nvSpPr>
          <p:cNvPr id="177163" name="Text Box 11">
            <a:extLst>
              <a:ext uri="{FF2B5EF4-FFF2-40B4-BE49-F238E27FC236}">
                <a16:creationId xmlns:a16="http://schemas.microsoft.com/office/drawing/2014/main" id="{481D3EBD-42E3-FD2A-AF58-334776BA9762}"/>
              </a:ext>
            </a:extLst>
          </p:cNvPr>
          <p:cNvSpPr txBox="1">
            <a:spLocks noChangeArrowheads="1"/>
          </p:cNvSpPr>
          <p:nvPr/>
        </p:nvSpPr>
        <p:spPr bwMode="auto">
          <a:xfrm>
            <a:off x="1158408" y="4248150"/>
            <a:ext cx="286649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latin typeface="Corbel" panose="020B0503020204020204" pitchFamily="34" charset="0"/>
              </a:rPr>
              <a:t>Highly tailored “active sites”</a:t>
            </a:r>
          </a:p>
          <a:p>
            <a:r>
              <a:rPr lang="en-US" altLang="en-US" dirty="0">
                <a:latin typeface="Corbel" panose="020B0503020204020204" pitchFamily="34" charset="0"/>
              </a:rPr>
              <a:t>Often contain metal atoms</a:t>
            </a:r>
          </a:p>
        </p:txBody>
      </p:sp>
      <p:sp>
        <p:nvSpPr>
          <p:cNvPr id="177165" name="Arc 13">
            <a:extLst>
              <a:ext uri="{FF2B5EF4-FFF2-40B4-BE49-F238E27FC236}">
                <a16:creationId xmlns:a16="http://schemas.microsoft.com/office/drawing/2014/main" id="{54B73676-E4F6-A87E-FD3B-6E2B843DBB95}"/>
              </a:ext>
            </a:extLst>
          </p:cNvPr>
          <p:cNvSpPr>
            <a:spLocks/>
          </p:cNvSpPr>
          <p:nvPr/>
        </p:nvSpPr>
        <p:spPr bwMode="auto">
          <a:xfrm flipH="1">
            <a:off x="304800" y="2190750"/>
            <a:ext cx="1066800" cy="2667000"/>
          </a:xfrm>
          <a:custGeom>
            <a:avLst/>
            <a:gdLst>
              <a:gd name="G0" fmla="+- 0 0 0"/>
              <a:gd name="G1" fmla="+- 21600 0 0"/>
              <a:gd name="G2" fmla="+- 21600 0 0"/>
              <a:gd name="T0" fmla="*/ 0 w 21600"/>
              <a:gd name="T1" fmla="*/ 0 h 42774"/>
              <a:gd name="T2" fmla="*/ 4269 w 21600"/>
              <a:gd name="T3" fmla="*/ 42774 h 42774"/>
              <a:gd name="T4" fmla="*/ 0 w 21600"/>
              <a:gd name="T5" fmla="*/ 21600 h 42774"/>
            </a:gdLst>
            <a:ahLst/>
            <a:cxnLst>
              <a:cxn ang="0">
                <a:pos x="T0" y="T1"/>
              </a:cxn>
              <a:cxn ang="0">
                <a:pos x="T2" y="T3"/>
              </a:cxn>
              <a:cxn ang="0">
                <a:pos x="T4" y="T5"/>
              </a:cxn>
            </a:cxnLst>
            <a:rect l="0" t="0" r="r" b="b"/>
            <a:pathLst>
              <a:path w="21600" h="42774" fill="none" extrusionOk="0">
                <a:moveTo>
                  <a:pt x="0" y="0"/>
                </a:moveTo>
                <a:cubicBezTo>
                  <a:pt x="11929" y="0"/>
                  <a:pt x="21600" y="9670"/>
                  <a:pt x="21600" y="21600"/>
                </a:cubicBezTo>
                <a:cubicBezTo>
                  <a:pt x="21600" y="31883"/>
                  <a:pt x="14349" y="40741"/>
                  <a:pt x="4268" y="42773"/>
                </a:cubicBezTo>
              </a:path>
              <a:path w="21600" h="42774" stroke="0" extrusionOk="0">
                <a:moveTo>
                  <a:pt x="0" y="0"/>
                </a:moveTo>
                <a:cubicBezTo>
                  <a:pt x="11929" y="0"/>
                  <a:pt x="21600" y="9670"/>
                  <a:pt x="21600" y="21600"/>
                </a:cubicBezTo>
                <a:cubicBezTo>
                  <a:pt x="21600" y="31883"/>
                  <a:pt x="14349" y="40741"/>
                  <a:pt x="4268" y="42773"/>
                </a:cubicBezTo>
                <a:lnTo>
                  <a:pt x="0" y="21600"/>
                </a:lnTo>
                <a:close/>
              </a:path>
            </a:pathLst>
          </a:custGeom>
          <a:noFill/>
          <a:ln w="15875">
            <a:solidFill>
              <a:srgbClr val="FFFF00"/>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7166" name="Arc 14">
            <a:extLst>
              <a:ext uri="{FF2B5EF4-FFF2-40B4-BE49-F238E27FC236}">
                <a16:creationId xmlns:a16="http://schemas.microsoft.com/office/drawing/2014/main" id="{3898D140-655B-E5AE-821E-A78609322CEB}"/>
              </a:ext>
            </a:extLst>
          </p:cNvPr>
          <p:cNvSpPr>
            <a:spLocks/>
          </p:cNvSpPr>
          <p:nvPr/>
        </p:nvSpPr>
        <p:spPr bwMode="auto">
          <a:xfrm>
            <a:off x="3276600" y="2571750"/>
            <a:ext cx="1447800" cy="2286000"/>
          </a:xfrm>
          <a:custGeom>
            <a:avLst/>
            <a:gdLst>
              <a:gd name="G0" fmla="+- 0 0 0"/>
              <a:gd name="G1" fmla="+- 4237 0 0"/>
              <a:gd name="G2" fmla="+- 21600 0 0"/>
              <a:gd name="T0" fmla="*/ 21180 w 21600"/>
              <a:gd name="T1" fmla="*/ 0 h 25411"/>
              <a:gd name="T2" fmla="*/ 4269 w 21600"/>
              <a:gd name="T3" fmla="*/ 25411 h 25411"/>
              <a:gd name="T4" fmla="*/ 0 w 21600"/>
              <a:gd name="T5" fmla="*/ 4237 h 25411"/>
            </a:gdLst>
            <a:ahLst/>
            <a:cxnLst>
              <a:cxn ang="0">
                <a:pos x="T0" y="T1"/>
              </a:cxn>
              <a:cxn ang="0">
                <a:pos x="T2" y="T3"/>
              </a:cxn>
              <a:cxn ang="0">
                <a:pos x="T4" y="T5"/>
              </a:cxn>
            </a:cxnLst>
            <a:rect l="0" t="0" r="r" b="b"/>
            <a:pathLst>
              <a:path w="21600" h="25411" fill="none" extrusionOk="0">
                <a:moveTo>
                  <a:pt x="21180" y="-1"/>
                </a:moveTo>
                <a:cubicBezTo>
                  <a:pt x="21459" y="1395"/>
                  <a:pt x="21600" y="2814"/>
                  <a:pt x="21600" y="4237"/>
                </a:cubicBezTo>
                <a:cubicBezTo>
                  <a:pt x="21600" y="14520"/>
                  <a:pt x="14349" y="23378"/>
                  <a:pt x="4268" y="25410"/>
                </a:cubicBezTo>
              </a:path>
              <a:path w="21600" h="25411" stroke="0" extrusionOk="0">
                <a:moveTo>
                  <a:pt x="21180" y="-1"/>
                </a:moveTo>
                <a:cubicBezTo>
                  <a:pt x="21459" y="1395"/>
                  <a:pt x="21600" y="2814"/>
                  <a:pt x="21600" y="4237"/>
                </a:cubicBezTo>
                <a:cubicBezTo>
                  <a:pt x="21600" y="14520"/>
                  <a:pt x="14349" y="23378"/>
                  <a:pt x="4268" y="25410"/>
                </a:cubicBezTo>
                <a:lnTo>
                  <a:pt x="0" y="4237"/>
                </a:lnTo>
                <a:close/>
              </a:path>
            </a:pathLst>
          </a:custGeom>
          <a:noFill/>
          <a:ln w="15875">
            <a:solidFill>
              <a:srgbClr val="FFFF00"/>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6" name="Rectangle 4">
            <a:extLst>
              <a:ext uri="{FF2B5EF4-FFF2-40B4-BE49-F238E27FC236}">
                <a16:creationId xmlns:a16="http://schemas.microsoft.com/office/drawing/2014/main" id="{A83D4B7D-38FA-6FEF-A54C-C5C9E10E6B3C}"/>
              </a:ext>
            </a:extLst>
          </p:cNvPr>
          <p:cNvSpPr>
            <a:spLocks noGrp="1" noChangeArrowheads="1"/>
          </p:cNvSpPr>
          <p:nvPr>
            <p:ph type="title"/>
          </p:nvPr>
        </p:nvSpPr>
        <p:spPr/>
        <p:txBody>
          <a:bodyPr>
            <a:normAutofit fontScale="90000"/>
          </a:bodyPr>
          <a:lstStyle/>
          <a:p>
            <a:r>
              <a:rPr lang="en-US" altLang="en-US" dirty="0"/>
              <a:t>Types of Catalysts – </a:t>
            </a:r>
            <a:r>
              <a:rPr lang="en-US" altLang="en-US" u="sng" dirty="0"/>
              <a:t>Organometallics</a:t>
            </a:r>
          </a:p>
        </p:txBody>
      </p:sp>
      <p:sp>
        <p:nvSpPr>
          <p:cNvPr id="4" name="Content Placeholder 3">
            <a:extLst>
              <a:ext uri="{FF2B5EF4-FFF2-40B4-BE49-F238E27FC236}">
                <a16:creationId xmlns:a16="http://schemas.microsoft.com/office/drawing/2014/main" id="{AF0EE27B-30E0-10D6-EC52-B95452B4813E}"/>
              </a:ext>
            </a:extLst>
          </p:cNvPr>
          <p:cNvSpPr>
            <a:spLocks noGrp="1"/>
          </p:cNvSpPr>
          <p:nvPr>
            <p:ph idx="1"/>
          </p:nvPr>
        </p:nvSpPr>
        <p:spPr>
          <a:xfrm>
            <a:off x="5845175" y="759065"/>
            <a:ext cx="3086100" cy="3851588"/>
          </a:xfrm>
        </p:spPr>
        <p:txBody>
          <a:bodyPr>
            <a:normAutofit fontScale="70000" lnSpcReduction="20000"/>
          </a:bodyPr>
          <a:lstStyle/>
          <a:p>
            <a:r>
              <a:rPr lang="en-US" altLang="en-US" sz="2400" dirty="0"/>
              <a:t>Perhaps closest man has come to mimicking nature’s success</a:t>
            </a:r>
          </a:p>
          <a:p>
            <a:r>
              <a:rPr lang="en-US" altLang="en-US" sz="2400" dirty="0"/>
              <a:t>2005 Noble Prize in Chemistry</a:t>
            </a:r>
          </a:p>
          <a:p>
            <a:r>
              <a:rPr lang="en-US" altLang="en-US" sz="2400" dirty="0"/>
              <a:t>Well-defined, metal-based active sites</a:t>
            </a:r>
          </a:p>
          <a:p>
            <a:r>
              <a:rPr lang="en-US" altLang="en-US" sz="2400" dirty="0"/>
              <a:t>Selective, efficient manipulation of organic functional groups</a:t>
            </a:r>
          </a:p>
          <a:p>
            <a:r>
              <a:rPr lang="en-US" altLang="en-US" sz="2400" dirty="0"/>
              <a:t>Various forms, especially for polymerization catalysis</a:t>
            </a:r>
          </a:p>
          <a:p>
            <a:pPr>
              <a:buNone/>
            </a:pPr>
            <a:endParaRPr lang="en-US" altLang="en-US" sz="2400" dirty="0">
              <a:sym typeface="Wingdings" pitchFamily="2" charset="2"/>
            </a:endParaRPr>
          </a:p>
          <a:p>
            <a:r>
              <a:rPr lang="en-US" altLang="en-US" sz="2400" dirty="0">
                <a:sym typeface="Wingdings" pitchFamily="2" charset="2"/>
              </a:rPr>
              <a:t>Difficult to generalize beyond organic transformations</a:t>
            </a:r>
          </a:p>
          <a:p>
            <a:endParaRPr lang="en-US" dirty="0"/>
          </a:p>
        </p:txBody>
      </p:sp>
      <p:sp>
        <p:nvSpPr>
          <p:cNvPr id="2" name="Date Placeholder 2">
            <a:extLst>
              <a:ext uri="{FF2B5EF4-FFF2-40B4-BE49-F238E27FC236}">
                <a16:creationId xmlns:a16="http://schemas.microsoft.com/office/drawing/2014/main" id="{096633B7-9081-F071-9326-AFD2DB10AA37}"/>
              </a:ext>
            </a:extLst>
          </p:cNvPr>
          <p:cNvSpPr>
            <a:spLocks noGrp="1"/>
          </p:cNvSpPr>
          <p:nvPr>
            <p:ph type="dt" sz="half" idx="10"/>
          </p:nvPr>
        </p:nvSpPr>
        <p:spPr/>
        <p:txBody>
          <a:bodyPr/>
          <a:lstStyle/>
          <a:p>
            <a:r>
              <a:rPr lang="en-US" altLang="en-US"/>
              <a:t>W. F. Schneider</a:t>
            </a:r>
          </a:p>
        </p:txBody>
      </p:sp>
      <p:sp>
        <p:nvSpPr>
          <p:cNvPr id="3" name="Footer Placeholder 3">
            <a:extLst>
              <a:ext uri="{FF2B5EF4-FFF2-40B4-BE49-F238E27FC236}">
                <a16:creationId xmlns:a16="http://schemas.microsoft.com/office/drawing/2014/main" id="{6B96AB21-531F-FE57-57C6-96E7E401D30A}"/>
              </a:ext>
            </a:extLst>
          </p:cNvPr>
          <p:cNvSpPr>
            <a:spLocks noGrp="1"/>
          </p:cNvSpPr>
          <p:nvPr>
            <p:ph type="ftr" sz="quarter" idx="11"/>
          </p:nvPr>
        </p:nvSpPr>
        <p:spPr/>
        <p:txBody>
          <a:bodyPr/>
          <a:lstStyle/>
          <a:p>
            <a:r>
              <a:rPr lang="en-US" altLang="en-US"/>
              <a:t>CBE 60546</a:t>
            </a:r>
          </a:p>
        </p:txBody>
      </p:sp>
      <p:pic>
        <p:nvPicPr>
          <p:cNvPr id="187400" name="Picture 8">
            <a:extLst>
              <a:ext uri="{FF2B5EF4-FFF2-40B4-BE49-F238E27FC236}">
                <a16:creationId xmlns:a16="http://schemas.microsoft.com/office/drawing/2014/main" id="{B873C504-D29B-33E0-DD55-14997EAD83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33968"/>
          <a:stretch>
            <a:fillRect/>
          </a:stretch>
        </p:blipFill>
        <p:spPr bwMode="auto">
          <a:xfrm>
            <a:off x="512991" y="906147"/>
            <a:ext cx="4894034" cy="1814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7402" name="Picture 10">
            <a:extLst>
              <a:ext uri="{FF2B5EF4-FFF2-40B4-BE49-F238E27FC236}">
                <a16:creationId xmlns:a16="http://schemas.microsoft.com/office/drawing/2014/main" id="{35803A8E-98AA-023E-57DB-FE247B857CC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60164"/>
          <a:stretch>
            <a:fillRect/>
          </a:stretch>
        </p:blipFill>
        <p:spPr bwMode="auto">
          <a:xfrm>
            <a:off x="1100138" y="3122613"/>
            <a:ext cx="4682500" cy="1114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7403" name="Text Box 11">
            <a:extLst>
              <a:ext uri="{FF2B5EF4-FFF2-40B4-BE49-F238E27FC236}">
                <a16:creationId xmlns:a16="http://schemas.microsoft.com/office/drawing/2014/main" id="{194482AB-E2A8-0DC2-F49A-FF96014B929E}"/>
              </a:ext>
            </a:extLst>
          </p:cNvPr>
          <p:cNvSpPr txBox="1">
            <a:spLocks noChangeArrowheads="1"/>
          </p:cNvSpPr>
          <p:nvPr/>
        </p:nvSpPr>
        <p:spPr bwMode="auto">
          <a:xfrm>
            <a:off x="212725" y="3421063"/>
            <a:ext cx="8711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solidFill>
                  <a:srgbClr val="009900"/>
                </a:solidFill>
              </a:rPr>
              <a:t>ROMP</a:t>
            </a:r>
            <a:r>
              <a:rPr lang="en-US" altLang="en-US" dirty="0"/>
              <a:t>:</a:t>
            </a:r>
          </a:p>
        </p:txBody>
      </p:sp>
      <p:sp>
        <p:nvSpPr>
          <p:cNvPr id="187405" name="Rectangle 13">
            <a:extLst>
              <a:ext uri="{FF2B5EF4-FFF2-40B4-BE49-F238E27FC236}">
                <a16:creationId xmlns:a16="http://schemas.microsoft.com/office/drawing/2014/main" id="{FE9FFCEC-7705-5D27-90F3-3DF81F81FCB7}"/>
              </a:ext>
            </a:extLst>
          </p:cNvPr>
          <p:cNvSpPr>
            <a:spLocks noChangeArrowheads="1"/>
          </p:cNvSpPr>
          <p:nvPr/>
        </p:nvSpPr>
        <p:spPr bwMode="auto">
          <a:xfrm>
            <a:off x="1066800" y="2876549"/>
            <a:ext cx="4800600" cy="1666712"/>
          </a:xfrm>
          <a:prstGeom prst="rect">
            <a:avLst/>
          </a:prstGeom>
          <a:noFill/>
          <a:ln w="19050">
            <a:solidFill>
              <a:srgbClr val="008000"/>
            </a:solidFill>
            <a:miter lim="800000"/>
            <a:headEnd/>
            <a:tailEnd/>
          </a:ln>
          <a:effectLst/>
          <a:extLst>
            <a:ext uri="{909E8E84-426E-40DD-AFC4-6F175D3DCCD1}">
              <a14:hiddenFill xmlns:a14="http://schemas.microsoft.com/office/drawing/2010/main">
                <a:solidFill>
                  <a:srgbClr val="339966">
                    <a:alpha val="25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8" name="Rectangle 4">
            <a:extLst>
              <a:ext uri="{FF2B5EF4-FFF2-40B4-BE49-F238E27FC236}">
                <a16:creationId xmlns:a16="http://schemas.microsoft.com/office/drawing/2014/main" id="{782356F1-FFAE-E942-A3B0-985B3ADB180C}"/>
              </a:ext>
            </a:extLst>
          </p:cNvPr>
          <p:cNvSpPr>
            <a:spLocks noGrp="1" noChangeArrowheads="1"/>
          </p:cNvSpPr>
          <p:nvPr>
            <p:ph type="title"/>
          </p:nvPr>
        </p:nvSpPr>
        <p:spPr/>
        <p:txBody>
          <a:bodyPr>
            <a:normAutofit fontScale="90000"/>
          </a:bodyPr>
          <a:lstStyle/>
          <a:p>
            <a:r>
              <a:rPr lang="en-US" altLang="en-US" u="sng" dirty="0"/>
              <a:t>Homogeneous vs. Heterogeneous </a:t>
            </a:r>
            <a:r>
              <a:rPr lang="en-US" altLang="en-US" dirty="0"/>
              <a:t>Catalysts</a:t>
            </a:r>
          </a:p>
        </p:txBody>
      </p:sp>
      <p:sp>
        <p:nvSpPr>
          <p:cNvPr id="2" name="Date Placeholder 2">
            <a:extLst>
              <a:ext uri="{FF2B5EF4-FFF2-40B4-BE49-F238E27FC236}">
                <a16:creationId xmlns:a16="http://schemas.microsoft.com/office/drawing/2014/main" id="{308529F6-4B4D-92C8-364D-D8E636BCAF03}"/>
              </a:ext>
            </a:extLst>
          </p:cNvPr>
          <p:cNvSpPr>
            <a:spLocks noGrp="1"/>
          </p:cNvSpPr>
          <p:nvPr>
            <p:ph type="dt" sz="half" idx="10"/>
          </p:nvPr>
        </p:nvSpPr>
        <p:spPr/>
        <p:txBody>
          <a:bodyPr/>
          <a:lstStyle/>
          <a:p>
            <a:r>
              <a:rPr lang="en-US" altLang="en-US"/>
              <a:t>W. F. Schneider</a:t>
            </a:r>
          </a:p>
        </p:txBody>
      </p:sp>
      <p:sp>
        <p:nvSpPr>
          <p:cNvPr id="3" name="Footer Placeholder 3">
            <a:extLst>
              <a:ext uri="{FF2B5EF4-FFF2-40B4-BE49-F238E27FC236}">
                <a16:creationId xmlns:a16="http://schemas.microsoft.com/office/drawing/2014/main" id="{D9AAE45F-E210-501D-6689-F71BC3F83665}"/>
              </a:ext>
            </a:extLst>
          </p:cNvPr>
          <p:cNvSpPr>
            <a:spLocks noGrp="1"/>
          </p:cNvSpPr>
          <p:nvPr>
            <p:ph type="ftr" sz="quarter" idx="11"/>
          </p:nvPr>
        </p:nvSpPr>
        <p:spPr/>
        <p:txBody>
          <a:bodyPr/>
          <a:lstStyle/>
          <a:p>
            <a:r>
              <a:rPr lang="en-US" altLang="en-US"/>
              <a:t>CBE 60546</a:t>
            </a:r>
          </a:p>
        </p:txBody>
      </p:sp>
      <p:pic>
        <p:nvPicPr>
          <p:cNvPr id="190469" name="Picture 5">
            <a:extLst>
              <a:ext uri="{FF2B5EF4-FFF2-40B4-BE49-F238E27FC236}">
                <a16:creationId xmlns:a16="http://schemas.microsoft.com/office/drawing/2014/main" id="{FDBFC113-6DB1-DB90-0EDE-09177D0266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020764"/>
            <a:ext cx="1931988" cy="1931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0470" name="Picture 6">
            <a:extLst>
              <a:ext uri="{FF2B5EF4-FFF2-40B4-BE49-F238E27FC236}">
                <a16:creationId xmlns:a16="http://schemas.microsoft.com/office/drawing/2014/main" id="{BD8A56B6-EB5E-B1B7-3998-C184817AF0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69231" t="11418" r="5128" b="49762"/>
          <a:stretch>
            <a:fillRect/>
          </a:stretch>
        </p:blipFill>
        <p:spPr bwMode="auto">
          <a:xfrm>
            <a:off x="2590800" y="1352550"/>
            <a:ext cx="15240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0471" name="Line 7">
            <a:extLst>
              <a:ext uri="{FF2B5EF4-FFF2-40B4-BE49-F238E27FC236}">
                <a16:creationId xmlns:a16="http://schemas.microsoft.com/office/drawing/2014/main" id="{FE14FAD6-B56D-D8A5-43FD-6C1357F0EE7D}"/>
              </a:ext>
            </a:extLst>
          </p:cNvPr>
          <p:cNvSpPr>
            <a:spLocks noChangeShapeType="1"/>
          </p:cNvSpPr>
          <p:nvPr/>
        </p:nvSpPr>
        <p:spPr bwMode="auto">
          <a:xfrm>
            <a:off x="4267200" y="133350"/>
            <a:ext cx="0" cy="42672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0472" name="Line 8">
            <a:extLst>
              <a:ext uri="{FF2B5EF4-FFF2-40B4-BE49-F238E27FC236}">
                <a16:creationId xmlns:a16="http://schemas.microsoft.com/office/drawing/2014/main" id="{C5D4C018-37D1-4D7C-A476-1C2123A323FE}"/>
              </a:ext>
            </a:extLst>
          </p:cNvPr>
          <p:cNvSpPr>
            <a:spLocks noChangeShapeType="1"/>
          </p:cNvSpPr>
          <p:nvPr/>
        </p:nvSpPr>
        <p:spPr bwMode="auto">
          <a:xfrm flipH="1">
            <a:off x="3124200" y="3943350"/>
            <a:ext cx="990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0473" name="Text Box 9">
            <a:extLst>
              <a:ext uri="{FF2B5EF4-FFF2-40B4-BE49-F238E27FC236}">
                <a16:creationId xmlns:a16="http://schemas.microsoft.com/office/drawing/2014/main" id="{901038CC-2512-55F0-58D0-2D663DF99C8A}"/>
              </a:ext>
            </a:extLst>
          </p:cNvPr>
          <p:cNvSpPr txBox="1">
            <a:spLocks noChangeArrowheads="1"/>
          </p:cNvSpPr>
          <p:nvPr/>
        </p:nvSpPr>
        <p:spPr bwMode="auto">
          <a:xfrm>
            <a:off x="711447" y="3181350"/>
            <a:ext cx="211949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600" i="1" u="sng" dirty="0">
                <a:latin typeface="Corbel" panose="020B0503020204020204" pitchFamily="34" charset="0"/>
              </a:rPr>
              <a:t>Homogeneous catalysis</a:t>
            </a:r>
          </a:p>
          <a:p>
            <a:pPr algn="ctr"/>
            <a:r>
              <a:rPr lang="en-US" altLang="en-US" sz="1600" dirty="0">
                <a:latin typeface="Corbel" panose="020B0503020204020204" pitchFamily="34" charset="0"/>
              </a:rPr>
              <a:t>Single phase</a:t>
            </a:r>
          </a:p>
          <a:p>
            <a:pPr algn="ctr"/>
            <a:r>
              <a:rPr lang="en-US" altLang="en-US" sz="1600" dirty="0">
                <a:latin typeface="Corbel" panose="020B0503020204020204" pitchFamily="34" charset="0"/>
              </a:rPr>
              <a:t>(Typically liquid)</a:t>
            </a:r>
          </a:p>
          <a:p>
            <a:pPr algn="ctr"/>
            <a:r>
              <a:rPr lang="en-US" altLang="en-US" sz="1600" dirty="0">
                <a:latin typeface="Corbel" panose="020B0503020204020204" pitchFamily="34" charset="0"/>
              </a:rPr>
              <a:t>Low temperature</a:t>
            </a:r>
          </a:p>
          <a:p>
            <a:pPr algn="ctr"/>
            <a:r>
              <a:rPr lang="en-US" altLang="en-US" sz="1600" dirty="0">
                <a:latin typeface="Corbel" panose="020B0503020204020204" pitchFamily="34" charset="0"/>
              </a:rPr>
              <a:t>Separations are tricky</a:t>
            </a:r>
          </a:p>
        </p:txBody>
      </p:sp>
      <p:pic>
        <p:nvPicPr>
          <p:cNvPr id="190474" name="Picture 10">
            <a:extLst>
              <a:ext uri="{FF2B5EF4-FFF2-40B4-BE49-F238E27FC236}">
                <a16:creationId xmlns:a16="http://schemas.microsoft.com/office/drawing/2014/main" id="{269090DD-529F-BD67-0C07-25BE6BCA46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19600" y="1200151"/>
            <a:ext cx="2057400" cy="156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0475" name="Line 11">
            <a:extLst>
              <a:ext uri="{FF2B5EF4-FFF2-40B4-BE49-F238E27FC236}">
                <a16:creationId xmlns:a16="http://schemas.microsoft.com/office/drawing/2014/main" id="{B69E226B-830C-65B9-BF65-CB4120598BCF}"/>
              </a:ext>
            </a:extLst>
          </p:cNvPr>
          <p:cNvSpPr>
            <a:spLocks noChangeShapeType="1"/>
          </p:cNvSpPr>
          <p:nvPr/>
        </p:nvSpPr>
        <p:spPr bwMode="auto">
          <a:xfrm>
            <a:off x="4495800" y="3943350"/>
            <a:ext cx="990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0476" name="Text Box 12">
            <a:extLst>
              <a:ext uri="{FF2B5EF4-FFF2-40B4-BE49-F238E27FC236}">
                <a16:creationId xmlns:a16="http://schemas.microsoft.com/office/drawing/2014/main" id="{22415AF7-9A84-5FBB-C711-EE5CFB4E79AD}"/>
              </a:ext>
            </a:extLst>
          </p:cNvPr>
          <p:cNvSpPr txBox="1">
            <a:spLocks noChangeArrowheads="1"/>
          </p:cNvSpPr>
          <p:nvPr/>
        </p:nvSpPr>
        <p:spPr bwMode="auto">
          <a:xfrm>
            <a:off x="5624434" y="3224864"/>
            <a:ext cx="3026791"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600" i="1" u="sng" dirty="0">
                <a:latin typeface="Corbel" panose="020B0503020204020204" pitchFamily="34" charset="0"/>
              </a:rPr>
              <a:t>Heterogeneous catalysis</a:t>
            </a:r>
          </a:p>
          <a:p>
            <a:pPr algn="ctr"/>
            <a:r>
              <a:rPr lang="en-US" altLang="en-US" sz="1600" dirty="0">
                <a:latin typeface="Corbel" panose="020B0503020204020204" pitchFamily="34" charset="0"/>
              </a:rPr>
              <a:t>Multiphase</a:t>
            </a:r>
          </a:p>
          <a:p>
            <a:pPr algn="ctr"/>
            <a:r>
              <a:rPr lang="en-US" altLang="en-US" sz="1600" dirty="0">
                <a:latin typeface="Corbel" panose="020B0503020204020204" pitchFamily="34" charset="0"/>
              </a:rPr>
              <a:t>(Mostly solid-liquid and solid-gas)</a:t>
            </a:r>
          </a:p>
          <a:p>
            <a:pPr algn="ctr"/>
            <a:r>
              <a:rPr lang="en-US" altLang="en-US" sz="1600" dirty="0">
                <a:latin typeface="Corbel" panose="020B0503020204020204" pitchFamily="34" charset="0"/>
              </a:rPr>
              <a:t>High temperature</a:t>
            </a:r>
          </a:p>
          <a:p>
            <a:pPr algn="ctr"/>
            <a:r>
              <a:rPr lang="en-US" altLang="en-US" sz="1600" dirty="0">
                <a:latin typeface="Corbel" panose="020B0503020204020204" pitchFamily="34" charset="0"/>
              </a:rPr>
              <a:t>Design and optimization tricky</a:t>
            </a:r>
            <a:endParaRPr lang="en-US" altLang="en-US" dirty="0">
              <a:latin typeface="Corbel" panose="020B0503020204020204" pitchFamily="34" charset="0"/>
            </a:endParaRPr>
          </a:p>
        </p:txBody>
      </p:sp>
      <p:sp>
        <p:nvSpPr>
          <p:cNvPr id="190477" name="Text Box 13">
            <a:extLst>
              <a:ext uri="{FF2B5EF4-FFF2-40B4-BE49-F238E27FC236}">
                <a16:creationId xmlns:a16="http://schemas.microsoft.com/office/drawing/2014/main" id="{296FBBA2-AF01-52CF-6086-D61AEEEEB250}"/>
              </a:ext>
            </a:extLst>
          </p:cNvPr>
          <p:cNvSpPr txBox="1">
            <a:spLocks noChangeArrowheads="1"/>
          </p:cNvSpPr>
          <p:nvPr/>
        </p:nvSpPr>
        <p:spPr bwMode="auto">
          <a:xfrm>
            <a:off x="4724400" y="2876550"/>
            <a:ext cx="13668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Zeolite catalyst</a:t>
            </a:r>
          </a:p>
        </p:txBody>
      </p:sp>
      <p:pic>
        <p:nvPicPr>
          <p:cNvPr id="190478" name="Picture 14">
            <a:extLst>
              <a:ext uri="{FF2B5EF4-FFF2-40B4-BE49-F238E27FC236}">
                <a16:creationId xmlns:a16="http://schemas.microsoft.com/office/drawing/2014/main" id="{2A77F609-11F1-D389-E805-C9B22CAF0DD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0" y="1047751"/>
            <a:ext cx="2057400" cy="169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0479" name="Text Box 15">
            <a:extLst>
              <a:ext uri="{FF2B5EF4-FFF2-40B4-BE49-F238E27FC236}">
                <a16:creationId xmlns:a16="http://schemas.microsoft.com/office/drawing/2014/main" id="{0C5F7BFA-07E1-F73F-7A80-90B5987E0E99}"/>
              </a:ext>
            </a:extLst>
          </p:cNvPr>
          <p:cNvSpPr txBox="1">
            <a:spLocks noChangeArrowheads="1"/>
          </p:cNvSpPr>
          <p:nvPr/>
        </p:nvSpPr>
        <p:spPr bwMode="auto">
          <a:xfrm>
            <a:off x="7167564" y="2876550"/>
            <a:ext cx="15446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Catalyst powders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a:extLst>
              <a:ext uri="{FF2B5EF4-FFF2-40B4-BE49-F238E27FC236}">
                <a16:creationId xmlns:a16="http://schemas.microsoft.com/office/drawing/2014/main" id="{3FE2468F-BFD3-468D-A480-DFA0D21EFAB5}"/>
              </a:ext>
            </a:extLst>
          </p:cNvPr>
          <p:cNvSpPr>
            <a:spLocks noGrp="1" noChangeArrowheads="1"/>
          </p:cNvSpPr>
          <p:nvPr>
            <p:ph type="title"/>
          </p:nvPr>
        </p:nvSpPr>
        <p:spPr/>
        <p:txBody>
          <a:bodyPr>
            <a:normAutofit fontScale="90000"/>
          </a:bodyPr>
          <a:lstStyle/>
          <a:p>
            <a:r>
              <a:rPr lang="en-US" altLang="en-US" u="sng" dirty="0"/>
              <a:t>Microporous Catalysts</a:t>
            </a:r>
          </a:p>
        </p:txBody>
      </p:sp>
      <p:sp>
        <p:nvSpPr>
          <p:cNvPr id="195587" name="Rectangle 3">
            <a:extLst>
              <a:ext uri="{FF2B5EF4-FFF2-40B4-BE49-F238E27FC236}">
                <a16:creationId xmlns:a16="http://schemas.microsoft.com/office/drawing/2014/main" id="{CE361BE3-A889-64C5-D6CB-A32F2FCBEAB1}"/>
              </a:ext>
            </a:extLst>
          </p:cNvPr>
          <p:cNvSpPr>
            <a:spLocks noGrp="1" noChangeArrowheads="1"/>
          </p:cNvSpPr>
          <p:nvPr>
            <p:ph idx="1"/>
          </p:nvPr>
        </p:nvSpPr>
        <p:spPr>
          <a:xfrm>
            <a:off x="304800" y="711029"/>
            <a:ext cx="6248400" cy="2267649"/>
          </a:xfrm>
        </p:spPr>
        <p:txBody>
          <a:bodyPr>
            <a:normAutofit/>
          </a:bodyPr>
          <a:lstStyle/>
          <a:p>
            <a:pPr>
              <a:lnSpc>
                <a:spcPct val="80000"/>
              </a:lnSpc>
            </a:pPr>
            <a:r>
              <a:rPr lang="en-US" altLang="en-US" sz="2000" dirty="0"/>
              <a:t>Porous on the scale of molecular dimensions</a:t>
            </a:r>
          </a:p>
          <a:p>
            <a:pPr lvl="1">
              <a:lnSpc>
                <a:spcPct val="80000"/>
              </a:lnSpc>
            </a:pPr>
            <a:r>
              <a:rPr lang="en-US" altLang="en-US" sz="1800" dirty="0"/>
              <a:t>10 – 100 </a:t>
            </a:r>
            <a:r>
              <a:rPr lang="en-US" altLang="en-US" sz="1800" dirty="0" err="1">
                <a:cs typeface="Arial" panose="020B0604020202020204" pitchFamily="34" charset="0"/>
              </a:rPr>
              <a:t>Å</a:t>
            </a:r>
            <a:endParaRPr lang="en-US" altLang="en-US" sz="1800" dirty="0">
              <a:cs typeface="Arial" panose="020B0604020202020204" pitchFamily="34" charset="0"/>
            </a:endParaRPr>
          </a:p>
          <a:p>
            <a:pPr lvl="1">
              <a:lnSpc>
                <a:spcPct val="80000"/>
              </a:lnSpc>
            </a:pPr>
            <a:r>
              <a:rPr lang="en-US" altLang="en-US" sz="1800" dirty="0">
                <a:cs typeface="Arial" panose="020B0604020202020204" pitchFamily="34" charset="0"/>
              </a:rPr>
              <a:t>Up to 1000’s m</a:t>
            </a:r>
            <a:r>
              <a:rPr lang="en-US" altLang="en-US" sz="1800" baseline="30000" dirty="0">
                <a:cs typeface="Arial" panose="020B0604020202020204" pitchFamily="34" charset="0"/>
              </a:rPr>
              <a:t>2</a:t>
            </a:r>
            <a:r>
              <a:rPr lang="en-US" altLang="en-US" sz="1800" dirty="0">
                <a:cs typeface="Arial" panose="020B0604020202020204" pitchFamily="34" charset="0"/>
              </a:rPr>
              <a:t>/g surface area</a:t>
            </a:r>
          </a:p>
          <a:p>
            <a:pPr>
              <a:lnSpc>
                <a:spcPct val="80000"/>
              </a:lnSpc>
            </a:pPr>
            <a:r>
              <a:rPr lang="en-US" altLang="en-US" sz="2000" dirty="0"/>
              <a:t>Catalysis through </a:t>
            </a:r>
          </a:p>
          <a:p>
            <a:pPr lvl="1">
              <a:lnSpc>
                <a:spcPct val="80000"/>
              </a:lnSpc>
            </a:pPr>
            <a:r>
              <a:rPr lang="en-US" altLang="en-US" sz="1800" dirty="0"/>
              <a:t>shape selection</a:t>
            </a:r>
          </a:p>
          <a:p>
            <a:pPr lvl="1">
              <a:lnSpc>
                <a:spcPct val="80000"/>
              </a:lnSpc>
            </a:pPr>
            <a:r>
              <a:rPr lang="en-US" altLang="en-US" sz="1800" dirty="0"/>
              <a:t>acidity/basicity</a:t>
            </a:r>
          </a:p>
          <a:p>
            <a:pPr lvl="1">
              <a:lnSpc>
                <a:spcPct val="80000"/>
              </a:lnSpc>
            </a:pPr>
            <a:r>
              <a:rPr lang="en-US" altLang="en-US" sz="1800" dirty="0"/>
              <a:t>incorporation of metal particles</a:t>
            </a:r>
          </a:p>
          <a:p>
            <a:pPr>
              <a:lnSpc>
                <a:spcPct val="80000"/>
              </a:lnSpc>
            </a:pPr>
            <a:endParaRPr lang="en-US" altLang="en-US" sz="2000" dirty="0"/>
          </a:p>
        </p:txBody>
      </p:sp>
      <p:sp>
        <p:nvSpPr>
          <p:cNvPr id="2" name="Date Placeholder 3">
            <a:extLst>
              <a:ext uri="{FF2B5EF4-FFF2-40B4-BE49-F238E27FC236}">
                <a16:creationId xmlns:a16="http://schemas.microsoft.com/office/drawing/2014/main" id="{AE309A5E-90E5-B1C6-8807-8DD9FD1BD051}"/>
              </a:ext>
            </a:extLst>
          </p:cNvPr>
          <p:cNvSpPr>
            <a:spLocks noGrp="1"/>
          </p:cNvSpPr>
          <p:nvPr>
            <p:ph type="dt" sz="half" idx="10"/>
          </p:nvPr>
        </p:nvSpPr>
        <p:spPr>
          <a:xfrm>
            <a:off x="1371600" y="4355551"/>
            <a:ext cx="2057400" cy="273844"/>
          </a:xfrm>
        </p:spPr>
        <p:txBody>
          <a:bodyPr/>
          <a:lstStyle/>
          <a:p>
            <a:r>
              <a:rPr lang="en-US" altLang="en-US"/>
              <a:t>W. F. Schneider</a:t>
            </a:r>
          </a:p>
        </p:txBody>
      </p:sp>
      <p:sp>
        <p:nvSpPr>
          <p:cNvPr id="3" name="Footer Placeholder 4">
            <a:extLst>
              <a:ext uri="{FF2B5EF4-FFF2-40B4-BE49-F238E27FC236}">
                <a16:creationId xmlns:a16="http://schemas.microsoft.com/office/drawing/2014/main" id="{A62BF2EC-1FDC-6391-D5FD-ECC8C2CEEF96}"/>
              </a:ext>
            </a:extLst>
          </p:cNvPr>
          <p:cNvSpPr>
            <a:spLocks noGrp="1"/>
          </p:cNvSpPr>
          <p:nvPr>
            <p:ph type="ftr" sz="quarter" idx="11"/>
          </p:nvPr>
        </p:nvSpPr>
        <p:spPr/>
        <p:txBody>
          <a:bodyPr/>
          <a:lstStyle/>
          <a:p>
            <a:r>
              <a:rPr lang="en-US" altLang="en-US"/>
              <a:t>CBE 60546</a:t>
            </a:r>
          </a:p>
        </p:txBody>
      </p:sp>
      <p:pic>
        <p:nvPicPr>
          <p:cNvPr id="195588" name="Picture 4">
            <a:extLst>
              <a:ext uri="{FF2B5EF4-FFF2-40B4-BE49-F238E27FC236}">
                <a16:creationId xmlns:a16="http://schemas.microsoft.com/office/drawing/2014/main" id="{BE0958C7-2532-0911-5706-72AE7A2392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8715" y="2800350"/>
            <a:ext cx="1856675" cy="1767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5589" name="Line 5">
            <a:extLst>
              <a:ext uri="{FF2B5EF4-FFF2-40B4-BE49-F238E27FC236}">
                <a16:creationId xmlns:a16="http://schemas.microsoft.com/office/drawing/2014/main" id="{923E76D2-6402-61ED-A410-D0E9001D53D6}"/>
              </a:ext>
            </a:extLst>
          </p:cNvPr>
          <p:cNvSpPr>
            <a:spLocks noChangeShapeType="1"/>
          </p:cNvSpPr>
          <p:nvPr/>
        </p:nvSpPr>
        <p:spPr bwMode="auto">
          <a:xfrm>
            <a:off x="2114550" y="3784051"/>
            <a:ext cx="381000" cy="0"/>
          </a:xfrm>
          <a:prstGeom prst="line">
            <a:avLst/>
          </a:prstGeom>
          <a:noFill/>
          <a:ln w="9525">
            <a:solidFill>
              <a:schemeClr val="bg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95591" name="Picture 7">
            <a:extLst>
              <a:ext uri="{FF2B5EF4-FFF2-40B4-BE49-F238E27FC236}">
                <a16:creationId xmlns:a16="http://schemas.microsoft.com/office/drawing/2014/main" id="{DBB55127-AB1D-CB64-E76A-57EB2D6FD1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0945" y="2669285"/>
            <a:ext cx="1984105" cy="1705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5592" name="Text Box 8">
            <a:extLst>
              <a:ext uri="{FF2B5EF4-FFF2-40B4-BE49-F238E27FC236}">
                <a16:creationId xmlns:a16="http://schemas.microsoft.com/office/drawing/2014/main" id="{E83272CE-CE9D-B875-A293-D6B500CF4F11}"/>
              </a:ext>
            </a:extLst>
          </p:cNvPr>
          <p:cNvSpPr txBox="1">
            <a:spLocks noChangeArrowheads="1"/>
          </p:cNvSpPr>
          <p:nvPr/>
        </p:nvSpPr>
        <p:spPr bwMode="auto">
          <a:xfrm>
            <a:off x="2038351" y="3479251"/>
            <a:ext cx="5492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chemeClr val="bg1"/>
                </a:solidFill>
              </a:rPr>
              <a:t>10 </a:t>
            </a:r>
            <a:r>
              <a:rPr lang="en-US" altLang="en-US">
                <a:solidFill>
                  <a:schemeClr val="bg1"/>
                </a:solidFill>
                <a:cs typeface="Arial" panose="020B0604020202020204" pitchFamily="34" charset="0"/>
              </a:rPr>
              <a:t>Å</a:t>
            </a:r>
          </a:p>
        </p:txBody>
      </p:sp>
      <p:sp>
        <p:nvSpPr>
          <p:cNvPr id="195593" name="Line 9">
            <a:extLst>
              <a:ext uri="{FF2B5EF4-FFF2-40B4-BE49-F238E27FC236}">
                <a16:creationId xmlns:a16="http://schemas.microsoft.com/office/drawing/2014/main" id="{C5214D40-FA41-66C8-4A45-BDAB682068BF}"/>
              </a:ext>
            </a:extLst>
          </p:cNvPr>
          <p:cNvSpPr>
            <a:spLocks noChangeShapeType="1"/>
          </p:cNvSpPr>
          <p:nvPr/>
        </p:nvSpPr>
        <p:spPr bwMode="auto">
          <a:xfrm>
            <a:off x="6191252" y="3155114"/>
            <a:ext cx="0" cy="9144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5594" name="Text Box 10">
            <a:extLst>
              <a:ext uri="{FF2B5EF4-FFF2-40B4-BE49-F238E27FC236}">
                <a16:creationId xmlns:a16="http://schemas.microsoft.com/office/drawing/2014/main" id="{5AA620C8-E9BD-571B-0123-95E793C65961}"/>
              </a:ext>
            </a:extLst>
          </p:cNvPr>
          <p:cNvSpPr txBox="1">
            <a:spLocks noChangeArrowheads="1"/>
          </p:cNvSpPr>
          <p:nvPr/>
        </p:nvSpPr>
        <p:spPr bwMode="auto">
          <a:xfrm>
            <a:off x="5446190" y="3383914"/>
            <a:ext cx="59195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Corbel" panose="020B0503020204020204" pitchFamily="34" charset="0"/>
              </a:rPr>
              <a:t>100 </a:t>
            </a:r>
            <a:r>
              <a:rPr lang="en-US" altLang="en-US" sz="1400" dirty="0" err="1">
                <a:latin typeface="Corbel" panose="020B0503020204020204" pitchFamily="34" charset="0"/>
                <a:cs typeface="Arial" panose="020B0604020202020204" pitchFamily="34" charset="0"/>
              </a:rPr>
              <a:t>Å</a:t>
            </a:r>
            <a:endParaRPr lang="en-US" altLang="en-US" sz="1400" dirty="0">
              <a:latin typeface="Corbel" panose="020B0503020204020204" pitchFamily="34" charset="0"/>
              <a:cs typeface="Arial" panose="020B0604020202020204" pitchFamily="34" charset="0"/>
            </a:endParaRPr>
          </a:p>
        </p:txBody>
      </p:sp>
      <p:sp>
        <p:nvSpPr>
          <p:cNvPr id="195596" name="Text Box 12">
            <a:extLst>
              <a:ext uri="{FF2B5EF4-FFF2-40B4-BE49-F238E27FC236}">
                <a16:creationId xmlns:a16="http://schemas.microsoft.com/office/drawing/2014/main" id="{AD8FF4F2-D1FF-46C2-BCD9-28EAE7EB7547}"/>
              </a:ext>
            </a:extLst>
          </p:cNvPr>
          <p:cNvSpPr txBox="1">
            <a:spLocks noChangeArrowheads="1"/>
          </p:cNvSpPr>
          <p:nvPr/>
        </p:nvSpPr>
        <p:spPr bwMode="auto">
          <a:xfrm>
            <a:off x="1443932" y="4017435"/>
            <a:ext cx="16462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sz="1400" dirty="0">
                <a:solidFill>
                  <a:schemeClr val="bg1"/>
                </a:solidFill>
              </a:rPr>
              <a:t>Zeolite (silica-aluminate)</a:t>
            </a:r>
          </a:p>
        </p:txBody>
      </p:sp>
      <p:sp>
        <p:nvSpPr>
          <p:cNvPr id="195599" name="Text Box 15">
            <a:extLst>
              <a:ext uri="{FF2B5EF4-FFF2-40B4-BE49-F238E27FC236}">
                <a16:creationId xmlns:a16="http://schemas.microsoft.com/office/drawing/2014/main" id="{FCAEB5F1-59E4-3A8D-D12B-A2C1BEA22A24}"/>
              </a:ext>
            </a:extLst>
          </p:cNvPr>
          <p:cNvSpPr txBox="1">
            <a:spLocks noChangeArrowheads="1"/>
          </p:cNvSpPr>
          <p:nvPr/>
        </p:nvSpPr>
        <p:spPr bwMode="auto">
          <a:xfrm>
            <a:off x="4098219" y="4264239"/>
            <a:ext cx="227966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Corbel" panose="020B0503020204020204" pitchFamily="34" charset="0"/>
              </a:rPr>
              <a:t>MCM-41 (mesoporous silica)</a:t>
            </a:r>
          </a:p>
        </p:txBody>
      </p:sp>
      <p:pic>
        <p:nvPicPr>
          <p:cNvPr id="195601" name="Picture 17">
            <a:extLst>
              <a:ext uri="{FF2B5EF4-FFF2-40B4-BE49-F238E27FC236}">
                <a16:creationId xmlns:a16="http://schemas.microsoft.com/office/drawing/2014/main" id="{C29D1208-701B-45BC-8D61-F457EFE92F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0" y="295642"/>
            <a:ext cx="3302837" cy="234675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8CD93A3-2A23-C55C-EB14-0DB08F835835}"/>
              </a:ext>
            </a:extLst>
          </p:cNvPr>
          <p:cNvSpPr txBox="1"/>
          <p:nvPr/>
        </p:nvSpPr>
        <p:spPr>
          <a:xfrm>
            <a:off x="6375476" y="2771519"/>
            <a:ext cx="2669385" cy="646331"/>
          </a:xfrm>
          <a:prstGeom prst="rect">
            <a:avLst/>
          </a:prstGeom>
          <a:noFill/>
        </p:spPr>
        <p:txBody>
          <a:bodyPr wrap="none" rtlCol="0">
            <a:spAutoFit/>
          </a:bodyPr>
          <a:lstStyle/>
          <a:p>
            <a:pPr algn="ctr"/>
            <a:r>
              <a:rPr lang="en-US" dirty="0">
                <a:latin typeface="Corbel" panose="020B0503020204020204" pitchFamily="34" charset="0"/>
              </a:rPr>
              <a:t>Metal-organic framework</a:t>
            </a:r>
          </a:p>
          <a:p>
            <a:pPr algn="ctr"/>
            <a:r>
              <a:rPr lang="en-US" dirty="0">
                <a:latin typeface="Corbel" panose="020B0503020204020204" pitchFamily="34" charset="0"/>
              </a:rPr>
              <a:t>(2025 Nobel Prize)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a:extLst>
              <a:ext uri="{FF2B5EF4-FFF2-40B4-BE49-F238E27FC236}">
                <a16:creationId xmlns:a16="http://schemas.microsoft.com/office/drawing/2014/main" id="{AF6E9180-255B-3005-9B73-15F1D288FF99}"/>
              </a:ext>
            </a:extLst>
          </p:cNvPr>
          <p:cNvSpPr>
            <a:spLocks noGrp="1" noChangeArrowheads="1"/>
          </p:cNvSpPr>
          <p:nvPr>
            <p:ph type="title"/>
          </p:nvPr>
        </p:nvSpPr>
        <p:spPr/>
        <p:txBody>
          <a:bodyPr>
            <a:normAutofit fontScale="90000"/>
          </a:bodyPr>
          <a:lstStyle/>
          <a:p>
            <a:r>
              <a:rPr lang="en-US" altLang="en-US" u="sng" dirty="0"/>
              <a:t>Amorphous Heterogeneous Catalysts</a:t>
            </a:r>
          </a:p>
        </p:txBody>
      </p:sp>
      <p:sp>
        <p:nvSpPr>
          <p:cNvPr id="196611" name="Rectangle 3">
            <a:extLst>
              <a:ext uri="{FF2B5EF4-FFF2-40B4-BE49-F238E27FC236}">
                <a16:creationId xmlns:a16="http://schemas.microsoft.com/office/drawing/2014/main" id="{610293EF-7BE9-47F2-268F-1259EECB5A14}"/>
              </a:ext>
            </a:extLst>
          </p:cNvPr>
          <p:cNvSpPr>
            <a:spLocks noGrp="1" noChangeArrowheads="1"/>
          </p:cNvSpPr>
          <p:nvPr>
            <p:ph idx="1"/>
          </p:nvPr>
        </p:nvSpPr>
        <p:spPr>
          <a:xfrm>
            <a:off x="457200" y="838201"/>
            <a:ext cx="8229600" cy="1962150"/>
          </a:xfrm>
        </p:spPr>
        <p:txBody>
          <a:bodyPr>
            <a:normAutofit fontScale="85000" lnSpcReduction="20000"/>
          </a:bodyPr>
          <a:lstStyle/>
          <a:p>
            <a:pPr>
              <a:lnSpc>
                <a:spcPct val="80000"/>
              </a:lnSpc>
            </a:pPr>
            <a:r>
              <a:rPr lang="en-US" altLang="en-US" sz="2000" dirty="0"/>
              <a:t>Amorphous, high surface area </a:t>
            </a:r>
            <a:r>
              <a:rPr lang="en-US" altLang="en-US" sz="2000" i="1" dirty="0"/>
              <a:t>supports</a:t>
            </a:r>
          </a:p>
          <a:p>
            <a:pPr lvl="1">
              <a:lnSpc>
                <a:spcPct val="80000"/>
              </a:lnSpc>
            </a:pPr>
            <a:r>
              <a:rPr lang="en-US" altLang="en-US" sz="1800" dirty="0"/>
              <a:t>Alumina, silica, activated carbon, …</a:t>
            </a:r>
          </a:p>
          <a:p>
            <a:pPr lvl="1">
              <a:lnSpc>
                <a:spcPct val="80000"/>
              </a:lnSpc>
            </a:pPr>
            <a:r>
              <a:rPr lang="en-US" altLang="en-US" sz="1800" dirty="0"/>
              <a:t>Up to 100’s of m</a:t>
            </a:r>
            <a:r>
              <a:rPr lang="en-US" altLang="en-US" sz="1800" baseline="30000" dirty="0"/>
              <a:t>2</a:t>
            </a:r>
            <a:r>
              <a:rPr lang="en-US" altLang="en-US" sz="1800" dirty="0"/>
              <a:t>/g of surface area</a:t>
            </a:r>
          </a:p>
          <a:p>
            <a:pPr>
              <a:lnSpc>
                <a:spcPct val="80000"/>
              </a:lnSpc>
            </a:pPr>
            <a:r>
              <a:rPr lang="en-US" altLang="en-US" sz="2000" dirty="0"/>
              <a:t>Impregnated with catalytic </a:t>
            </a:r>
            <a:r>
              <a:rPr lang="en-US" altLang="en-US" sz="2000" i="1" dirty="0"/>
              <a:t>transition metals</a:t>
            </a:r>
          </a:p>
          <a:p>
            <a:pPr lvl="1">
              <a:lnSpc>
                <a:spcPct val="80000"/>
              </a:lnSpc>
            </a:pPr>
            <a:r>
              <a:rPr lang="en-US" altLang="en-US" sz="1800" dirty="0"/>
              <a:t>Pt, Pd, Ni, Fe, Ru, Cu, Ru, …</a:t>
            </a:r>
          </a:p>
          <a:p>
            <a:pPr>
              <a:lnSpc>
                <a:spcPct val="80000"/>
              </a:lnSpc>
            </a:pPr>
            <a:r>
              <a:rPr lang="en-US" altLang="en-US" sz="2000" dirty="0"/>
              <a:t>Typically pelletized or on monoliths</a:t>
            </a:r>
          </a:p>
          <a:p>
            <a:pPr>
              <a:lnSpc>
                <a:spcPct val="80000"/>
              </a:lnSpc>
            </a:pPr>
            <a:r>
              <a:rPr lang="en-US" altLang="en-US" sz="2000" u="sng" dirty="0"/>
              <a:t>Cheap</a:t>
            </a:r>
            <a:r>
              <a:rPr lang="en-US" altLang="en-US" sz="2000" dirty="0"/>
              <a:t>, high stability, catalyze many types of reactions</a:t>
            </a:r>
          </a:p>
          <a:p>
            <a:pPr>
              <a:lnSpc>
                <a:spcPct val="80000"/>
              </a:lnSpc>
            </a:pPr>
            <a:r>
              <a:rPr lang="en-US" altLang="en-US" sz="2000" dirty="0"/>
              <a:t>Most used, least well understood of all classes</a:t>
            </a:r>
          </a:p>
        </p:txBody>
      </p:sp>
      <p:sp>
        <p:nvSpPr>
          <p:cNvPr id="2" name="Date Placeholder 3">
            <a:extLst>
              <a:ext uri="{FF2B5EF4-FFF2-40B4-BE49-F238E27FC236}">
                <a16:creationId xmlns:a16="http://schemas.microsoft.com/office/drawing/2014/main" id="{BC6B3729-9F00-D9D1-4CF2-5628668F4F11}"/>
              </a:ext>
            </a:extLst>
          </p:cNvPr>
          <p:cNvSpPr>
            <a:spLocks noGrp="1"/>
          </p:cNvSpPr>
          <p:nvPr>
            <p:ph type="dt" sz="half" idx="10"/>
          </p:nvPr>
        </p:nvSpPr>
        <p:spPr/>
        <p:txBody>
          <a:bodyPr/>
          <a:lstStyle/>
          <a:p>
            <a:r>
              <a:rPr lang="en-US" altLang="en-US"/>
              <a:t>W. F. Schneider</a:t>
            </a:r>
          </a:p>
        </p:txBody>
      </p:sp>
      <p:sp>
        <p:nvSpPr>
          <p:cNvPr id="3" name="Footer Placeholder 4">
            <a:extLst>
              <a:ext uri="{FF2B5EF4-FFF2-40B4-BE49-F238E27FC236}">
                <a16:creationId xmlns:a16="http://schemas.microsoft.com/office/drawing/2014/main" id="{E25D9F5B-D5AF-C942-1254-5D449B43B892}"/>
              </a:ext>
            </a:extLst>
          </p:cNvPr>
          <p:cNvSpPr>
            <a:spLocks noGrp="1"/>
          </p:cNvSpPr>
          <p:nvPr>
            <p:ph type="ftr" sz="quarter" idx="11"/>
          </p:nvPr>
        </p:nvSpPr>
        <p:spPr/>
        <p:txBody>
          <a:bodyPr/>
          <a:lstStyle/>
          <a:p>
            <a:r>
              <a:rPr lang="en-US" altLang="en-US"/>
              <a:t>CBE 60546</a:t>
            </a:r>
          </a:p>
        </p:txBody>
      </p:sp>
      <p:pic>
        <p:nvPicPr>
          <p:cNvPr id="196612" name="Picture 4">
            <a:extLst>
              <a:ext uri="{FF2B5EF4-FFF2-40B4-BE49-F238E27FC236}">
                <a16:creationId xmlns:a16="http://schemas.microsoft.com/office/drawing/2014/main" id="{C22A2E4A-576B-22BB-849D-D41E7E6244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2833438"/>
            <a:ext cx="1707357" cy="1707357"/>
          </a:xfrm>
          <a:prstGeom prst="rect">
            <a:avLst/>
          </a:prstGeom>
          <a:noFill/>
          <a:extLst>
            <a:ext uri="{909E8E84-426E-40DD-AFC4-6F175D3DCCD1}">
              <a14:hiddenFill xmlns:a14="http://schemas.microsoft.com/office/drawing/2010/main">
                <a:solidFill>
                  <a:srgbClr val="FFFFFF"/>
                </a:solidFill>
              </a14:hiddenFill>
            </a:ext>
          </a:extLst>
        </p:spPr>
      </p:pic>
      <p:pic>
        <p:nvPicPr>
          <p:cNvPr id="196613" name="Picture 5">
            <a:extLst>
              <a:ext uri="{FF2B5EF4-FFF2-40B4-BE49-F238E27FC236}">
                <a16:creationId xmlns:a16="http://schemas.microsoft.com/office/drawing/2014/main" id="{790FD72B-1FED-6817-7F0E-F9C1DDABF9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7370" b="47699"/>
          <a:stretch>
            <a:fillRect/>
          </a:stretch>
        </p:blipFill>
        <p:spPr bwMode="auto">
          <a:xfrm>
            <a:off x="1143000" y="2952750"/>
            <a:ext cx="3917950" cy="196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6614" name="Text Box 6">
            <a:extLst>
              <a:ext uri="{FF2B5EF4-FFF2-40B4-BE49-F238E27FC236}">
                <a16:creationId xmlns:a16="http://schemas.microsoft.com/office/drawing/2014/main" id="{861BA953-C3BD-8FF6-C28F-172811A3CD70}"/>
              </a:ext>
            </a:extLst>
          </p:cNvPr>
          <p:cNvSpPr txBox="1">
            <a:spLocks noChangeArrowheads="1"/>
          </p:cNvSpPr>
          <p:nvPr/>
        </p:nvSpPr>
        <p:spPr bwMode="auto">
          <a:xfrm>
            <a:off x="628650" y="2731296"/>
            <a:ext cx="395973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dirty="0">
                <a:latin typeface="Corbel" panose="020B0503020204020204" pitchFamily="34" charset="0"/>
              </a:rPr>
              <a:t>SEM micrographs of alumina and Pt/alumina</a:t>
            </a:r>
          </a:p>
        </p:txBody>
      </p:sp>
      <p:pic>
        <p:nvPicPr>
          <p:cNvPr id="196615" name="Picture 7">
            <a:extLst>
              <a:ext uri="{FF2B5EF4-FFF2-40B4-BE49-F238E27FC236}">
                <a16:creationId xmlns:a16="http://schemas.microsoft.com/office/drawing/2014/main" id="{5EE353D9-5AB8-FCB8-1A4A-A09648FF96F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05600" y="871288"/>
            <a:ext cx="16383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a:extLst>
              <a:ext uri="{FF2B5EF4-FFF2-40B4-BE49-F238E27FC236}">
                <a16:creationId xmlns:a16="http://schemas.microsoft.com/office/drawing/2014/main" id="{F387BF5E-CB4C-6864-A18D-4B6338A09348}"/>
              </a:ext>
            </a:extLst>
          </p:cNvPr>
          <p:cNvSpPr>
            <a:spLocks noGrp="1" noChangeArrowheads="1"/>
          </p:cNvSpPr>
          <p:nvPr>
            <p:ph type="title"/>
          </p:nvPr>
        </p:nvSpPr>
        <p:spPr/>
        <p:txBody>
          <a:bodyPr>
            <a:normAutofit fontScale="90000"/>
          </a:bodyPr>
          <a:lstStyle/>
          <a:p>
            <a:r>
              <a:rPr lang="en-US" altLang="en-US" dirty="0"/>
              <a:t>Sample Heterogeneous Catalytic Processes</a:t>
            </a:r>
          </a:p>
        </p:txBody>
      </p:sp>
      <p:sp>
        <p:nvSpPr>
          <p:cNvPr id="192515" name="Rectangle 3">
            <a:extLst>
              <a:ext uri="{FF2B5EF4-FFF2-40B4-BE49-F238E27FC236}">
                <a16:creationId xmlns:a16="http://schemas.microsoft.com/office/drawing/2014/main" id="{C8895EF4-0AA6-7DEE-5BF1-686C04943352}"/>
              </a:ext>
            </a:extLst>
          </p:cNvPr>
          <p:cNvSpPr>
            <a:spLocks noGrp="1" noChangeArrowheads="1"/>
          </p:cNvSpPr>
          <p:nvPr>
            <p:ph sz="half" idx="1"/>
          </p:nvPr>
        </p:nvSpPr>
        <p:spPr/>
        <p:txBody>
          <a:bodyPr>
            <a:normAutofit lnSpcReduction="10000"/>
          </a:bodyPr>
          <a:lstStyle/>
          <a:p>
            <a:pPr>
              <a:lnSpc>
                <a:spcPct val="80000"/>
              </a:lnSpc>
            </a:pPr>
            <a:r>
              <a:rPr lang="en-US" altLang="en-US" sz="1800" u="sng" dirty="0"/>
              <a:t>Haber-Bosch process</a:t>
            </a:r>
          </a:p>
          <a:p>
            <a:pPr lvl="1">
              <a:lnSpc>
                <a:spcPct val="80000"/>
              </a:lnSpc>
            </a:pPr>
            <a:r>
              <a:rPr lang="en-US" altLang="en-US" sz="1600" dirty="0"/>
              <a:t>N</a:t>
            </a:r>
            <a:r>
              <a:rPr lang="en-US" altLang="en-US" sz="1600" baseline="-25000" dirty="0"/>
              <a:t>2</a:t>
            </a:r>
            <a:r>
              <a:rPr lang="en-US" altLang="en-US" sz="1600" dirty="0"/>
              <a:t> + 3 H</a:t>
            </a:r>
            <a:r>
              <a:rPr lang="en-US" altLang="en-US" sz="1600" baseline="-25000" dirty="0"/>
              <a:t>2</a:t>
            </a:r>
            <a:r>
              <a:rPr lang="en-US" altLang="en-US" sz="1600" dirty="0"/>
              <a:t> </a:t>
            </a:r>
            <a:r>
              <a:rPr lang="en-US" altLang="en-US" sz="1600" dirty="0">
                <a:cs typeface="Arial" panose="020B0604020202020204" pitchFamily="34" charset="0"/>
              </a:rPr>
              <a:t>→ 2 NH</a:t>
            </a:r>
            <a:r>
              <a:rPr lang="en-US" altLang="en-US" sz="1600" baseline="-25000" dirty="0">
                <a:cs typeface="Arial" panose="020B0604020202020204" pitchFamily="34" charset="0"/>
              </a:rPr>
              <a:t>3</a:t>
            </a:r>
          </a:p>
          <a:p>
            <a:pPr lvl="1">
              <a:lnSpc>
                <a:spcPct val="80000"/>
              </a:lnSpc>
            </a:pPr>
            <a:r>
              <a:rPr lang="en-US" altLang="en-US" sz="1600" dirty="0">
                <a:cs typeface="Arial" panose="020B0604020202020204" pitchFamily="34" charset="0"/>
              </a:rPr>
              <a:t>Fe/Ru catalysts, high pressure and temperature</a:t>
            </a:r>
          </a:p>
          <a:p>
            <a:pPr lvl="1">
              <a:lnSpc>
                <a:spcPct val="80000"/>
              </a:lnSpc>
            </a:pPr>
            <a:r>
              <a:rPr lang="en-US" altLang="en-US" sz="1600" dirty="0">
                <a:cs typeface="Arial" panose="020B0604020202020204" pitchFamily="34" charset="0"/>
              </a:rPr>
              <a:t>Critical for fertilizer and nitric acid production</a:t>
            </a:r>
          </a:p>
          <a:p>
            <a:pPr lvl="1">
              <a:lnSpc>
                <a:spcPct val="80000"/>
              </a:lnSpc>
            </a:pPr>
            <a:endParaRPr lang="en-US" altLang="en-US" sz="1600" dirty="0">
              <a:cs typeface="Arial" panose="020B0604020202020204" pitchFamily="34" charset="0"/>
            </a:endParaRPr>
          </a:p>
          <a:p>
            <a:pPr>
              <a:lnSpc>
                <a:spcPct val="80000"/>
              </a:lnSpc>
            </a:pPr>
            <a:r>
              <a:rPr lang="en-US" altLang="en-US" sz="1800" u="sng" dirty="0"/>
              <a:t>Fischer-</a:t>
            </a:r>
            <a:r>
              <a:rPr lang="en-US" altLang="en-US" sz="1800" u="sng" dirty="0" err="1"/>
              <a:t>Tropsch</a:t>
            </a:r>
            <a:r>
              <a:rPr lang="en-US" altLang="en-US" sz="1800" u="sng" dirty="0"/>
              <a:t> chemistry</a:t>
            </a:r>
          </a:p>
          <a:p>
            <a:pPr lvl="1">
              <a:lnSpc>
                <a:spcPct val="80000"/>
              </a:lnSpc>
            </a:pPr>
            <a:r>
              <a:rPr lang="en-US" altLang="en-US" sz="1600" i="1" dirty="0"/>
              <a:t>n</a:t>
            </a:r>
            <a:r>
              <a:rPr lang="en-US" altLang="en-US" sz="1600" dirty="0"/>
              <a:t> CO + 2</a:t>
            </a:r>
            <a:r>
              <a:rPr lang="en-US" altLang="en-US" sz="1600" i="1" dirty="0"/>
              <a:t>n </a:t>
            </a:r>
            <a:r>
              <a:rPr lang="en-US" altLang="en-US" sz="1600" dirty="0"/>
              <a:t>H</a:t>
            </a:r>
            <a:r>
              <a:rPr lang="en-US" altLang="en-US" sz="1600" baseline="-25000" dirty="0"/>
              <a:t>2</a:t>
            </a:r>
            <a:r>
              <a:rPr lang="en-US" altLang="en-US" sz="1600" dirty="0"/>
              <a:t> </a:t>
            </a:r>
            <a:r>
              <a:rPr lang="en-US" altLang="en-US" sz="1600" dirty="0">
                <a:cs typeface="Arial" panose="020B0604020202020204" pitchFamily="34" charset="0"/>
              </a:rPr>
              <a:t>→ (CH</a:t>
            </a:r>
            <a:r>
              <a:rPr lang="en-US" altLang="en-US" sz="1600" baseline="-25000" dirty="0">
                <a:cs typeface="Arial" panose="020B0604020202020204" pitchFamily="34" charset="0"/>
              </a:rPr>
              <a:t>2</a:t>
            </a:r>
            <a:r>
              <a:rPr lang="en-US" altLang="en-US" sz="1600" dirty="0">
                <a:cs typeface="Arial" panose="020B0604020202020204" pitchFamily="34" charset="0"/>
              </a:rPr>
              <a:t>)</a:t>
            </a:r>
            <a:r>
              <a:rPr lang="en-US" altLang="en-US" sz="1600" i="1" baseline="-25000" dirty="0">
                <a:cs typeface="Arial" panose="020B0604020202020204" pitchFamily="34" charset="0"/>
              </a:rPr>
              <a:t>n</a:t>
            </a:r>
            <a:r>
              <a:rPr lang="en-US" altLang="en-US" sz="1600" dirty="0">
                <a:cs typeface="Arial" panose="020B0604020202020204" pitchFamily="34" charset="0"/>
              </a:rPr>
              <a:t> + </a:t>
            </a:r>
            <a:r>
              <a:rPr lang="en-US" altLang="en-US" sz="1600" i="1" dirty="0">
                <a:cs typeface="Arial" panose="020B0604020202020204" pitchFamily="34" charset="0"/>
              </a:rPr>
              <a:t>n </a:t>
            </a:r>
            <a:r>
              <a:rPr lang="en-US" altLang="en-US" sz="1600" dirty="0">
                <a:cs typeface="Arial" panose="020B0604020202020204" pitchFamily="34" charset="0"/>
              </a:rPr>
              <a:t>H</a:t>
            </a:r>
            <a:r>
              <a:rPr lang="en-US" altLang="en-US" sz="1600" baseline="-25000" dirty="0">
                <a:cs typeface="Arial" panose="020B0604020202020204" pitchFamily="34" charset="0"/>
              </a:rPr>
              <a:t>2</a:t>
            </a:r>
            <a:r>
              <a:rPr lang="en-US" altLang="en-US" sz="1600" dirty="0">
                <a:cs typeface="Arial" panose="020B0604020202020204" pitchFamily="34" charset="0"/>
              </a:rPr>
              <a:t>O , </a:t>
            </a:r>
            <a:r>
              <a:rPr lang="en-US" altLang="en-US" sz="1600" i="1" dirty="0">
                <a:cs typeface="Arial" panose="020B0604020202020204" pitchFamily="34" charset="0"/>
              </a:rPr>
              <a:t>syn</a:t>
            </a:r>
            <a:r>
              <a:rPr lang="en-US" altLang="en-US" sz="1600" dirty="0">
                <a:cs typeface="Arial" panose="020B0604020202020204" pitchFamily="34" charset="0"/>
              </a:rPr>
              <a:t> gas to liquid fuels</a:t>
            </a:r>
          </a:p>
          <a:p>
            <a:pPr lvl="1">
              <a:lnSpc>
                <a:spcPct val="80000"/>
              </a:lnSpc>
            </a:pPr>
            <a:r>
              <a:rPr lang="en-US" altLang="en-US" sz="1600" dirty="0">
                <a:cs typeface="Arial" panose="020B0604020202020204" pitchFamily="34" charset="0"/>
              </a:rPr>
              <a:t>Fe/Co catalysts</a:t>
            </a:r>
          </a:p>
          <a:p>
            <a:pPr lvl="1">
              <a:lnSpc>
                <a:spcPct val="80000"/>
              </a:lnSpc>
            </a:pPr>
            <a:r>
              <a:rPr lang="en-US" altLang="en-US" sz="1600" dirty="0">
                <a:cs typeface="Arial" panose="020B0604020202020204" pitchFamily="34" charset="0"/>
              </a:rPr>
              <a:t>Source of fuel for Axis in WWII</a:t>
            </a:r>
          </a:p>
          <a:p>
            <a:pPr lvl="1">
              <a:lnSpc>
                <a:spcPct val="80000"/>
              </a:lnSpc>
            </a:pPr>
            <a:endParaRPr lang="en-US" altLang="en-US" sz="1600" dirty="0"/>
          </a:p>
          <a:p>
            <a:pPr>
              <a:lnSpc>
                <a:spcPct val="80000"/>
              </a:lnSpc>
            </a:pPr>
            <a:r>
              <a:rPr lang="en-US" altLang="en-US" sz="1600" u="sng" dirty="0">
                <a:cs typeface="Arial" panose="020B0604020202020204" pitchFamily="34" charset="0"/>
              </a:rPr>
              <a:t>Water-gas shift</a:t>
            </a:r>
          </a:p>
          <a:p>
            <a:pPr lvl="1">
              <a:lnSpc>
                <a:spcPct val="80000"/>
              </a:lnSpc>
            </a:pPr>
            <a:r>
              <a:rPr lang="en-US" altLang="en-US" sz="1300" dirty="0">
                <a:cs typeface="Arial" panose="020B0604020202020204" pitchFamily="34" charset="0"/>
              </a:rPr>
              <a:t>CO + H2O </a:t>
            </a:r>
            <a:r>
              <a:rPr lang="en-US" altLang="en-US" sz="1400" dirty="0">
                <a:cs typeface="Arial" panose="020B0604020202020204" pitchFamily="34" charset="0"/>
              </a:rPr>
              <a:t>→ CO2 + H2</a:t>
            </a:r>
          </a:p>
          <a:p>
            <a:pPr lvl="1">
              <a:lnSpc>
                <a:spcPct val="80000"/>
              </a:lnSpc>
            </a:pPr>
            <a:r>
              <a:rPr lang="en-US" altLang="en-US" sz="1400" dirty="0">
                <a:cs typeface="Arial" panose="020B0604020202020204" pitchFamily="34" charset="0"/>
              </a:rPr>
              <a:t>Pd catalysts</a:t>
            </a:r>
          </a:p>
          <a:p>
            <a:pPr lvl="1">
              <a:lnSpc>
                <a:spcPct val="80000"/>
              </a:lnSpc>
            </a:pPr>
            <a:r>
              <a:rPr lang="en-US" altLang="en-US" sz="1400" dirty="0">
                <a:cs typeface="Arial" panose="020B0604020202020204" pitchFamily="34" charset="0"/>
              </a:rPr>
              <a:t>Important in H2 production</a:t>
            </a:r>
            <a:endParaRPr lang="en-US" altLang="en-US" sz="1300" dirty="0">
              <a:cs typeface="Arial" panose="020B0604020202020204" pitchFamily="34" charset="0"/>
            </a:endParaRPr>
          </a:p>
        </p:txBody>
      </p:sp>
      <p:sp>
        <p:nvSpPr>
          <p:cNvPr id="4" name="Content Placeholder 3">
            <a:extLst>
              <a:ext uri="{FF2B5EF4-FFF2-40B4-BE49-F238E27FC236}">
                <a16:creationId xmlns:a16="http://schemas.microsoft.com/office/drawing/2014/main" id="{71C1FCA9-3BB2-2699-FBF7-F83DA9F5ABF7}"/>
              </a:ext>
            </a:extLst>
          </p:cNvPr>
          <p:cNvSpPr>
            <a:spLocks noGrp="1"/>
          </p:cNvSpPr>
          <p:nvPr>
            <p:ph sz="half" idx="2"/>
          </p:nvPr>
        </p:nvSpPr>
        <p:spPr/>
        <p:txBody>
          <a:bodyPr>
            <a:normAutofit lnSpcReduction="10000"/>
          </a:bodyPr>
          <a:lstStyle/>
          <a:p>
            <a:pPr>
              <a:lnSpc>
                <a:spcPct val="80000"/>
              </a:lnSpc>
            </a:pPr>
            <a:r>
              <a:rPr lang="en-US" altLang="en-US" sz="1800" u="sng" dirty="0"/>
              <a:t>Fluidized catalytic cracking</a:t>
            </a:r>
          </a:p>
          <a:p>
            <a:pPr lvl="1">
              <a:lnSpc>
                <a:spcPct val="80000"/>
              </a:lnSpc>
            </a:pPr>
            <a:r>
              <a:rPr lang="en-US" altLang="en-US" sz="1600" dirty="0"/>
              <a:t>High MW petroleum </a:t>
            </a:r>
            <a:r>
              <a:rPr lang="en-US" altLang="en-US" sz="1600" dirty="0">
                <a:cs typeface="Arial" panose="020B0604020202020204" pitchFamily="34" charset="0"/>
              </a:rPr>
              <a:t>→ low MW fuels, like gasoline</a:t>
            </a:r>
          </a:p>
          <a:p>
            <a:pPr lvl="1">
              <a:lnSpc>
                <a:spcPct val="80000"/>
              </a:lnSpc>
            </a:pPr>
            <a:r>
              <a:rPr lang="en-US" altLang="en-US" sz="1600" dirty="0">
                <a:cs typeface="Arial" panose="020B0604020202020204" pitchFamily="34" charset="0"/>
              </a:rPr>
              <a:t>Zeolite catalysts, high temperature combustor</a:t>
            </a:r>
          </a:p>
          <a:p>
            <a:pPr lvl="1">
              <a:lnSpc>
                <a:spcPct val="80000"/>
              </a:lnSpc>
            </a:pPr>
            <a:r>
              <a:rPr lang="en-US" altLang="en-US" sz="1600" dirty="0">
                <a:cs typeface="Arial" panose="020B0604020202020204" pitchFamily="34" charset="0"/>
              </a:rPr>
              <a:t>In your fuel tank!</a:t>
            </a:r>
          </a:p>
          <a:p>
            <a:pPr>
              <a:lnSpc>
                <a:spcPct val="80000"/>
              </a:lnSpc>
            </a:pPr>
            <a:endParaRPr lang="en-US" altLang="en-US" sz="1800" dirty="0"/>
          </a:p>
          <a:p>
            <a:pPr>
              <a:lnSpc>
                <a:spcPct val="80000"/>
              </a:lnSpc>
            </a:pPr>
            <a:r>
              <a:rPr lang="en-US" altLang="en-US" sz="1800" u="sng" dirty="0"/>
              <a:t>Automotive three-way catalysis</a:t>
            </a:r>
          </a:p>
          <a:p>
            <a:pPr lvl="1">
              <a:lnSpc>
                <a:spcPct val="80000"/>
              </a:lnSpc>
            </a:pPr>
            <a:r>
              <a:rPr lang="en-US" altLang="en-US" sz="1600" dirty="0"/>
              <a:t>NO</a:t>
            </a:r>
            <a:r>
              <a:rPr lang="en-US" altLang="en-US" sz="1600" baseline="-25000" dirty="0"/>
              <a:t>x</a:t>
            </a:r>
            <a:r>
              <a:rPr lang="en-US" altLang="en-US" sz="1600" dirty="0"/>
              <a:t>/CO/HC </a:t>
            </a:r>
            <a:r>
              <a:rPr lang="en-US" altLang="en-US" sz="1600" dirty="0">
                <a:cs typeface="Arial" panose="020B0604020202020204" pitchFamily="34" charset="0"/>
              </a:rPr>
              <a:t>→ H</a:t>
            </a:r>
            <a:r>
              <a:rPr lang="en-US" altLang="en-US" sz="1600" baseline="-25000" dirty="0">
                <a:cs typeface="Arial" panose="020B0604020202020204" pitchFamily="34" charset="0"/>
              </a:rPr>
              <a:t>2</a:t>
            </a:r>
            <a:r>
              <a:rPr lang="en-US" altLang="en-US" sz="1600" dirty="0">
                <a:cs typeface="Arial" panose="020B0604020202020204" pitchFamily="34" charset="0"/>
              </a:rPr>
              <a:t>O/CO</a:t>
            </a:r>
            <a:r>
              <a:rPr lang="en-US" altLang="en-US" sz="1600" baseline="-25000" dirty="0">
                <a:cs typeface="Arial" panose="020B0604020202020204" pitchFamily="34" charset="0"/>
              </a:rPr>
              <a:t>2</a:t>
            </a:r>
            <a:r>
              <a:rPr lang="en-US" altLang="en-US" sz="1600" dirty="0">
                <a:cs typeface="Arial" panose="020B0604020202020204" pitchFamily="34" charset="0"/>
              </a:rPr>
              <a:t>/H</a:t>
            </a:r>
            <a:r>
              <a:rPr lang="en-US" altLang="en-US" sz="1600" baseline="-25000" dirty="0">
                <a:cs typeface="Arial" panose="020B0604020202020204" pitchFamily="34" charset="0"/>
              </a:rPr>
              <a:t>2</a:t>
            </a:r>
            <a:r>
              <a:rPr lang="en-US" altLang="en-US" sz="1600" dirty="0">
                <a:cs typeface="Arial" panose="020B0604020202020204" pitchFamily="34" charset="0"/>
              </a:rPr>
              <a:t>O</a:t>
            </a:r>
          </a:p>
          <a:p>
            <a:pPr lvl="1">
              <a:lnSpc>
                <a:spcPct val="80000"/>
              </a:lnSpc>
            </a:pPr>
            <a:r>
              <a:rPr lang="en-US" altLang="en-US" sz="1600" dirty="0">
                <a:cs typeface="Arial" panose="020B0604020202020204" pitchFamily="34" charset="0"/>
              </a:rPr>
              <a:t>Pt/Rh/Pd supported on ceria/alumina</a:t>
            </a:r>
          </a:p>
          <a:p>
            <a:pPr lvl="1">
              <a:lnSpc>
                <a:spcPct val="80000"/>
              </a:lnSpc>
            </a:pPr>
            <a:r>
              <a:rPr lang="en-US" altLang="en-US" sz="1600" dirty="0">
                <a:cs typeface="Arial" panose="020B0604020202020204" pitchFamily="34" charset="0"/>
              </a:rPr>
              <a:t>Makes exhaust 99% cleaner</a:t>
            </a:r>
            <a:endParaRPr lang="en-US" dirty="0"/>
          </a:p>
        </p:txBody>
      </p:sp>
      <p:sp>
        <p:nvSpPr>
          <p:cNvPr id="2" name="Date Placeholder 3">
            <a:extLst>
              <a:ext uri="{FF2B5EF4-FFF2-40B4-BE49-F238E27FC236}">
                <a16:creationId xmlns:a16="http://schemas.microsoft.com/office/drawing/2014/main" id="{33234C5C-3C1A-F009-D8F8-2356DEC3BB04}"/>
              </a:ext>
            </a:extLst>
          </p:cNvPr>
          <p:cNvSpPr>
            <a:spLocks noGrp="1"/>
          </p:cNvSpPr>
          <p:nvPr>
            <p:ph type="dt" sz="half" idx="10"/>
          </p:nvPr>
        </p:nvSpPr>
        <p:spPr/>
        <p:txBody>
          <a:bodyPr/>
          <a:lstStyle/>
          <a:p>
            <a:r>
              <a:rPr lang="en-US" altLang="en-US"/>
              <a:t>W. F. Schneider</a:t>
            </a:r>
          </a:p>
        </p:txBody>
      </p:sp>
      <p:sp>
        <p:nvSpPr>
          <p:cNvPr id="3" name="Footer Placeholder 4">
            <a:extLst>
              <a:ext uri="{FF2B5EF4-FFF2-40B4-BE49-F238E27FC236}">
                <a16:creationId xmlns:a16="http://schemas.microsoft.com/office/drawing/2014/main" id="{2BD9CDEC-51EF-1A94-CA76-909D9524F3D3}"/>
              </a:ext>
            </a:extLst>
          </p:cNvPr>
          <p:cNvSpPr>
            <a:spLocks noGrp="1"/>
          </p:cNvSpPr>
          <p:nvPr>
            <p:ph type="ftr" sz="quarter" idx="11"/>
          </p:nvPr>
        </p:nvSpPr>
        <p:spPr/>
        <p:txBody>
          <a:bodyPr/>
          <a:lstStyle/>
          <a:p>
            <a:r>
              <a:rPr lang="en-US" altLang="en-US"/>
              <a:t>CBE 60546</a:t>
            </a:r>
          </a:p>
        </p:txBody>
      </p:sp>
      <p:pic>
        <p:nvPicPr>
          <p:cNvPr id="192516" name="Picture 4">
            <a:extLst>
              <a:ext uri="{FF2B5EF4-FFF2-40B4-BE49-F238E27FC236}">
                <a16:creationId xmlns:a16="http://schemas.microsoft.com/office/drawing/2014/main" id="{CDCDC191-AD2F-4482-9B32-A5625C45D8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2245" b="10204"/>
          <a:stretch>
            <a:fillRect/>
          </a:stretch>
        </p:blipFill>
        <p:spPr bwMode="auto">
          <a:xfrm>
            <a:off x="6400800" y="3790950"/>
            <a:ext cx="18669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a:extLst>
              <a:ext uri="{FF2B5EF4-FFF2-40B4-BE49-F238E27FC236}">
                <a16:creationId xmlns:a16="http://schemas.microsoft.com/office/drawing/2014/main" id="{5CF1D105-0E29-AA61-5927-C39154C45975}"/>
              </a:ext>
            </a:extLst>
          </p:cNvPr>
          <p:cNvSpPr>
            <a:spLocks noGrp="1" noChangeArrowheads="1"/>
          </p:cNvSpPr>
          <p:nvPr>
            <p:ph type="title"/>
          </p:nvPr>
        </p:nvSpPr>
        <p:spPr/>
        <p:txBody>
          <a:bodyPr>
            <a:normAutofit fontScale="90000"/>
          </a:bodyPr>
          <a:lstStyle/>
          <a:p>
            <a:r>
              <a:rPr lang="en-US" altLang="en-US"/>
              <a:t>Heterogeneous Catalytic Reactors</a:t>
            </a:r>
          </a:p>
        </p:txBody>
      </p:sp>
      <p:sp>
        <p:nvSpPr>
          <p:cNvPr id="197691" name="Rectangle 59">
            <a:extLst>
              <a:ext uri="{FF2B5EF4-FFF2-40B4-BE49-F238E27FC236}">
                <a16:creationId xmlns:a16="http://schemas.microsoft.com/office/drawing/2014/main" id="{559F524E-2D53-2B09-B254-C3C541C13011}"/>
              </a:ext>
            </a:extLst>
          </p:cNvPr>
          <p:cNvSpPr>
            <a:spLocks noGrp="1" noChangeArrowheads="1"/>
          </p:cNvSpPr>
          <p:nvPr>
            <p:ph sz="half" idx="1"/>
          </p:nvPr>
        </p:nvSpPr>
        <p:spPr>
          <a:xfrm>
            <a:off x="5257800" y="630790"/>
            <a:ext cx="3581400" cy="1102760"/>
          </a:xfrm>
        </p:spPr>
        <p:txBody>
          <a:bodyPr>
            <a:normAutofit lnSpcReduction="10000"/>
          </a:bodyPr>
          <a:lstStyle/>
          <a:p>
            <a:pPr>
              <a:lnSpc>
                <a:spcPct val="80000"/>
              </a:lnSpc>
            </a:pPr>
            <a:r>
              <a:rPr lang="en-US" altLang="en-US" sz="1800" dirty="0"/>
              <a:t>Design goals</a:t>
            </a:r>
          </a:p>
          <a:p>
            <a:pPr lvl="1">
              <a:lnSpc>
                <a:spcPct val="80000"/>
              </a:lnSpc>
            </a:pPr>
            <a:r>
              <a:rPr lang="en-US" altLang="en-US" sz="1600" dirty="0"/>
              <a:t>rapid and intimate contact between catalyst and reactants</a:t>
            </a:r>
          </a:p>
          <a:p>
            <a:pPr lvl="1">
              <a:lnSpc>
                <a:spcPct val="80000"/>
              </a:lnSpc>
            </a:pPr>
            <a:r>
              <a:rPr lang="en-US" altLang="en-US" sz="1600" dirty="0"/>
              <a:t>ease of separation of products from catalyst</a:t>
            </a:r>
          </a:p>
        </p:txBody>
      </p:sp>
      <p:sp>
        <p:nvSpPr>
          <p:cNvPr id="2" name="Date Placeholder 4">
            <a:extLst>
              <a:ext uri="{FF2B5EF4-FFF2-40B4-BE49-F238E27FC236}">
                <a16:creationId xmlns:a16="http://schemas.microsoft.com/office/drawing/2014/main" id="{EC8AA202-3B9C-8467-2BE9-4491DD25D793}"/>
              </a:ext>
            </a:extLst>
          </p:cNvPr>
          <p:cNvSpPr>
            <a:spLocks noGrp="1"/>
          </p:cNvSpPr>
          <p:nvPr>
            <p:ph type="dt" sz="half" idx="10"/>
          </p:nvPr>
        </p:nvSpPr>
        <p:spPr/>
        <p:txBody>
          <a:bodyPr/>
          <a:lstStyle/>
          <a:p>
            <a:r>
              <a:rPr lang="en-US" altLang="en-US"/>
              <a:t>W. F. Schneider</a:t>
            </a:r>
          </a:p>
        </p:txBody>
      </p:sp>
      <p:sp>
        <p:nvSpPr>
          <p:cNvPr id="3" name="Footer Placeholder 5">
            <a:extLst>
              <a:ext uri="{FF2B5EF4-FFF2-40B4-BE49-F238E27FC236}">
                <a16:creationId xmlns:a16="http://schemas.microsoft.com/office/drawing/2014/main" id="{E7216429-6180-0259-9F0A-BD3383CED888}"/>
              </a:ext>
            </a:extLst>
          </p:cNvPr>
          <p:cNvSpPr>
            <a:spLocks noGrp="1"/>
          </p:cNvSpPr>
          <p:nvPr>
            <p:ph type="ftr" sz="quarter" idx="11"/>
          </p:nvPr>
        </p:nvSpPr>
        <p:spPr/>
        <p:txBody>
          <a:bodyPr/>
          <a:lstStyle/>
          <a:p>
            <a:r>
              <a:rPr lang="en-US" altLang="en-US"/>
              <a:t>CBE 60546</a:t>
            </a:r>
          </a:p>
        </p:txBody>
      </p:sp>
      <p:sp>
        <p:nvSpPr>
          <p:cNvPr id="197666" name="AutoShape 34">
            <a:extLst>
              <a:ext uri="{FF2B5EF4-FFF2-40B4-BE49-F238E27FC236}">
                <a16:creationId xmlns:a16="http://schemas.microsoft.com/office/drawing/2014/main" id="{D8F63FB1-18F1-CBB8-2D85-BFA957DF8363}"/>
              </a:ext>
            </a:extLst>
          </p:cNvPr>
          <p:cNvSpPr>
            <a:spLocks noChangeArrowheads="1"/>
          </p:cNvSpPr>
          <p:nvPr/>
        </p:nvSpPr>
        <p:spPr bwMode="auto">
          <a:xfrm>
            <a:off x="3657600" y="2114550"/>
            <a:ext cx="1143000" cy="1828800"/>
          </a:xfrm>
          <a:prstGeom prst="can">
            <a:avLst>
              <a:gd name="adj" fmla="val 40000"/>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638" name="Line 6">
            <a:extLst>
              <a:ext uri="{FF2B5EF4-FFF2-40B4-BE49-F238E27FC236}">
                <a16:creationId xmlns:a16="http://schemas.microsoft.com/office/drawing/2014/main" id="{8777DEA8-EB8E-4032-CC39-8517DC11A00A}"/>
              </a:ext>
            </a:extLst>
          </p:cNvPr>
          <p:cNvSpPr>
            <a:spLocks noChangeShapeType="1"/>
          </p:cNvSpPr>
          <p:nvPr/>
        </p:nvSpPr>
        <p:spPr bwMode="auto">
          <a:xfrm>
            <a:off x="762000" y="1047750"/>
            <a:ext cx="6096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cxnSp>
        <p:nvCxnSpPr>
          <p:cNvPr id="197642" name="AutoShape 10">
            <a:extLst>
              <a:ext uri="{FF2B5EF4-FFF2-40B4-BE49-F238E27FC236}">
                <a16:creationId xmlns:a16="http://schemas.microsoft.com/office/drawing/2014/main" id="{7234DFE0-FF24-D39E-0BCC-3E68009A2FCD}"/>
              </a:ext>
            </a:extLst>
          </p:cNvPr>
          <p:cNvCxnSpPr>
            <a:cxnSpLocks noChangeShapeType="1"/>
          </p:cNvCxnSpPr>
          <p:nvPr/>
        </p:nvCxnSpPr>
        <p:spPr bwMode="auto">
          <a:xfrm flipV="1">
            <a:off x="800100" y="3943350"/>
            <a:ext cx="952500" cy="609600"/>
          </a:xfrm>
          <a:prstGeom prst="bentConnector2">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7659" name="Oval 27">
            <a:extLst>
              <a:ext uri="{FF2B5EF4-FFF2-40B4-BE49-F238E27FC236}">
                <a16:creationId xmlns:a16="http://schemas.microsoft.com/office/drawing/2014/main" id="{6E9AAF5E-0823-BBD7-0E74-C59C6DDD837C}"/>
              </a:ext>
            </a:extLst>
          </p:cNvPr>
          <p:cNvSpPr>
            <a:spLocks noChangeArrowheads="1"/>
          </p:cNvSpPr>
          <p:nvPr/>
        </p:nvSpPr>
        <p:spPr bwMode="auto">
          <a:xfrm>
            <a:off x="4114800" y="29527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660" name="Oval 28">
            <a:extLst>
              <a:ext uri="{FF2B5EF4-FFF2-40B4-BE49-F238E27FC236}">
                <a16:creationId xmlns:a16="http://schemas.microsoft.com/office/drawing/2014/main" id="{557B12FF-027E-BFBB-B1EE-57E8BDA5DAE7}"/>
              </a:ext>
            </a:extLst>
          </p:cNvPr>
          <p:cNvSpPr>
            <a:spLocks noChangeArrowheads="1"/>
          </p:cNvSpPr>
          <p:nvPr/>
        </p:nvSpPr>
        <p:spPr bwMode="auto">
          <a:xfrm>
            <a:off x="4267200" y="31051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661" name="Oval 29">
            <a:extLst>
              <a:ext uri="{FF2B5EF4-FFF2-40B4-BE49-F238E27FC236}">
                <a16:creationId xmlns:a16="http://schemas.microsoft.com/office/drawing/2014/main" id="{77383B61-CA37-CB1F-D6E3-79E94E5A5397}"/>
              </a:ext>
            </a:extLst>
          </p:cNvPr>
          <p:cNvSpPr>
            <a:spLocks noChangeArrowheads="1"/>
          </p:cNvSpPr>
          <p:nvPr/>
        </p:nvSpPr>
        <p:spPr bwMode="auto">
          <a:xfrm>
            <a:off x="4191000" y="27241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662" name="Oval 30">
            <a:extLst>
              <a:ext uri="{FF2B5EF4-FFF2-40B4-BE49-F238E27FC236}">
                <a16:creationId xmlns:a16="http://schemas.microsoft.com/office/drawing/2014/main" id="{3CBE63F6-9E33-690D-DAFD-37FF0DF44311}"/>
              </a:ext>
            </a:extLst>
          </p:cNvPr>
          <p:cNvSpPr>
            <a:spLocks noChangeArrowheads="1"/>
          </p:cNvSpPr>
          <p:nvPr/>
        </p:nvSpPr>
        <p:spPr bwMode="auto">
          <a:xfrm>
            <a:off x="4343400" y="28765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663" name="Oval 31">
            <a:extLst>
              <a:ext uri="{FF2B5EF4-FFF2-40B4-BE49-F238E27FC236}">
                <a16:creationId xmlns:a16="http://schemas.microsoft.com/office/drawing/2014/main" id="{2E994E72-79F6-7441-9434-073284041BCF}"/>
              </a:ext>
            </a:extLst>
          </p:cNvPr>
          <p:cNvSpPr>
            <a:spLocks noChangeArrowheads="1"/>
          </p:cNvSpPr>
          <p:nvPr/>
        </p:nvSpPr>
        <p:spPr bwMode="auto">
          <a:xfrm>
            <a:off x="4495800" y="30289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cxnSp>
        <p:nvCxnSpPr>
          <p:cNvPr id="197664" name="AutoShape 32">
            <a:extLst>
              <a:ext uri="{FF2B5EF4-FFF2-40B4-BE49-F238E27FC236}">
                <a16:creationId xmlns:a16="http://schemas.microsoft.com/office/drawing/2014/main" id="{D6936D13-AA76-C05C-7FA9-0229D7F86311}"/>
              </a:ext>
            </a:extLst>
          </p:cNvPr>
          <p:cNvCxnSpPr>
            <a:cxnSpLocks noChangeShapeType="1"/>
          </p:cNvCxnSpPr>
          <p:nvPr/>
        </p:nvCxnSpPr>
        <p:spPr bwMode="auto">
          <a:xfrm flipV="1">
            <a:off x="1762125" y="1935272"/>
            <a:ext cx="1076325" cy="409575"/>
          </a:xfrm>
          <a:prstGeom prst="bentConnector3">
            <a:avLst>
              <a:gd name="adj1" fmla="val -1329"/>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7667" name="AutoShape 35">
            <a:extLst>
              <a:ext uri="{FF2B5EF4-FFF2-40B4-BE49-F238E27FC236}">
                <a16:creationId xmlns:a16="http://schemas.microsoft.com/office/drawing/2014/main" id="{72A3D70B-802B-2ADD-6E7F-DB6807B23388}"/>
              </a:ext>
            </a:extLst>
          </p:cNvPr>
          <p:cNvCxnSpPr>
            <a:cxnSpLocks noChangeShapeType="1"/>
            <a:endCxn id="197666" idx="3"/>
          </p:cNvCxnSpPr>
          <p:nvPr/>
        </p:nvCxnSpPr>
        <p:spPr bwMode="auto">
          <a:xfrm flipV="1">
            <a:off x="3276600" y="3943350"/>
            <a:ext cx="952500" cy="609600"/>
          </a:xfrm>
          <a:prstGeom prst="bentConnector2">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7668" name="Oval 36">
            <a:extLst>
              <a:ext uri="{FF2B5EF4-FFF2-40B4-BE49-F238E27FC236}">
                <a16:creationId xmlns:a16="http://schemas.microsoft.com/office/drawing/2014/main" id="{00C9ED98-401A-71E6-CDF4-18FB31D88CF5}"/>
              </a:ext>
            </a:extLst>
          </p:cNvPr>
          <p:cNvSpPr>
            <a:spLocks noChangeArrowheads="1"/>
          </p:cNvSpPr>
          <p:nvPr/>
        </p:nvSpPr>
        <p:spPr bwMode="auto">
          <a:xfrm>
            <a:off x="3810000" y="34861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669" name="Oval 37">
            <a:extLst>
              <a:ext uri="{FF2B5EF4-FFF2-40B4-BE49-F238E27FC236}">
                <a16:creationId xmlns:a16="http://schemas.microsoft.com/office/drawing/2014/main" id="{98F9A113-1DF3-1D9B-9F7D-401DCB92926D}"/>
              </a:ext>
            </a:extLst>
          </p:cNvPr>
          <p:cNvSpPr>
            <a:spLocks noChangeArrowheads="1"/>
          </p:cNvSpPr>
          <p:nvPr/>
        </p:nvSpPr>
        <p:spPr bwMode="auto">
          <a:xfrm>
            <a:off x="3962400" y="36385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670" name="Oval 38">
            <a:extLst>
              <a:ext uri="{FF2B5EF4-FFF2-40B4-BE49-F238E27FC236}">
                <a16:creationId xmlns:a16="http://schemas.microsoft.com/office/drawing/2014/main" id="{57DC63F6-8E89-0B5F-6307-A8FE283ED52D}"/>
              </a:ext>
            </a:extLst>
          </p:cNvPr>
          <p:cNvSpPr>
            <a:spLocks noChangeArrowheads="1"/>
          </p:cNvSpPr>
          <p:nvPr/>
        </p:nvSpPr>
        <p:spPr bwMode="auto">
          <a:xfrm>
            <a:off x="4114800" y="37909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671" name="Oval 39">
            <a:extLst>
              <a:ext uri="{FF2B5EF4-FFF2-40B4-BE49-F238E27FC236}">
                <a16:creationId xmlns:a16="http://schemas.microsoft.com/office/drawing/2014/main" id="{F11A3CBB-6E19-B72B-73D6-AF949D78172D}"/>
              </a:ext>
            </a:extLst>
          </p:cNvPr>
          <p:cNvSpPr>
            <a:spLocks noChangeArrowheads="1"/>
          </p:cNvSpPr>
          <p:nvPr/>
        </p:nvSpPr>
        <p:spPr bwMode="auto">
          <a:xfrm>
            <a:off x="4038600" y="33337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672" name="Oval 40">
            <a:extLst>
              <a:ext uri="{FF2B5EF4-FFF2-40B4-BE49-F238E27FC236}">
                <a16:creationId xmlns:a16="http://schemas.microsoft.com/office/drawing/2014/main" id="{917508DA-8673-61C4-3A24-E15226025AF3}"/>
              </a:ext>
            </a:extLst>
          </p:cNvPr>
          <p:cNvSpPr>
            <a:spLocks noChangeArrowheads="1"/>
          </p:cNvSpPr>
          <p:nvPr/>
        </p:nvSpPr>
        <p:spPr bwMode="auto">
          <a:xfrm>
            <a:off x="4191000" y="35623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673" name="Oval 41">
            <a:extLst>
              <a:ext uri="{FF2B5EF4-FFF2-40B4-BE49-F238E27FC236}">
                <a16:creationId xmlns:a16="http://schemas.microsoft.com/office/drawing/2014/main" id="{07367523-BAD8-7802-B987-59080160E75E}"/>
              </a:ext>
            </a:extLst>
          </p:cNvPr>
          <p:cNvSpPr>
            <a:spLocks noChangeArrowheads="1"/>
          </p:cNvSpPr>
          <p:nvPr/>
        </p:nvSpPr>
        <p:spPr bwMode="auto">
          <a:xfrm>
            <a:off x="4343400" y="37147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674" name="Oval 42">
            <a:extLst>
              <a:ext uri="{FF2B5EF4-FFF2-40B4-BE49-F238E27FC236}">
                <a16:creationId xmlns:a16="http://schemas.microsoft.com/office/drawing/2014/main" id="{13D78C74-D6D3-5053-1DC2-719C77E9FE98}"/>
              </a:ext>
            </a:extLst>
          </p:cNvPr>
          <p:cNvSpPr>
            <a:spLocks noChangeArrowheads="1"/>
          </p:cNvSpPr>
          <p:nvPr/>
        </p:nvSpPr>
        <p:spPr bwMode="auto">
          <a:xfrm>
            <a:off x="4267200" y="33337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675" name="Oval 43">
            <a:extLst>
              <a:ext uri="{FF2B5EF4-FFF2-40B4-BE49-F238E27FC236}">
                <a16:creationId xmlns:a16="http://schemas.microsoft.com/office/drawing/2014/main" id="{9B9B533B-CC7A-5574-311D-171294DE6027}"/>
              </a:ext>
            </a:extLst>
          </p:cNvPr>
          <p:cNvSpPr>
            <a:spLocks noChangeArrowheads="1"/>
          </p:cNvSpPr>
          <p:nvPr/>
        </p:nvSpPr>
        <p:spPr bwMode="auto">
          <a:xfrm>
            <a:off x="4419600" y="34861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676" name="Oval 44">
            <a:extLst>
              <a:ext uri="{FF2B5EF4-FFF2-40B4-BE49-F238E27FC236}">
                <a16:creationId xmlns:a16="http://schemas.microsoft.com/office/drawing/2014/main" id="{2D19F903-78E1-7017-FFB9-BCCB39158D6E}"/>
              </a:ext>
            </a:extLst>
          </p:cNvPr>
          <p:cNvSpPr>
            <a:spLocks noChangeArrowheads="1"/>
          </p:cNvSpPr>
          <p:nvPr/>
        </p:nvSpPr>
        <p:spPr bwMode="auto">
          <a:xfrm>
            <a:off x="4572000" y="36385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677" name="Oval 45">
            <a:extLst>
              <a:ext uri="{FF2B5EF4-FFF2-40B4-BE49-F238E27FC236}">
                <a16:creationId xmlns:a16="http://schemas.microsoft.com/office/drawing/2014/main" id="{95B421E6-E568-9547-E541-017919D6F58C}"/>
              </a:ext>
            </a:extLst>
          </p:cNvPr>
          <p:cNvSpPr>
            <a:spLocks noChangeArrowheads="1"/>
          </p:cNvSpPr>
          <p:nvPr/>
        </p:nvSpPr>
        <p:spPr bwMode="auto">
          <a:xfrm>
            <a:off x="4495800" y="32575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678" name="Oval 46">
            <a:extLst>
              <a:ext uri="{FF2B5EF4-FFF2-40B4-BE49-F238E27FC236}">
                <a16:creationId xmlns:a16="http://schemas.microsoft.com/office/drawing/2014/main" id="{CEE16DFC-0F57-0F0A-1911-EBE0986EF0B9}"/>
              </a:ext>
            </a:extLst>
          </p:cNvPr>
          <p:cNvSpPr>
            <a:spLocks noChangeArrowheads="1"/>
          </p:cNvSpPr>
          <p:nvPr/>
        </p:nvSpPr>
        <p:spPr bwMode="auto">
          <a:xfrm>
            <a:off x="3962400" y="31051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679" name="Oval 47">
            <a:extLst>
              <a:ext uri="{FF2B5EF4-FFF2-40B4-BE49-F238E27FC236}">
                <a16:creationId xmlns:a16="http://schemas.microsoft.com/office/drawing/2014/main" id="{CBB3CD1C-573D-973A-562D-C5A976EDA878}"/>
              </a:ext>
            </a:extLst>
          </p:cNvPr>
          <p:cNvSpPr>
            <a:spLocks noChangeArrowheads="1"/>
          </p:cNvSpPr>
          <p:nvPr/>
        </p:nvSpPr>
        <p:spPr bwMode="auto">
          <a:xfrm>
            <a:off x="3886200" y="27241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680" name="Oval 48">
            <a:extLst>
              <a:ext uri="{FF2B5EF4-FFF2-40B4-BE49-F238E27FC236}">
                <a16:creationId xmlns:a16="http://schemas.microsoft.com/office/drawing/2014/main" id="{11BB1828-3980-8992-EB7D-C476912BF039}"/>
              </a:ext>
            </a:extLst>
          </p:cNvPr>
          <p:cNvSpPr>
            <a:spLocks noChangeArrowheads="1"/>
          </p:cNvSpPr>
          <p:nvPr/>
        </p:nvSpPr>
        <p:spPr bwMode="auto">
          <a:xfrm>
            <a:off x="4648200" y="34099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681" name="Oval 49">
            <a:extLst>
              <a:ext uri="{FF2B5EF4-FFF2-40B4-BE49-F238E27FC236}">
                <a16:creationId xmlns:a16="http://schemas.microsoft.com/office/drawing/2014/main" id="{0A339343-D1CB-8F51-0C88-CDAF86E3D8D9}"/>
              </a:ext>
            </a:extLst>
          </p:cNvPr>
          <p:cNvSpPr>
            <a:spLocks noChangeArrowheads="1"/>
          </p:cNvSpPr>
          <p:nvPr/>
        </p:nvSpPr>
        <p:spPr bwMode="auto">
          <a:xfrm>
            <a:off x="4267200" y="28765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682" name="Oval 50">
            <a:extLst>
              <a:ext uri="{FF2B5EF4-FFF2-40B4-BE49-F238E27FC236}">
                <a16:creationId xmlns:a16="http://schemas.microsoft.com/office/drawing/2014/main" id="{8C961E5F-1329-124B-FDFE-D8D837A6C63C}"/>
              </a:ext>
            </a:extLst>
          </p:cNvPr>
          <p:cNvSpPr>
            <a:spLocks noChangeArrowheads="1"/>
          </p:cNvSpPr>
          <p:nvPr/>
        </p:nvSpPr>
        <p:spPr bwMode="auto">
          <a:xfrm>
            <a:off x="4038600" y="34861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683" name="Oval 51">
            <a:extLst>
              <a:ext uri="{FF2B5EF4-FFF2-40B4-BE49-F238E27FC236}">
                <a16:creationId xmlns:a16="http://schemas.microsoft.com/office/drawing/2014/main" id="{C3507E8A-1729-7526-E01F-0FF8BAB3C65C}"/>
              </a:ext>
            </a:extLst>
          </p:cNvPr>
          <p:cNvSpPr>
            <a:spLocks noChangeArrowheads="1"/>
          </p:cNvSpPr>
          <p:nvPr/>
        </p:nvSpPr>
        <p:spPr bwMode="auto">
          <a:xfrm>
            <a:off x="4572000" y="26479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cxnSp>
        <p:nvCxnSpPr>
          <p:cNvPr id="197684" name="AutoShape 52">
            <a:extLst>
              <a:ext uri="{FF2B5EF4-FFF2-40B4-BE49-F238E27FC236}">
                <a16:creationId xmlns:a16="http://schemas.microsoft.com/office/drawing/2014/main" id="{DB9F9163-3D7B-E164-C0B1-14D61C1DAF21}"/>
              </a:ext>
            </a:extLst>
          </p:cNvPr>
          <p:cNvCxnSpPr>
            <a:cxnSpLocks noChangeShapeType="1"/>
          </p:cNvCxnSpPr>
          <p:nvPr/>
        </p:nvCxnSpPr>
        <p:spPr bwMode="auto">
          <a:xfrm flipV="1">
            <a:off x="4191001" y="1809751"/>
            <a:ext cx="1076325" cy="409575"/>
          </a:xfrm>
          <a:prstGeom prst="bentConnector3">
            <a:avLst>
              <a:gd name="adj1" fmla="val -1329"/>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7685" name="Text Box 53">
            <a:extLst>
              <a:ext uri="{FF2B5EF4-FFF2-40B4-BE49-F238E27FC236}">
                <a16:creationId xmlns:a16="http://schemas.microsoft.com/office/drawing/2014/main" id="{DEFD268C-EB40-E2BA-F5BD-F59BF6E1F467}"/>
              </a:ext>
            </a:extLst>
          </p:cNvPr>
          <p:cNvSpPr txBox="1">
            <a:spLocks noChangeArrowheads="1"/>
          </p:cNvSpPr>
          <p:nvPr/>
        </p:nvSpPr>
        <p:spPr bwMode="auto">
          <a:xfrm>
            <a:off x="2728082" y="2876550"/>
            <a:ext cx="92717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a:latin typeface="Corbel" panose="020B0503020204020204" pitchFamily="34" charset="0"/>
              </a:rPr>
              <a:t>Slurry</a:t>
            </a:r>
          </a:p>
          <a:p>
            <a:pPr algn="ctr"/>
            <a:r>
              <a:rPr lang="en-US" altLang="en-US">
                <a:latin typeface="Corbel" panose="020B0503020204020204" pitchFamily="34" charset="0"/>
              </a:rPr>
              <a:t>Reactor</a:t>
            </a:r>
          </a:p>
        </p:txBody>
      </p:sp>
      <p:sp>
        <p:nvSpPr>
          <p:cNvPr id="197686" name="Line 54">
            <a:extLst>
              <a:ext uri="{FF2B5EF4-FFF2-40B4-BE49-F238E27FC236}">
                <a16:creationId xmlns:a16="http://schemas.microsoft.com/office/drawing/2014/main" id="{CE5C4564-511F-A1E8-A2FA-504ED5DFE024}"/>
              </a:ext>
            </a:extLst>
          </p:cNvPr>
          <p:cNvSpPr>
            <a:spLocks noChangeShapeType="1"/>
          </p:cNvSpPr>
          <p:nvPr/>
        </p:nvSpPr>
        <p:spPr bwMode="auto">
          <a:xfrm>
            <a:off x="3314700" y="2238375"/>
            <a:ext cx="838200" cy="114300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orbel" panose="020B0503020204020204" pitchFamily="34" charset="0"/>
            </a:endParaRPr>
          </a:p>
        </p:txBody>
      </p:sp>
      <p:sp>
        <p:nvSpPr>
          <p:cNvPr id="197687" name="Oval 55">
            <a:extLst>
              <a:ext uri="{FF2B5EF4-FFF2-40B4-BE49-F238E27FC236}">
                <a16:creationId xmlns:a16="http://schemas.microsoft.com/office/drawing/2014/main" id="{B1F4C495-87F7-B20E-A7A3-2688DDC4FA6E}"/>
              </a:ext>
            </a:extLst>
          </p:cNvPr>
          <p:cNvSpPr>
            <a:spLocks noChangeArrowheads="1"/>
          </p:cNvSpPr>
          <p:nvPr/>
        </p:nvSpPr>
        <p:spPr bwMode="auto">
          <a:xfrm rot="19754236">
            <a:off x="4133850" y="3257550"/>
            <a:ext cx="304800" cy="152400"/>
          </a:xfrm>
          <a:prstGeom prst="ellipse">
            <a:avLst/>
          </a:prstGeom>
          <a:solidFill>
            <a:srgbClr val="B2B2B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688" name="Oval 56">
            <a:extLst>
              <a:ext uri="{FF2B5EF4-FFF2-40B4-BE49-F238E27FC236}">
                <a16:creationId xmlns:a16="http://schemas.microsoft.com/office/drawing/2014/main" id="{DF14B092-A683-D429-9BEF-B214960A15DF}"/>
              </a:ext>
            </a:extLst>
          </p:cNvPr>
          <p:cNvSpPr>
            <a:spLocks noChangeArrowheads="1"/>
          </p:cNvSpPr>
          <p:nvPr/>
        </p:nvSpPr>
        <p:spPr bwMode="auto">
          <a:xfrm rot="19754236">
            <a:off x="3886200" y="3409950"/>
            <a:ext cx="304800" cy="152400"/>
          </a:xfrm>
          <a:prstGeom prst="ellipse">
            <a:avLst/>
          </a:prstGeom>
          <a:solidFill>
            <a:srgbClr val="B2B2B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692" name="AutoShape 60">
            <a:extLst>
              <a:ext uri="{FF2B5EF4-FFF2-40B4-BE49-F238E27FC236}">
                <a16:creationId xmlns:a16="http://schemas.microsoft.com/office/drawing/2014/main" id="{342FD3BC-5C7E-058C-029A-ACF91A3249E7}"/>
              </a:ext>
            </a:extLst>
          </p:cNvPr>
          <p:cNvSpPr>
            <a:spLocks noChangeArrowheads="1"/>
          </p:cNvSpPr>
          <p:nvPr/>
        </p:nvSpPr>
        <p:spPr bwMode="auto">
          <a:xfrm rot="16200000">
            <a:off x="971819" y="2552969"/>
            <a:ext cx="1575017" cy="1205743"/>
          </a:xfrm>
          <a:prstGeom prst="flowChartDisplay">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693" name="Oval 61">
            <a:extLst>
              <a:ext uri="{FF2B5EF4-FFF2-40B4-BE49-F238E27FC236}">
                <a16:creationId xmlns:a16="http://schemas.microsoft.com/office/drawing/2014/main" id="{EA0D9E37-07A2-A421-624D-E05639D9166B}"/>
              </a:ext>
            </a:extLst>
          </p:cNvPr>
          <p:cNvSpPr>
            <a:spLocks noChangeArrowheads="1"/>
          </p:cNvSpPr>
          <p:nvPr/>
        </p:nvSpPr>
        <p:spPr bwMode="auto">
          <a:xfrm>
            <a:off x="1295400" y="34099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694" name="Oval 62">
            <a:extLst>
              <a:ext uri="{FF2B5EF4-FFF2-40B4-BE49-F238E27FC236}">
                <a16:creationId xmlns:a16="http://schemas.microsoft.com/office/drawing/2014/main" id="{334CA30B-F62C-9249-ACCA-9F8C248C42CB}"/>
              </a:ext>
            </a:extLst>
          </p:cNvPr>
          <p:cNvSpPr>
            <a:spLocks noChangeArrowheads="1"/>
          </p:cNvSpPr>
          <p:nvPr/>
        </p:nvSpPr>
        <p:spPr bwMode="auto">
          <a:xfrm>
            <a:off x="1447800" y="35623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695" name="Oval 63">
            <a:extLst>
              <a:ext uri="{FF2B5EF4-FFF2-40B4-BE49-F238E27FC236}">
                <a16:creationId xmlns:a16="http://schemas.microsoft.com/office/drawing/2014/main" id="{D062A69B-76EA-596B-A248-65974DC9AA75}"/>
              </a:ext>
            </a:extLst>
          </p:cNvPr>
          <p:cNvSpPr>
            <a:spLocks noChangeArrowheads="1"/>
          </p:cNvSpPr>
          <p:nvPr/>
        </p:nvSpPr>
        <p:spPr bwMode="auto">
          <a:xfrm>
            <a:off x="1600200" y="37147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696" name="Oval 64">
            <a:extLst>
              <a:ext uri="{FF2B5EF4-FFF2-40B4-BE49-F238E27FC236}">
                <a16:creationId xmlns:a16="http://schemas.microsoft.com/office/drawing/2014/main" id="{301C282D-670F-2FAD-C5C5-2DC9EB096939}"/>
              </a:ext>
            </a:extLst>
          </p:cNvPr>
          <p:cNvSpPr>
            <a:spLocks noChangeArrowheads="1"/>
          </p:cNvSpPr>
          <p:nvPr/>
        </p:nvSpPr>
        <p:spPr bwMode="auto">
          <a:xfrm>
            <a:off x="1524000" y="32575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697" name="Oval 65">
            <a:extLst>
              <a:ext uri="{FF2B5EF4-FFF2-40B4-BE49-F238E27FC236}">
                <a16:creationId xmlns:a16="http://schemas.microsoft.com/office/drawing/2014/main" id="{A2CB29A0-038D-DEA9-DFB9-34B2CEA860C1}"/>
              </a:ext>
            </a:extLst>
          </p:cNvPr>
          <p:cNvSpPr>
            <a:spLocks noChangeArrowheads="1"/>
          </p:cNvSpPr>
          <p:nvPr/>
        </p:nvSpPr>
        <p:spPr bwMode="auto">
          <a:xfrm>
            <a:off x="1676400" y="34861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698" name="Oval 66">
            <a:extLst>
              <a:ext uri="{FF2B5EF4-FFF2-40B4-BE49-F238E27FC236}">
                <a16:creationId xmlns:a16="http://schemas.microsoft.com/office/drawing/2014/main" id="{27A1CDB2-8FF0-B9C4-27A3-553908ECBEC8}"/>
              </a:ext>
            </a:extLst>
          </p:cNvPr>
          <p:cNvSpPr>
            <a:spLocks noChangeArrowheads="1"/>
          </p:cNvSpPr>
          <p:nvPr/>
        </p:nvSpPr>
        <p:spPr bwMode="auto">
          <a:xfrm>
            <a:off x="1828800" y="36385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699" name="Oval 67">
            <a:extLst>
              <a:ext uri="{FF2B5EF4-FFF2-40B4-BE49-F238E27FC236}">
                <a16:creationId xmlns:a16="http://schemas.microsoft.com/office/drawing/2014/main" id="{D4316CD4-8E11-D8B9-6D17-662DC3665077}"/>
              </a:ext>
            </a:extLst>
          </p:cNvPr>
          <p:cNvSpPr>
            <a:spLocks noChangeArrowheads="1"/>
          </p:cNvSpPr>
          <p:nvPr/>
        </p:nvSpPr>
        <p:spPr bwMode="auto">
          <a:xfrm>
            <a:off x="1752600" y="32575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700" name="Oval 68">
            <a:extLst>
              <a:ext uri="{FF2B5EF4-FFF2-40B4-BE49-F238E27FC236}">
                <a16:creationId xmlns:a16="http://schemas.microsoft.com/office/drawing/2014/main" id="{5B1A395C-0F48-AB22-02BD-84F5FD0D6CF6}"/>
              </a:ext>
            </a:extLst>
          </p:cNvPr>
          <p:cNvSpPr>
            <a:spLocks noChangeArrowheads="1"/>
          </p:cNvSpPr>
          <p:nvPr/>
        </p:nvSpPr>
        <p:spPr bwMode="auto">
          <a:xfrm>
            <a:off x="1905000" y="34099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701" name="Oval 69">
            <a:extLst>
              <a:ext uri="{FF2B5EF4-FFF2-40B4-BE49-F238E27FC236}">
                <a16:creationId xmlns:a16="http://schemas.microsoft.com/office/drawing/2014/main" id="{C6042B94-AB42-475A-1BEA-208B7207128D}"/>
              </a:ext>
            </a:extLst>
          </p:cNvPr>
          <p:cNvSpPr>
            <a:spLocks noChangeArrowheads="1"/>
          </p:cNvSpPr>
          <p:nvPr/>
        </p:nvSpPr>
        <p:spPr bwMode="auto">
          <a:xfrm>
            <a:off x="2057400" y="35623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702" name="Oval 70">
            <a:extLst>
              <a:ext uri="{FF2B5EF4-FFF2-40B4-BE49-F238E27FC236}">
                <a16:creationId xmlns:a16="http://schemas.microsoft.com/office/drawing/2014/main" id="{B5720C91-FE57-0E8D-6492-28A448813080}"/>
              </a:ext>
            </a:extLst>
          </p:cNvPr>
          <p:cNvSpPr>
            <a:spLocks noChangeArrowheads="1"/>
          </p:cNvSpPr>
          <p:nvPr/>
        </p:nvSpPr>
        <p:spPr bwMode="auto">
          <a:xfrm>
            <a:off x="1981200" y="31813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703" name="Oval 71">
            <a:extLst>
              <a:ext uri="{FF2B5EF4-FFF2-40B4-BE49-F238E27FC236}">
                <a16:creationId xmlns:a16="http://schemas.microsoft.com/office/drawing/2014/main" id="{1B1F3152-8E06-EA80-6135-537C102F50CF}"/>
              </a:ext>
            </a:extLst>
          </p:cNvPr>
          <p:cNvSpPr>
            <a:spLocks noChangeArrowheads="1"/>
          </p:cNvSpPr>
          <p:nvPr/>
        </p:nvSpPr>
        <p:spPr bwMode="auto">
          <a:xfrm>
            <a:off x="1447800" y="30289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704" name="Oval 72">
            <a:extLst>
              <a:ext uri="{FF2B5EF4-FFF2-40B4-BE49-F238E27FC236}">
                <a16:creationId xmlns:a16="http://schemas.microsoft.com/office/drawing/2014/main" id="{C5A19F1B-BC6E-1FE8-194C-D124767BD778}"/>
              </a:ext>
            </a:extLst>
          </p:cNvPr>
          <p:cNvSpPr>
            <a:spLocks noChangeArrowheads="1"/>
          </p:cNvSpPr>
          <p:nvPr/>
        </p:nvSpPr>
        <p:spPr bwMode="auto">
          <a:xfrm>
            <a:off x="1371600" y="26479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705" name="Oval 73">
            <a:extLst>
              <a:ext uri="{FF2B5EF4-FFF2-40B4-BE49-F238E27FC236}">
                <a16:creationId xmlns:a16="http://schemas.microsoft.com/office/drawing/2014/main" id="{D9EFA54C-BE75-6A16-5B0A-96560C0782E4}"/>
              </a:ext>
            </a:extLst>
          </p:cNvPr>
          <p:cNvSpPr>
            <a:spLocks noChangeArrowheads="1"/>
          </p:cNvSpPr>
          <p:nvPr/>
        </p:nvSpPr>
        <p:spPr bwMode="auto">
          <a:xfrm>
            <a:off x="2133600" y="33337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706" name="Oval 74">
            <a:extLst>
              <a:ext uri="{FF2B5EF4-FFF2-40B4-BE49-F238E27FC236}">
                <a16:creationId xmlns:a16="http://schemas.microsoft.com/office/drawing/2014/main" id="{F318E7AC-F2B4-8CF2-2FBE-B3274AC26F86}"/>
              </a:ext>
            </a:extLst>
          </p:cNvPr>
          <p:cNvSpPr>
            <a:spLocks noChangeArrowheads="1"/>
          </p:cNvSpPr>
          <p:nvPr/>
        </p:nvSpPr>
        <p:spPr bwMode="auto">
          <a:xfrm>
            <a:off x="1752600" y="28003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707" name="Oval 75">
            <a:extLst>
              <a:ext uri="{FF2B5EF4-FFF2-40B4-BE49-F238E27FC236}">
                <a16:creationId xmlns:a16="http://schemas.microsoft.com/office/drawing/2014/main" id="{B77AA011-6574-3C32-A499-20CE1782557A}"/>
              </a:ext>
            </a:extLst>
          </p:cNvPr>
          <p:cNvSpPr>
            <a:spLocks noChangeArrowheads="1"/>
          </p:cNvSpPr>
          <p:nvPr/>
        </p:nvSpPr>
        <p:spPr bwMode="auto">
          <a:xfrm>
            <a:off x="1524000" y="34099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708" name="Oval 76">
            <a:extLst>
              <a:ext uri="{FF2B5EF4-FFF2-40B4-BE49-F238E27FC236}">
                <a16:creationId xmlns:a16="http://schemas.microsoft.com/office/drawing/2014/main" id="{FD3CF6CC-853C-A927-52E2-CE47171DB62F}"/>
              </a:ext>
            </a:extLst>
          </p:cNvPr>
          <p:cNvSpPr>
            <a:spLocks noChangeArrowheads="1"/>
          </p:cNvSpPr>
          <p:nvPr/>
        </p:nvSpPr>
        <p:spPr bwMode="auto">
          <a:xfrm>
            <a:off x="2057400" y="25717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709" name="Text Box 77">
            <a:extLst>
              <a:ext uri="{FF2B5EF4-FFF2-40B4-BE49-F238E27FC236}">
                <a16:creationId xmlns:a16="http://schemas.microsoft.com/office/drawing/2014/main" id="{504D903F-D660-68EA-A3DF-D231C479F8B5}"/>
              </a:ext>
            </a:extLst>
          </p:cNvPr>
          <p:cNvSpPr txBox="1">
            <a:spLocks noChangeArrowheads="1"/>
          </p:cNvSpPr>
          <p:nvPr/>
        </p:nvSpPr>
        <p:spPr bwMode="auto">
          <a:xfrm>
            <a:off x="152743" y="2800350"/>
            <a:ext cx="104547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dirty="0">
                <a:latin typeface="Corbel" panose="020B0503020204020204" pitchFamily="34" charset="0"/>
              </a:rPr>
              <a:t>Fluidized</a:t>
            </a:r>
          </a:p>
          <a:p>
            <a:pPr algn="ctr"/>
            <a:r>
              <a:rPr lang="en-US" altLang="en-US" dirty="0">
                <a:latin typeface="Corbel" panose="020B0503020204020204" pitchFamily="34" charset="0"/>
              </a:rPr>
              <a:t>Bed</a:t>
            </a:r>
          </a:p>
        </p:txBody>
      </p:sp>
      <p:sp>
        <p:nvSpPr>
          <p:cNvPr id="197710" name="AutoShape 78">
            <a:extLst>
              <a:ext uri="{FF2B5EF4-FFF2-40B4-BE49-F238E27FC236}">
                <a16:creationId xmlns:a16="http://schemas.microsoft.com/office/drawing/2014/main" id="{0FFCA9B8-E7C2-6EE9-35FF-61A85F37DE61}"/>
              </a:ext>
            </a:extLst>
          </p:cNvPr>
          <p:cNvSpPr>
            <a:spLocks noChangeArrowheads="1"/>
          </p:cNvSpPr>
          <p:nvPr/>
        </p:nvSpPr>
        <p:spPr bwMode="auto">
          <a:xfrm>
            <a:off x="6400800" y="2419350"/>
            <a:ext cx="609600" cy="1752600"/>
          </a:xfrm>
          <a:prstGeom prst="can">
            <a:avLst>
              <a:gd name="adj" fmla="val 41262"/>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711" name="Oval 79">
            <a:extLst>
              <a:ext uri="{FF2B5EF4-FFF2-40B4-BE49-F238E27FC236}">
                <a16:creationId xmlns:a16="http://schemas.microsoft.com/office/drawing/2014/main" id="{9150BD9C-9DF9-E280-6944-7D6EA8797651}"/>
              </a:ext>
            </a:extLst>
          </p:cNvPr>
          <p:cNvSpPr>
            <a:spLocks noChangeArrowheads="1"/>
          </p:cNvSpPr>
          <p:nvPr/>
        </p:nvSpPr>
        <p:spPr bwMode="auto">
          <a:xfrm>
            <a:off x="6477000" y="33337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712" name="Oval 80">
            <a:extLst>
              <a:ext uri="{FF2B5EF4-FFF2-40B4-BE49-F238E27FC236}">
                <a16:creationId xmlns:a16="http://schemas.microsoft.com/office/drawing/2014/main" id="{BF4AD5BC-8C5B-FF09-9A4C-3A2BF453433B}"/>
              </a:ext>
            </a:extLst>
          </p:cNvPr>
          <p:cNvSpPr>
            <a:spLocks noChangeArrowheads="1"/>
          </p:cNvSpPr>
          <p:nvPr/>
        </p:nvSpPr>
        <p:spPr bwMode="auto">
          <a:xfrm>
            <a:off x="6553200" y="39433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713" name="Oval 81">
            <a:extLst>
              <a:ext uri="{FF2B5EF4-FFF2-40B4-BE49-F238E27FC236}">
                <a16:creationId xmlns:a16="http://schemas.microsoft.com/office/drawing/2014/main" id="{00A836EA-DC0A-5C3F-E844-D4DD28660C2C}"/>
              </a:ext>
            </a:extLst>
          </p:cNvPr>
          <p:cNvSpPr>
            <a:spLocks noChangeArrowheads="1"/>
          </p:cNvSpPr>
          <p:nvPr/>
        </p:nvSpPr>
        <p:spPr bwMode="auto">
          <a:xfrm>
            <a:off x="6477000" y="35623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714" name="Oval 82">
            <a:extLst>
              <a:ext uri="{FF2B5EF4-FFF2-40B4-BE49-F238E27FC236}">
                <a16:creationId xmlns:a16="http://schemas.microsoft.com/office/drawing/2014/main" id="{99270229-2624-7DD0-61A0-600C2C5674D5}"/>
              </a:ext>
            </a:extLst>
          </p:cNvPr>
          <p:cNvSpPr>
            <a:spLocks noChangeArrowheads="1"/>
          </p:cNvSpPr>
          <p:nvPr/>
        </p:nvSpPr>
        <p:spPr bwMode="auto">
          <a:xfrm>
            <a:off x="6629400" y="37147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715" name="Oval 83">
            <a:extLst>
              <a:ext uri="{FF2B5EF4-FFF2-40B4-BE49-F238E27FC236}">
                <a16:creationId xmlns:a16="http://schemas.microsoft.com/office/drawing/2014/main" id="{5B044C3F-64C5-7174-1066-4F2B3D5F8114}"/>
              </a:ext>
            </a:extLst>
          </p:cNvPr>
          <p:cNvSpPr>
            <a:spLocks noChangeArrowheads="1"/>
          </p:cNvSpPr>
          <p:nvPr/>
        </p:nvSpPr>
        <p:spPr bwMode="auto">
          <a:xfrm>
            <a:off x="6553200" y="29527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716" name="Oval 84">
            <a:extLst>
              <a:ext uri="{FF2B5EF4-FFF2-40B4-BE49-F238E27FC236}">
                <a16:creationId xmlns:a16="http://schemas.microsoft.com/office/drawing/2014/main" id="{67F9582D-1A8B-B101-6DEE-4CD6FBEC299E}"/>
              </a:ext>
            </a:extLst>
          </p:cNvPr>
          <p:cNvSpPr>
            <a:spLocks noChangeArrowheads="1"/>
          </p:cNvSpPr>
          <p:nvPr/>
        </p:nvSpPr>
        <p:spPr bwMode="auto">
          <a:xfrm>
            <a:off x="6705600" y="31813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717" name="Oval 85">
            <a:extLst>
              <a:ext uri="{FF2B5EF4-FFF2-40B4-BE49-F238E27FC236}">
                <a16:creationId xmlns:a16="http://schemas.microsoft.com/office/drawing/2014/main" id="{9F14FFEA-EBFE-35C4-4E71-DDCF87658B4F}"/>
              </a:ext>
            </a:extLst>
          </p:cNvPr>
          <p:cNvSpPr>
            <a:spLocks noChangeArrowheads="1"/>
          </p:cNvSpPr>
          <p:nvPr/>
        </p:nvSpPr>
        <p:spPr bwMode="auto">
          <a:xfrm>
            <a:off x="6781800" y="37909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718" name="Oval 86">
            <a:extLst>
              <a:ext uri="{FF2B5EF4-FFF2-40B4-BE49-F238E27FC236}">
                <a16:creationId xmlns:a16="http://schemas.microsoft.com/office/drawing/2014/main" id="{374524B6-DE57-B5B9-8944-FDD95C2897B0}"/>
              </a:ext>
            </a:extLst>
          </p:cNvPr>
          <p:cNvSpPr>
            <a:spLocks noChangeArrowheads="1"/>
          </p:cNvSpPr>
          <p:nvPr/>
        </p:nvSpPr>
        <p:spPr bwMode="auto">
          <a:xfrm>
            <a:off x="6705600" y="34099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719" name="Oval 87">
            <a:extLst>
              <a:ext uri="{FF2B5EF4-FFF2-40B4-BE49-F238E27FC236}">
                <a16:creationId xmlns:a16="http://schemas.microsoft.com/office/drawing/2014/main" id="{42847098-8C95-4960-57AC-F0F309CFE736}"/>
              </a:ext>
            </a:extLst>
          </p:cNvPr>
          <p:cNvSpPr>
            <a:spLocks noChangeArrowheads="1"/>
          </p:cNvSpPr>
          <p:nvPr/>
        </p:nvSpPr>
        <p:spPr bwMode="auto">
          <a:xfrm>
            <a:off x="6858000" y="35623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720" name="Oval 88">
            <a:extLst>
              <a:ext uri="{FF2B5EF4-FFF2-40B4-BE49-F238E27FC236}">
                <a16:creationId xmlns:a16="http://schemas.microsoft.com/office/drawing/2014/main" id="{79107CF7-5F22-2725-675F-0BF1A03D929C}"/>
              </a:ext>
            </a:extLst>
          </p:cNvPr>
          <p:cNvSpPr>
            <a:spLocks noChangeArrowheads="1"/>
          </p:cNvSpPr>
          <p:nvPr/>
        </p:nvSpPr>
        <p:spPr bwMode="auto">
          <a:xfrm>
            <a:off x="6781800" y="28003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cxnSp>
        <p:nvCxnSpPr>
          <p:cNvPr id="197721" name="AutoShape 89">
            <a:extLst>
              <a:ext uri="{FF2B5EF4-FFF2-40B4-BE49-F238E27FC236}">
                <a16:creationId xmlns:a16="http://schemas.microsoft.com/office/drawing/2014/main" id="{1514C0E1-7E6D-07C7-B645-4B79B04B0050}"/>
              </a:ext>
            </a:extLst>
          </p:cNvPr>
          <p:cNvCxnSpPr>
            <a:cxnSpLocks noChangeShapeType="1"/>
          </p:cNvCxnSpPr>
          <p:nvPr/>
        </p:nvCxnSpPr>
        <p:spPr bwMode="auto">
          <a:xfrm flipV="1">
            <a:off x="5800725" y="4171950"/>
            <a:ext cx="952500" cy="609600"/>
          </a:xfrm>
          <a:prstGeom prst="bentConnector2">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7722" name="AutoShape 90">
            <a:extLst>
              <a:ext uri="{FF2B5EF4-FFF2-40B4-BE49-F238E27FC236}">
                <a16:creationId xmlns:a16="http://schemas.microsoft.com/office/drawing/2014/main" id="{F83E3525-9C4C-43BD-4582-D283B29A2C62}"/>
              </a:ext>
            </a:extLst>
          </p:cNvPr>
          <p:cNvCxnSpPr>
            <a:cxnSpLocks noChangeShapeType="1"/>
          </p:cNvCxnSpPr>
          <p:nvPr/>
        </p:nvCxnSpPr>
        <p:spPr bwMode="auto">
          <a:xfrm flipV="1">
            <a:off x="6715126" y="2114551"/>
            <a:ext cx="600075" cy="409575"/>
          </a:xfrm>
          <a:prstGeom prst="bentConnector3">
            <a:avLst>
              <a:gd name="adj1" fmla="val -796"/>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7723" name="AutoShape 91">
            <a:extLst>
              <a:ext uri="{FF2B5EF4-FFF2-40B4-BE49-F238E27FC236}">
                <a16:creationId xmlns:a16="http://schemas.microsoft.com/office/drawing/2014/main" id="{61A003BB-303E-258C-13E6-A2CC6AC2BEAF}"/>
              </a:ext>
            </a:extLst>
          </p:cNvPr>
          <p:cNvSpPr>
            <a:spLocks noChangeArrowheads="1"/>
          </p:cNvSpPr>
          <p:nvPr/>
        </p:nvSpPr>
        <p:spPr bwMode="auto">
          <a:xfrm rot="16200000">
            <a:off x="7162800" y="2038350"/>
            <a:ext cx="685800" cy="381000"/>
          </a:xfrm>
          <a:prstGeom prst="flowChartDisplay">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724" name="Oval 92">
            <a:extLst>
              <a:ext uri="{FF2B5EF4-FFF2-40B4-BE49-F238E27FC236}">
                <a16:creationId xmlns:a16="http://schemas.microsoft.com/office/drawing/2014/main" id="{D783B3CF-1A54-78F1-1E46-581486211C14}"/>
              </a:ext>
            </a:extLst>
          </p:cNvPr>
          <p:cNvSpPr>
            <a:spLocks noChangeArrowheads="1"/>
          </p:cNvSpPr>
          <p:nvPr/>
        </p:nvSpPr>
        <p:spPr bwMode="auto">
          <a:xfrm>
            <a:off x="7467600" y="2409825"/>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725" name="Oval 93">
            <a:extLst>
              <a:ext uri="{FF2B5EF4-FFF2-40B4-BE49-F238E27FC236}">
                <a16:creationId xmlns:a16="http://schemas.microsoft.com/office/drawing/2014/main" id="{2E462646-709C-D6F7-4BB7-041401B538DD}"/>
              </a:ext>
            </a:extLst>
          </p:cNvPr>
          <p:cNvSpPr>
            <a:spLocks noChangeArrowheads="1"/>
          </p:cNvSpPr>
          <p:nvPr/>
        </p:nvSpPr>
        <p:spPr bwMode="auto">
          <a:xfrm>
            <a:off x="7391400" y="2028825"/>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726" name="Oval 94">
            <a:extLst>
              <a:ext uri="{FF2B5EF4-FFF2-40B4-BE49-F238E27FC236}">
                <a16:creationId xmlns:a16="http://schemas.microsoft.com/office/drawing/2014/main" id="{99BF6F04-5EEA-E396-6D85-ACB626057DF3}"/>
              </a:ext>
            </a:extLst>
          </p:cNvPr>
          <p:cNvSpPr>
            <a:spLocks noChangeArrowheads="1"/>
          </p:cNvSpPr>
          <p:nvPr/>
        </p:nvSpPr>
        <p:spPr bwMode="auto">
          <a:xfrm>
            <a:off x="7543800" y="2181225"/>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sp>
        <p:nvSpPr>
          <p:cNvPr id="197727" name="Oval 95">
            <a:extLst>
              <a:ext uri="{FF2B5EF4-FFF2-40B4-BE49-F238E27FC236}">
                <a16:creationId xmlns:a16="http://schemas.microsoft.com/office/drawing/2014/main" id="{AF803859-16C7-BCF7-5796-CBCF2BDB5648}"/>
              </a:ext>
            </a:extLst>
          </p:cNvPr>
          <p:cNvSpPr>
            <a:spLocks noChangeArrowheads="1"/>
          </p:cNvSpPr>
          <p:nvPr/>
        </p:nvSpPr>
        <p:spPr bwMode="auto">
          <a:xfrm>
            <a:off x="7543800" y="203835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orbel" panose="020B0503020204020204" pitchFamily="34" charset="0"/>
            </a:endParaRPr>
          </a:p>
        </p:txBody>
      </p:sp>
      <p:cxnSp>
        <p:nvCxnSpPr>
          <p:cNvPr id="197728" name="AutoShape 96">
            <a:extLst>
              <a:ext uri="{FF2B5EF4-FFF2-40B4-BE49-F238E27FC236}">
                <a16:creationId xmlns:a16="http://schemas.microsoft.com/office/drawing/2014/main" id="{84D8CF47-F131-678A-084D-3C3444615324}"/>
              </a:ext>
            </a:extLst>
          </p:cNvPr>
          <p:cNvCxnSpPr>
            <a:cxnSpLocks noChangeShapeType="1"/>
            <a:stCxn id="197723" idx="1"/>
          </p:cNvCxnSpPr>
          <p:nvPr/>
        </p:nvCxnSpPr>
        <p:spPr bwMode="auto">
          <a:xfrm rot="5400000">
            <a:off x="6181725" y="3152775"/>
            <a:ext cx="1905000" cy="742950"/>
          </a:xfrm>
          <a:prstGeom prst="bentConnector3">
            <a:avLst>
              <a:gd name="adj1" fmla="val 101500"/>
            </a:avLst>
          </a:prstGeom>
          <a:noFill/>
          <a:ln w="254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7729" name="AutoShape 97">
            <a:extLst>
              <a:ext uri="{FF2B5EF4-FFF2-40B4-BE49-F238E27FC236}">
                <a16:creationId xmlns:a16="http://schemas.microsoft.com/office/drawing/2014/main" id="{0E570528-7D76-2100-1AF8-C23689C77B15}"/>
              </a:ext>
            </a:extLst>
          </p:cNvPr>
          <p:cNvCxnSpPr>
            <a:cxnSpLocks noChangeShapeType="1"/>
          </p:cNvCxnSpPr>
          <p:nvPr/>
        </p:nvCxnSpPr>
        <p:spPr bwMode="auto">
          <a:xfrm flipV="1">
            <a:off x="7515226" y="1476376"/>
            <a:ext cx="600075" cy="409575"/>
          </a:xfrm>
          <a:prstGeom prst="bentConnector3">
            <a:avLst>
              <a:gd name="adj1" fmla="val -796"/>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7730" name="Text Box 98">
            <a:extLst>
              <a:ext uri="{FF2B5EF4-FFF2-40B4-BE49-F238E27FC236}">
                <a16:creationId xmlns:a16="http://schemas.microsoft.com/office/drawing/2014/main" id="{0E2B3D50-981E-69E8-C057-F670782E0425}"/>
              </a:ext>
            </a:extLst>
          </p:cNvPr>
          <p:cNvSpPr txBox="1">
            <a:spLocks noChangeArrowheads="1"/>
          </p:cNvSpPr>
          <p:nvPr/>
        </p:nvSpPr>
        <p:spPr bwMode="auto">
          <a:xfrm>
            <a:off x="5440300" y="2876550"/>
            <a:ext cx="96532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a:latin typeface="Corbel" panose="020B0503020204020204" pitchFamily="34" charset="0"/>
              </a:rPr>
              <a:t>Catalyst</a:t>
            </a:r>
          </a:p>
          <a:p>
            <a:pPr algn="ctr"/>
            <a:r>
              <a:rPr lang="en-US" altLang="en-US">
                <a:latin typeface="Corbel" panose="020B0503020204020204" pitchFamily="34" charset="0"/>
              </a:rPr>
              <a:t>Recycle</a:t>
            </a:r>
          </a:p>
          <a:p>
            <a:pPr algn="ctr"/>
            <a:r>
              <a:rPr lang="en-US" altLang="en-US">
                <a:latin typeface="Corbel" panose="020B0503020204020204" pitchFamily="34" charset="0"/>
              </a:rPr>
              <a:t>Reactor</a:t>
            </a:r>
          </a:p>
        </p:txBody>
      </p:sp>
      <p:sp>
        <p:nvSpPr>
          <p:cNvPr id="6" name="AutoShape 78">
            <a:extLst>
              <a:ext uri="{FF2B5EF4-FFF2-40B4-BE49-F238E27FC236}">
                <a16:creationId xmlns:a16="http://schemas.microsoft.com/office/drawing/2014/main" id="{FA49CFEC-F9D4-3375-BE4E-6FAD6B46F811}"/>
              </a:ext>
            </a:extLst>
          </p:cNvPr>
          <p:cNvSpPr>
            <a:spLocks noChangeArrowheads="1"/>
          </p:cNvSpPr>
          <p:nvPr/>
        </p:nvSpPr>
        <p:spPr bwMode="auto">
          <a:xfrm rot="5400000">
            <a:off x="2133600" y="-23827"/>
            <a:ext cx="609600" cy="2133600"/>
          </a:xfrm>
          <a:prstGeom prst="can">
            <a:avLst>
              <a:gd name="adj" fmla="val 41262"/>
            </a:avLst>
          </a:prstGeom>
          <a:blipFill>
            <a:blip r:embed="rId3"/>
            <a:tile tx="0" ty="0" sx="100000" sy="100000" flip="none" algn="tl"/>
          </a:blipFill>
          <a:ln w="9525">
            <a:solidFill>
              <a:schemeClr val="tx1"/>
            </a:solidFill>
            <a:round/>
            <a:headEnd/>
            <a:tailEnd/>
          </a:ln>
          <a:effectLst/>
        </p:spPr>
        <p:txBody>
          <a:bodyPr wrap="none" anchor="ctr"/>
          <a:lstStyle/>
          <a:p>
            <a:endParaRPr lang="en-US">
              <a:latin typeface="Corbel" panose="020B0503020204020204" pitchFamily="34" charset="0"/>
            </a:endParaRPr>
          </a:p>
        </p:txBody>
      </p:sp>
      <p:sp>
        <p:nvSpPr>
          <p:cNvPr id="197639" name="Line 7">
            <a:extLst>
              <a:ext uri="{FF2B5EF4-FFF2-40B4-BE49-F238E27FC236}">
                <a16:creationId xmlns:a16="http://schemas.microsoft.com/office/drawing/2014/main" id="{231FF499-9CFD-1A1B-E1D5-D289BA53CAD8}"/>
              </a:ext>
            </a:extLst>
          </p:cNvPr>
          <p:cNvSpPr>
            <a:spLocks noChangeShapeType="1"/>
          </p:cNvSpPr>
          <p:nvPr/>
        </p:nvSpPr>
        <p:spPr bwMode="auto">
          <a:xfrm>
            <a:off x="3329604" y="1047750"/>
            <a:ext cx="6096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 name="Text Box 77">
            <a:extLst>
              <a:ext uri="{FF2B5EF4-FFF2-40B4-BE49-F238E27FC236}">
                <a16:creationId xmlns:a16="http://schemas.microsoft.com/office/drawing/2014/main" id="{4F389F67-0D6F-47E2-39C6-654C995F3227}"/>
              </a:ext>
            </a:extLst>
          </p:cNvPr>
          <p:cNvSpPr txBox="1">
            <a:spLocks noChangeArrowheads="1"/>
          </p:cNvSpPr>
          <p:nvPr/>
        </p:nvSpPr>
        <p:spPr bwMode="auto">
          <a:xfrm>
            <a:off x="1732958" y="749766"/>
            <a:ext cx="87748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dirty="0">
                <a:latin typeface="Corbel" panose="020B0503020204020204" pitchFamily="34" charset="0"/>
              </a:rPr>
              <a:t>Packed</a:t>
            </a:r>
          </a:p>
          <a:p>
            <a:pPr algn="ctr"/>
            <a:r>
              <a:rPr lang="en-US" altLang="en-US" dirty="0">
                <a:latin typeface="Corbel" panose="020B0503020204020204" pitchFamily="34" charset="0"/>
              </a:rPr>
              <a:t>Bed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a:extLst>
              <a:ext uri="{FF2B5EF4-FFF2-40B4-BE49-F238E27FC236}">
                <a16:creationId xmlns:a16="http://schemas.microsoft.com/office/drawing/2014/main" id="{259EDD5B-1332-536D-F154-EC69E06E7E95}"/>
              </a:ext>
            </a:extLst>
          </p:cNvPr>
          <p:cNvSpPr>
            <a:spLocks noGrp="1" noChangeArrowheads="1"/>
          </p:cNvSpPr>
          <p:nvPr>
            <p:ph type="title"/>
          </p:nvPr>
        </p:nvSpPr>
        <p:spPr/>
        <p:txBody>
          <a:bodyPr>
            <a:normAutofit fontScale="90000"/>
          </a:bodyPr>
          <a:lstStyle/>
          <a:p>
            <a:r>
              <a:rPr lang="en-US" altLang="en-US"/>
              <a:t>Length Scales in Heterogeneous Catalysis</a:t>
            </a:r>
          </a:p>
        </p:txBody>
      </p:sp>
      <p:sp>
        <p:nvSpPr>
          <p:cNvPr id="2" name="Date Placeholder 2">
            <a:extLst>
              <a:ext uri="{FF2B5EF4-FFF2-40B4-BE49-F238E27FC236}">
                <a16:creationId xmlns:a16="http://schemas.microsoft.com/office/drawing/2014/main" id="{C286A6FD-F9AB-00FF-8E22-E8314BC5C467}"/>
              </a:ext>
            </a:extLst>
          </p:cNvPr>
          <p:cNvSpPr>
            <a:spLocks noGrp="1"/>
          </p:cNvSpPr>
          <p:nvPr>
            <p:ph type="dt" sz="half" idx="10"/>
          </p:nvPr>
        </p:nvSpPr>
        <p:spPr/>
        <p:txBody>
          <a:bodyPr/>
          <a:lstStyle/>
          <a:p>
            <a:r>
              <a:rPr lang="en-US" altLang="en-US"/>
              <a:t>W. F. Schneider</a:t>
            </a:r>
          </a:p>
        </p:txBody>
      </p:sp>
      <p:sp>
        <p:nvSpPr>
          <p:cNvPr id="3" name="Footer Placeholder 3">
            <a:extLst>
              <a:ext uri="{FF2B5EF4-FFF2-40B4-BE49-F238E27FC236}">
                <a16:creationId xmlns:a16="http://schemas.microsoft.com/office/drawing/2014/main" id="{34037140-34AB-64D0-1B3B-2DE60527D7CA}"/>
              </a:ext>
            </a:extLst>
          </p:cNvPr>
          <p:cNvSpPr>
            <a:spLocks noGrp="1"/>
          </p:cNvSpPr>
          <p:nvPr>
            <p:ph type="ftr" sz="quarter" idx="11"/>
          </p:nvPr>
        </p:nvSpPr>
        <p:spPr/>
        <p:txBody>
          <a:bodyPr/>
          <a:lstStyle/>
          <a:p>
            <a:r>
              <a:rPr lang="en-US" altLang="en-US"/>
              <a:t>CBE 60546</a:t>
            </a:r>
          </a:p>
        </p:txBody>
      </p:sp>
      <p:pic>
        <p:nvPicPr>
          <p:cNvPr id="203780" name="Picture 4">
            <a:extLst>
              <a:ext uri="{FF2B5EF4-FFF2-40B4-BE49-F238E27FC236}">
                <a16:creationId xmlns:a16="http://schemas.microsoft.com/office/drawing/2014/main" id="{C436E285-1C9A-1706-6446-100BA12A93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9867" t="56902" r="3856" b="14317"/>
          <a:stretch>
            <a:fillRect/>
          </a:stretch>
        </p:blipFill>
        <p:spPr bwMode="auto">
          <a:xfrm>
            <a:off x="1524000" y="735565"/>
            <a:ext cx="5943600" cy="3033713"/>
          </a:xfrm>
          <a:prstGeom prst="rect">
            <a:avLst/>
          </a:prstGeom>
          <a:noFill/>
          <a:extLst>
            <a:ext uri="{909E8E84-426E-40DD-AFC4-6F175D3DCCD1}">
              <a14:hiddenFill xmlns:a14="http://schemas.microsoft.com/office/drawing/2010/main">
                <a:solidFill>
                  <a:srgbClr val="FFFFFF"/>
                </a:solidFill>
              </a14:hiddenFill>
            </a:ext>
          </a:extLst>
        </p:spPr>
      </p:pic>
      <p:sp>
        <p:nvSpPr>
          <p:cNvPr id="203781" name="Line 5">
            <a:extLst>
              <a:ext uri="{FF2B5EF4-FFF2-40B4-BE49-F238E27FC236}">
                <a16:creationId xmlns:a16="http://schemas.microsoft.com/office/drawing/2014/main" id="{2371BF27-76EB-5BA8-28C2-080527738D9E}"/>
              </a:ext>
            </a:extLst>
          </p:cNvPr>
          <p:cNvSpPr>
            <a:spLocks noChangeShapeType="1"/>
          </p:cNvSpPr>
          <p:nvPr/>
        </p:nvSpPr>
        <p:spPr bwMode="auto">
          <a:xfrm>
            <a:off x="1828800" y="3769278"/>
            <a:ext cx="3733800" cy="0"/>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00">
              <a:latin typeface="Corbel" panose="020B0503020204020204" pitchFamily="34" charset="0"/>
            </a:endParaRPr>
          </a:p>
        </p:txBody>
      </p:sp>
      <p:sp>
        <p:nvSpPr>
          <p:cNvPr id="203782" name="Text Box 6">
            <a:extLst>
              <a:ext uri="{FF2B5EF4-FFF2-40B4-BE49-F238E27FC236}">
                <a16:creationId xmlns:a16="http://schemas.microsoft.com/office/drawing/2014/main" id="{73F230F7-3681-73B8-FC8B-70FA91067289}"/>
              </a:ext>
            </a:extLst>
          </p:cNvPr>
          <p:cNvSpPr txBox="1">
            <a:spLocks noChangeArrowheads="1"/>
          </p:cNvSpPr>
          <p:nvPr/>
        </p:nvSpPr>
        <p:spPr bwMode="auto">
          <a:xfrm>
            <a:off x="2438400" y="3921678"/>
            <a:ext cx="225414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latin typeface="Corbel" panose="020B0503020204020204" pitchFamily="34" charset="0"/>
              </a:rPr>
              <a:t>Mass transport/diffusion</a:t>
            </a:r>
          </a:p>
        </p:txBody>
      </p:sp>
      <p:sp>
        <p:nvSpPr>
          <p:cNvPr id="203783" name="Line 7">
            <a:extLst>
              <a:ext uri="{FF2B5EF4-FFF2-40B4-BE49-F238E27FC236}">
                <a16:creationId xmlns:a16="http://schemas.microsoft.com/office/drawing/2014/main" id="{28580546-A206-9573-D029-021CB25B1A92}"/>
              </a:ext>
            </a:extLst>
          </p:cNvPr>
          <p:cNvSpPr>
            <a:spLocks noChangeShapeType="1"/>
          </p:cNvSpPr>
          <p:nvPr/>
        </p:nvSpPr>
        <p:spPr bwMode="auto">
          <a:xfrm>
            <a:off x="6477000" y="4705350"/>
            <a:ext cx="1676400" cy="0"/>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3784" name="Text Box 8">
            <a:extLst>
              <a:ext uri="{FF2B5EF4-FFF2-40B4-BE49-F238E27FC236}">
                <a16:creationId xmlns:a16="http://schemas.microsoft.com/office/drawing/2014/main" id="{B481356D-C46E-53EF-C9B4-1507571E3EBC}"/>
              </a:ext>
            </a:extLst>
          </p:cNvPr>
          <p:cNvSpPr txBox="1">
            <a:spLocks noChangeArrowheads="1"/>
          </p:cNvSpPr>
          <p:nvPr/>
        </p:nvSpPr>
        <p:spPr bwMode="auto">
          <a:xfrm>
            <a:off x="5864226" y="3845478"/>
            <a:ext cx="198437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1600">
                <a:latin typeface="Corbel" panose="020B0503020204020204" pitchFamily="34" charset="0"/>
              </a:rPr>
              <a:t>Chemical adsorption and reaction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a:extLst>
              <a:ext uri="{FF2B5EF4-FFF2-40B4-BE49-F238E27FC236}">
                <a16:creationId xmlns:a16="http://schemas.microsoft.com/office/drawing/2014/main" id="{3862E85B-5E94-4CC6-CB5E-D20BC0242C20}"/>
              </a:ext>
            </a:extLst>
          </p:cNvPr>
          <p:cNvSpPr>
            <a:spLocks noGrp="1" noChangeArrowheads="1"/>
          </p:cNvSpPr>
          <p:nvPr>
            <p:ph type="title"/>
          </p:nvPr>
        </p:nvSpPr>
        <p:spPr/>
        <p:txBody>
          <a:bodyPr>
            <a:normAutofit fontScale="90000"/>
          </a:bodyPr>
          <a:lstStyle/>
          <a:p>
            <a:r>
              <a:rPr lang="en-US" altLang="en-US" dirty="0"/>
              <a:t>Characteristics of Supported Catalysts</a:t>
            </a:r>
          </a:p>
        </p:txBody>
      </p:sp>
      <p:sp>
        <p:nvSpPr>
          <p:cNvPr id="211971" name="Rectangle 3">
            <a:extLst>
              <a:ext uri="{FF2B5EF4-FFF2-40B4-BE49-F238E27FC236}">
                <a16:creationId xmlns:a16="http://schemas.microsoft.com/office/drawing/2014/main" id="{3AAED58B-2BF3-D3D8-AE4D-5C1BF348F56C}"/>
              </a:ext>
            </a:extLst>
          </p:cNvPr>
          <p:cNvSpPr>
            <a:spLocks noGrp="1" noChangeArrowheads="1"/>
          </p:cNvSpPr>
          <p:nvPr>
            <p:ph idx="1"/>
          </p:nvPr>
        </p:nvSpPr>
        <p:spPr/>
        <p:txBody>
          <a:bodyPr/>
          <a:lstStyle/>
          <a:p>
            <a:r>
              <a:rPr lang="en-US" altLang="en-US" u="sng"/>
              <a:t>Surface area</a:t>
            </a:r>
            <a:r>
              <a:rPr lang="en-US" altLang="en-US"/>
              <a:t>:</a:t>
            </a:r>
          </a:p>
          <a:p>
            <a:pPr lvl="1"/>
            <a:r>
              <a:rPr lang="en-US" altLang="en-US"/>
              <a:t>Amount of internal support surface accessible to a fluid</a:t>
            </a:r>
          </a:p>
          <a:p>
            <a:pPr lvl="1"/>
            <a:r>
              <a:rPr lang="en-US" altLang="en-US"/>
              <a:t>Measured by gas adsorption isotherms</a:t>
            </a:r>
          </a:p>
          <a:p>
            <a:r>
              <a:rPr lang="en-US" altLang="en-US" u="sng"/>
              <a:t>Loading</a:t>
            </a:r>
            <a:r>
              <a:rPr lang="en-US" altLang="en-US"/>
              <a:t>:</a:t>
            </a:r>
          </a:p>
          <a:p>
            <a:pPr lvl="1"/>
            <a:r>
              <a:rPr lang="en-US" altLang="en-US"/>
              <a:t>Mass of transition metal per mass of support</a:t>
            </a:r>
          </a:p>
          <a:p>
            <a:r>
              <a:rPr lang="en-US" altLang="en-US" u="sng"/>
              <a:t>Dispersion</a:t>
            </a:r>
            <a:r>
              <a:rPr lang="en-US" altLang="en-US"/>
              <a:t>:</a:t>
            </a:r>
          </a:p>
          <a:p>
            <a:pPr lvl="1"/>
            <a:r>
              <a:rPr lang="en-US" altLang="en-US"/>
              <a:t>Percent of metal atoms accessible to a fluid</a:t>
            </a:r>
          </a:p>
        </p:txBody>
      </p:sp>
      <p:sp>
        <p:nvSpPr>
          <p:cNvPr id="2" name="Date Placeholder 3">
            <a:extLst>
              <a:ext uri="{FF2B5EF4-FFF2-40B4-BE49-F238E27FC236}">
                <a16:creationId xmlns:a16="http://schemas.microsoft.com/office/drawing/2014/main" id="{8CC60F1D-C35A-DA3F-4E35-1691645C81D1}"/>
              </a:ext>
            </a:extLst>
          </p:cNvPr>
          <p:cNvSpPr>
            <a:spLocks noGrp="1"/>
          </p:cNvSpPr>
          <p:nvPr>
            <p:ph type="dt" sz="half" idx="10"/>
          </p:nvPr>
        </p:nvSpPr>
        <p:spPr/>
        <p:txBody>
          <a:bodyPr/>
          <a:lstStyle/>
          <a:p>
            <a:r>
              <a:rPr lang="en-US" altLang="en-US"/>
              <a:t>W. F. Schneider</a:t>
            </a:r>
          </a:p>
        </p:txBody>
      </p:sp>
      <p:sp>
        <p:nvSpPr>
          <p:cNvPr id="3" name="Footer Placeholder 4">
            <a:extLst>
              <a:ext uri="{FF2B5EF4-FFF2-40B4-BE49-F238E27FC236}">
                <a16:creationId xmlns:a16="http://schemas.microsoft.com/office/drawing/2014/main" id="{FFBBD115-86EF-2D20-CE1C-7247C53AA3AA}"/>
              </a:ext>
            </a:extLst>
          </p:cNvPr>
          <p:cNvSpPr>
            <a:spLocks noGrp="1"/>
          </p:cNvSpPr>
          <p:nvPr>
            <p:ph type="ftr" sz="quarter" idx="11"/>
          </p:nvPr>
        </p:nvSpPr>
        <p:spPr/>
        <p:txBody>
          <a:bodyPr/>
          <a:lstStyle/>
          <a:p>
            <a:r>
              <a:rPr lang="en-US" altLang="en-US"/>
              <a:t>CBE 60546</a:t>
            </a:r>
          </a:p>
        </p:txBody>
      </p:sp>
      <p:sp>
        <p:nvSpPr>
          <p:cNvPr id="211973" name="Rectangle 5">
            <a:extLst>
              <a:ext uri="{FF2B5EF4-FFF2-40B4-BE49-F238E27FC236}">
                <a16:creationId xmlns:a16="http://schemas.microsoft.com/office/drawing/2014/main" id="{DDEDE81E-EECA-A743-8F26-C1FF6B189B71}"/>
              </a:ext>
            </a:extLst>
          </p:cNvPr>
          <p:cNvSpPr>
            <a:spLocks noChangeArrowheads="1"/>
          </p:cNvSpPr>
          <p:nvPr/>
        </p:nvSpPr>
        <p:spPr bwMode="auto">
          <a:xfrm>
            <a:off x="4648200" y="3986213"/>
            <a:ext cx="3962400" cy="566737"/>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400"/>
              <a:t>support</a:t>
            </a:r>
          </a:p>
        </p:txBody>
      </p:sp>
      <p:sp>
        <p:nvSpPr>
          <p:cNvPr id="211974" name="Arc 6">
            <a:extLst>
              <a:ext uri="{FF2B5EF4-FFF2-40B4-BE49-F238E27FC236}">
                <a16:creationId xmlns:a16="http://schemas.microsoft.com/office/drawing/2014/main" id="{360A3690-7F3D-B63E-2101-B5D9FA77BD6D}"/>
              </a:ext>
            </a:extLst>
          </p:cNvPr>
          <p:cNvSpPr>
            <a:spLocks/>
          </p:cNvSpPr>
          <p:nvPr/>
        </p:nvSpPr>
        <p:spPr bwMode="auto">
          <a:xfrm>
            <a:off x="5026026" y="3609974"/>
            <a:ext cx="754063" cy="376238"/>
          </a:xfrm>
          <a:custGeom>
            <a:avLst/>
            <a:gdLst>
              <a:gd name="G0" fmla="+- 21590 0 0"/>
              <a:gd name="G1" fmla="+- 21600 0 0"/>
              <a:gd name="G2" fmla="+- 21600 0 0"/>
              <a:gd name="T0" fmla="*/ 0 w 43190"/>
              <a:gd name="T1" fmla="*/ 20943 h 21600"/>
              <a:gd name="T2" fmla="*/ 43190 w 43190"/>
              <a:gd name="T3" fmla="*/ 21600 h 21600"/>
              <a:gd name="T4" fmla="*/ 21590 w 43190"/>
              <a:gd name="T5" fmla="*/ 21600 h 21600"/>
            </a:gdLst>
            <a:ahLst/>
            <a:cxnLst>
              <a:cxn ang="0">
                <a:pos x="T0" y="T1"/>
              </a:cxn>
              <a:cxn ang="0">
                <a:pos x="T2" y="T3"/>
              </a:cxn>
              <a:cxn ang="0">
                <a:pos x="T4" y="T5"/>
              </a:cxn>
            </a:cxnLst>
            <a:rect l="0" t="0" r="r" b="b"/>
            <a:pathLst>
              <a:path w="43190" h="21600" fill="none" extrusionOk="0">
                <a:moveTo>
                  <a:pt x="-1" y="20942"/>
                </a:moveTo>
                <a:cubicBezTo>
                  <a:pt x="355" y="9274"/>
                  <a:pt x="9916" y="0"/>
                  <a:pt x="21590" y="0"/>
                </a:cubicBezTo>
                <a:cubicBezTo>
                  <a:pt x="33519" y="0"/>
                  <a:pt x="43190" y="9670"/>
                  <a:pt x="43190" y="21600"/>
                </a:cubicBezTo>
              </a:path>
              <a:path w="43190" h="21600" stroke="0" extrusionOk="0">
                <a:moveTo>
                  <a:pt x="-1" y="20942"/>
                </a:moveTo>
                <a:cubicBezTo>
                  <a:pt x="355" y="9274"/>
                  <a:pt x="9916" y="0"/>
                  <a:pt x="21590" y="0"/>
                </a:cubicBezTo>
                <a:cubicBezTo>
                  <a:pt x="33519" y="0"/>
                  <a:pt x="43190" y="9670"/>
                  <a:pt x="43190" y="21600"/>
                </a:cubicBezTo>
                <a:lnTo>
                  <a:pt x="21590" y="21600"/>
                </a:lnTo>
                <a:close/>
              </a:path>
            </a:pathLst>
          </a:cu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800"/>
              <a:t>M</a:t>
            </a:r>
          </a:p>
        </p:txBody>
      </p:sp>
      <p:sp>
        <p:nvSpPr>
          <p:cNvPr id="211975" name="Arc 7">
            <a:extLst>
              <a:ext uri="{FF2B5EF4-FFF2-40B4-BE49-F238E27FC236}">
                <a16:creationId xmlns:a16="http://schemas.microsoft.com/office/drawing/2014/main" id="{9A17719A-6214-06AE-0D81-EBC06EB9AE4F}"/>
              </a:ext>
            </a:extLst>
          </p:cNvPr>
          <p:cNvSpPr>
            <a:spLocks/>
          </p:cNvSpPr>
          <p:nvPr/>
        </p:nvSpPr>
        <p:spPr bwMode="auto">
          <a:xfrm>
            <a:off x="5969001" y="3609974"/>
            <a:ext cx="754063" cy="376238"/>
          </a:xfrm>
          <a:custGeom>
            <a:avLst/>
            <a:gdLst>
              <a:gd name="G0" fmla="+- 21590 0 0"/>
              <a:gd name="G1" fmla="+- 21600 0 0"/>
              <a:gd name="G2" fmla="+- 21600 0 0"/>
              <a:gd name="T0" fmla="*/ 0 w 43190"/>
              <a:gd name="T1" fmla="*/ 20943 h 21600"/>
              <a:gd name="T2" fmla="*/ 43190 w 43190"/>
              <a:gd name="T3" fmla="*/ 21600 h 21600"/>
              <a:gd name="T4" fmla="*/ 21590 w 43190"/>
              <a:gd name="T5" fmla="*/ 21600 h 21600"/>
            </a:gdLst>
            <a:ahLst/>
            <a:cxnLst>
              <a:cxn ang="0">
                <a:pos x="T0" y="T1"/>
              </a:cxn>
              <a:cxn ang="0">
                <a:pos x="T2" y="T3"/>
              </a:cxn>
              <a:cxn ang="0">
                <a:pos x="T4" y="T5"/>
              </a:cxn>
            </a:cxnLst>
            <a:rect l="0" t="0" r="r" b="b"/>
            <a:pathLst>
              <a:path w="43190" h="21600" fill="none" extrusionOk="0">
                <a:moveTo>
                  <a:pt x="-1" y="20942"/>
                </a:moveTo>
                <a:cubicBezTo>
                  <a:pt x="355" y="9274"/>
                  <a:pt x="9916" y="0"/>
                  <a:pt x="21590" y="0"/>
                </a:cubicBezTo>
                <a:cubicBezTo>
                  <a:pt x="33519" y="0"/>
                  <a:pt x="43190" y="9670"/>
                  <a:pt x="43190" y="21600"/>
                </a:cubicBezTo>
              </a:path>
              <a:path w="43190" h="21600" stroke="0" extrusionOk="0">
                <a:moveTo>
                  <a:pt x="-1" y="20942"/>
                </a:moveTo>
                <a:cubicBezTo>
                  <a:pt x="355" y="9274"/>
                  <a:pt x="9916" y="0"/>
                  <a:pt x="21590" y="0"/>
                </a:cubicBezTo>
                <a:cubicBezTo>
                  <a:pt x="33519" y="0"/>
                  <a:pt x="43190" y="9670"/>
                  <a:pt x="43190" y="21600"/>
                </a:cubicBezTo>
                <a:lnTo>
                  <a:pt x="21590" y="21600"/>
                </a:lnTo>
                <a:close/>
              </a:path>
            </a:pathLst>
          </a:cu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800"/>
              <a:t>M</a:t>
            </a:r>
          </a:p>
        </p:txBody>
      </p:sp>
      <p:sp>
        <p:nvSpPr>
          <p:cNvPr id="211976" name="Arc 8">
            <a:extLst>
              <a:ext uri="{FF2B5EF4-FFF2-40B4-BE49-F238E27FC236}">
                <a16:creationId xmlns:a16="http://schemas.microsoft.com/office/drawing/2014/main" id="{1D850EA1-6388-5CFF-51AE-A62E55CBE41B}"/>
              </a:ext>
            </a:extLst>
          </p:cNvPr>
          <p:cNvSpPr>
            <a:spLocks/>
          </p:cNvSpPr>
          <p:nvPr/>
        </p:nvSpPr>
        <p:spPr bwMode="auto">
          <a:xfrm>
            <a:off x="7478713" y="3609974"/>
            <a:ext cx="754062" cy="376238"/>
          </a:xfrm>
          <a:custGeom>
            <a:avLst/>
            <a:gdLst>
              <a:gd name="G0" fmla="+- 21590 0 0"/>
              <a:gd name="G1" fmla="+- 21600 0 0"/>
              <a:gd name="G2" fmla="+- 21600 0 0"/>
              <a:gd name="T0" fmla="*/ 0 w 43190"/>
              <a:gd name="T1" fmla="*/ 20943 h 21600"/>
              <a:gd name="T2" fmla="*/ 43190 w 43190"/>
              <a:gd name="T3" fmla="*/ 21600 h 21600"/>
              <a:gd name="T4" fmla="*/ 21590 w 43190"/>
              <a:gd name="T5" fmla="*/ 21600 h 21600"/>
            </a:gdLst>
            <a:ahLst/>
            <a:cxnLst>
              <a:cxn ang="0">
                <a:pos x="T0" y="T1"/>
              </a:cxn>
              <a:cxn ang="0">
                <a:pos x="T2" y="T3"/>
              </a:cxn>
              <a:cxn ang="0">
                <a:pos x="T4" y="T5"/>
              </a:cxn>
            </a:cxnLst>
            <a:rect l="0" t="0" r="r" b="b"/>
            <a:pathLst>
              <a:path w="43190" h="21600" fill="none" extrusionOk="0">
                <a:moveTo>
                  <a:pt x="-1" y="20942"/>
                </a:moveTo>
                <a:cubicBezTo>
                  <a:pt x="355" y="9274"/>
                  <a:pt x="9916" y="0"/>
                  <a:pt x="21590" y="0"/>
                </a:cubicBezTo>
                <a:cubicBezTo>
                  <a:pt x="33519" y="0"/>
                  <a:pt x="43190" y="9670"/>
                  <a:pt x="43190" y="21600"/>
                </a:cubicBezTo>
              </a:path>
              <a:path w="43190" h="21600" stroke="0" extrusionOk="0">
                <a:moveTo>
                  <a:pt x="-1" y="20942"/>
                </a:moveTo>
                <a:cubicBezTo>
                  <a:pt x="355" y="9274"/>
                  <a:pt x="9916" y="0"/>
                  <a:pt x="21590" y="0"/>
                </a:cubicBezTo>
                <a:cubicBezTo>
                  <a:pt x="33519" y="0"/>
                  <a:pt x="43190" y="9670"/>
                  <a:pt x="43190" y="21600"/>
                </a:cubicBezTo>
                <a:lnTo>
                  <a:pt x="21590" y="21600"/>
                </a:lnTo>
                <a:close/>
              </a:path>
            </a:pathLst>
          </a:cu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800"/>
              <a:t>M</a:t>
            </a:r>
          </a:p>
        </p:txBody>
      </p:sp>
      <p:sp>
        <p:nvSpPr>
          <p:cNvPr id="211977" name="AutoShape 9">
            <a:extLst>
              <a:ext uri="{FF2B5EF4-FFF2-40B4-BE49-F238E27FC236}">
                <a16:creationId xmlns:a16="http://schemas.microsoft.com/office/drawing/2014/main" id="{4837D663-5A38-B1E5-FBB6-30167CEC160A}"/>
              </a:ext>
            </a:extLst>
          </p:cNvPr>
          <p:cNvSpPr>
            <a:spLocks noChangeArrowheads="1"/>
          </p:cNvSpPr>
          <p:nvPr/>
        </p:nvSpPr>
        <p:spPr bwMode="auto">
          <a:xfrm>
            <a:off x="5214939" y="3043237"/>
            <a:ext cx="269875" cy="228600"/>
          </a:xfrm>
          <a:prstGeom prst="triangle">
            <a:avLst>
              <a:gd name="adj" fmla="val 50000"/>
            </a:avLst>
          </a:prstGeom>
          <a:solidFill>
            <a:srgbClr val="FF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1978" name="Line 10">
            <a:extLst>
              <a:ext uri="{FF2B5EF4-FFF2-40B4-BE49-F238E27FC236}">
                <a16:creationId xmlns:a16="http://schemas.microsoft.com/office/drawing/2014/main" id="{158DB967-582E-D3B3-99DA-640DFBB92867}"/>
              </a:ext>
            </a:extLst>
          </p:cNvPr>
          <p:cNvSpPr>
            <a:spLocks noChangeShapeType="1"/>
          </p:cNvSpPr>
          <p:nvPr/>
        </p:nvSpPr>
        <p:spPr bwMode="auto">
          <a:xfrm>
            <a:off x="5356225" y="3255963"/>
            <a:ext cx="0" cy="3381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1979" name="Oval 11">
            <a:extLst>
              <a:ext uri="{FF2B5EF4-FFF2-40B4-BE49-F238E27FC236}">
                <a16:creationId xmlns:a16="http://schemas.microsoft.com/office/drawing/2014/main" id="{342D6CD7-33CA-634A-EA43-0C9F01C3946E}"/>
              </a:ext>
            </a:extLst>
          </p:cNvPr>
          <p:cNvSpPr>
            <a:spLocks noChangeArrowheads="1"/>
          </p:cNvSpPr>
          <p:nvPr/>
        </p:nvSpPr>
        <p:spPr bwMode="auto">
          <a:xfrm>
            <a:off x="6189663" y="3046412"/>
            <a:ext cx="227012" cy="228600"/>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1980" name="Line 12">
            <a:extLst>
              <a:ext uri="{FF2B5EF4-FFF2-40B4-BE49-F238E27FC236}">
                <a16:creationId xmlns:a16="http://schemas.microsoft.com/office/drawing/2014/main" id="{77D86668-C03A-0635-DE03-9A9A5A527F2D}"/>
              </a:ext>
            </a:extLst>
          </p:cNvPr>
          <p:cNvSpPr>
            <a:spLocks noChangeShapeType="1"/>
          </p:cNvSpPr>
          <p:nvPr/>
        </p:nvSpPr>
        <p:spPr bwMode="auto">
          <a:xfrm>
            <a:off x="6307138" y="3271838"/>
            <a:ext cx="0" cy="3381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1981" name="Oval 13">
            <a:extLst>
              <a:ext uri="{FF2B5EF4-FFF2-40B4-BE49-F238E27FC236}">
                <a16:creationId xmlns:a16="http://schemas.microsoft.com/office/drawing/2014/main" id="{02BBEB4C-7C8F-FCA1-BF24-769B465F60F4}"/>
              </a:ext>
            </a:extLst>
          </p:cNvPr>
          <p:cNvSpPr>
            <a:spLocks noChangeArrowheads="1"/>
          </p:cNvSpPr>
          <p:nvPr/>
        </p:nvSpPr>
        <p:spPr bwMode="auto">
          <a:xfrm>
            <a:off x="6919913" y="3424237"/>
            <a:ext cx="228600" cy="228600"/>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1982" name="Line 14">
            <a:extLst>
              <a:ext uri="{FF2B5EF4-FFF2-40B4-BE49-F238E27FC236}">
                <a16:creationId xmlns:a16="http://schemas.microsoft.com/office/drawing/2014/main" id="{340C4B2C-EBD1-0170-2977-61BB03625E0F}"/>
              </a:ext>
            </a:extLst>
          </p:cNvPr>
          <p:cNvSpPr>
            <a:spLocks noChangeShapeType="1"/>
          </p:cNvSpPr>
          <p:nvPr/>
        </p:nvSpPr>
        <p:spPr bwMode="auto">
          <a:xfrm>
            <a:off x="7038975" y="3648074"/>
            <a:ext cx="0" cy="3381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1985" name="AutoShape 17">
            <a:extLst>
              <a:ext uri="{FF2B5EF4-FFF2-40B4-BE49-F238E27FC236}">
                <a16:creationId xmlns:a16="http://schemas.microsoft.com/office/drawing/2014/main" id="{AEEEEB27-91E5-4791-2739-126E17A4378A}"/>
              </a:ext>
            </a:extLst>
          </p:cNvPr>
          <p:cNvSpPr>
            <a:spLocks noChangeArrowheads="1"/>
          </p:cNvSpPr>
          <p:nvPr/>
        </p:nvSpPr>
        <p:spPr bwMode="auto">
          <a:xfrm>
            <a:off x="5597526" y="2770187"/>
            <a:ext cx="269875" cy="228600"/>
          </a:xfrm>
          <a:prstGeom prst="triangle">
            <a:avLst>
              <a:gd name="adj" fmla="val 50000"/>
            </a:avLst>
          </a:prstGeom>
          <a:solidFill>
            <a:srgbClr val="FF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1986" name="Oval 18">
            <a:extLst>
              <a:ext uri="{FF2B5EF4-FFF2-40B4-BE49-F238E27FC236}">
                <a16:creationId xmlns:a16="http://schemas.microsoft.com/office/drawing/2014/main" id="{EB3B54D7-30B4-5094-94AF-ADAE2A2FC4C8}"/>
              </a:ext>
            </a:extLst>
          </p:cNvPr>
          <p:cNvSpPr>
            <a:spLocks noChangeArrowheads="1"/>
          </p:cNvSpPr>
          <p:nvPr/>
        </p:nvSpPr>
        <p:spPr bwMode="auto">
          <a:xfrm>
            <a:off x="6707188" y="3074987"/>
            <a:ext cx="227012" cy="228600"/>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1987" name="Oval 19">
            <a:extLst>
              <a:ext uri="{FF2B5EF4-FFF2-40B4-BE49-F238E27FC236}">
                <a16:creationId xmlns:a16="http://schemas.microsoft.com/office/drawing/2014/main" id="{8F276FCD-3C82-9E86-EC0D-183C041F75B0}"/>
              </a:ext>
            </a:extLst>
          </p:cNvPr>
          <p:cNvSpPr>
            <a:spLocks noChangeArrowheads="1"/>
          </p:cNvSpPr>
          <p:nvPr/>
        </p:nvSpPr>
        <p:spPr bwMode="auto">
          <a:xfrm>
            <a:off x="7392988" y="2693987"/>
            <a:ext cx="227012" cy="228600"/>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Arrow Connector 6">
            <a:extLst>
              <a:ext uri="{FF2B5EF4-FFF2-40B4-BE49-F238E27FC236}">
                <a16:creationId xmlns:a16="http://schemas.microsoft.com/office/drawing/2014/main" id="{5E13BCB8-C074-5322-3CD2-67CB65EBA345}"/>
              </a:ext>
            </a:extLst>
          </p:cNvPr>
          <p:cNvCxnSpPr>
            <a:cxnSpLocks/>
          </p:cNvCxnSpPr>
          <p:nvPr/>
        </p:nvCxnSpPr>
        <p:spPr>
          <a:xfrm>
            <a:off x="1692099" y="4476750"/>
            <a:ext cx="133685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B702BA24-A2F2-2ECB-C93E-D2BB6668F6B3}"/>
              </a:ext>
            </a:extLst>
          </p:cNvPr>
          <p:cNvSpPr>
            <a:spLocks noGrp="1"/>
          </p:cNvSpPr>
          <p:nvPr>
            <p:ph type="title"/>
          </p:nvPr>
        </p:nvSpPr>
        <p:spPr/>
        <p:txBody>
          <a:bodyPr>
            <a:normAutofit fontScale="90000"/>
          </a:bodyPr>
          <a:lstStyle/>
          <a:p>
            <a:r>
              <a:rPr lang="en-US" dirty="0"/>
              <a:t>Transition Metal Catalysts</a:t>
            </a:r>
          </a:p>
        </p:txBody>
      </p:sp>
      <p:sp>
        <p:nvSpPr>
          <p:cNvPr id="3" name="Date Placeholder 2">
            <a:extLst>
              <a:ext uri="{FF2B5EF4-FFF2-40B4-BE49-F238E27FC236}">
                <a16:creationId xmlns:a16="http://schemas.microsoft.com/office/drawing/2014/main" id="{98B8139D-9207-4762-4A9F-BC24288FA3A2}"/>
              </a:ext>
            </a:extLst>
          </p:cNvPr>
          <p:cNvSpPr>
            <a:spLocks noGrp="1"/>
          </p:cNvSpPr>
          <p:nvPr>
            <p:ph type="dt" sz="half" idx="10"/>
          </p:nvPr>
        </p:nvSpPr>
        <p:spPr/>
        <p:txBody>
          <a:bodyPr/>
          <a:lstStyle/>
          <a:p>
            <a:r>
              <a:rPr lang="en-US" altLang="en-US"/>
              <a:t>W. F. Schneider</a:t>
            </a:r>
          </a:p>
        </p:txBody>
      </p:sp>
      <p:sp>
        <p:nvSpPr>
          <p:cNvPr id="4" name="Footer Placeholder 3">
            <a:extLst>
              <a:ext uri="{FF2B5EF4-FFF2-40B4-BE49-F238E27FC236}">
                <a16:creationId xmlns:a16="http://schemas.microsoft.com/office/drawing/2014/main" id="{0F961E88-0755-3FFA-1190-EE3E94139DA1}"/>
              </a:ext>
            </a:extLst>
          </p:cNvPr>
          <p:cNvSpPr>
            <a:spLocks noGrp="1"/>
          </p:cNvSpPr>
          <p:nvPr>
            <p:ph type="ftr" sz="quarter" idx="11"/>
          </p:nvPr>
        </p:nvSpPr>
        <p:spPr/>
        <p:txBody>
          <a:bodyPr/>
          <a:lstStyle/>
          <a:p>
            <a:r>
              <a:rPr lang="en-US" altLang="en-US"/>
              <a:t>CBE 60546</a:t>
            </a:r>
          </a:p>
        </p:txBody>
      </p:sp>
      <p:pic>
        <p:nvPicPr>
          <p:cNvPr id="1028" name="Picture 4" descr="65 Body Centered Cubic Royalty-Free Images, Stock Photos &amp; Pictures |  Shutterstock">
            <a:extLst>
              <a:ext uri="{FF2B5EF4-FFF2-40B4-BE49-F238E27FC236}">
                <a16:creationId xmlns:a16="http://schemas.microsoft.com/office/drawing/2014/main" id="{AD4AF9D8-5702-9FFC-8274-7360E0ECFA4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2150"/>
          <a:stretch>
            <a:fillRect/>
          </a:stretch>
        </p:blipFill>
        <p:spPr bwMode="auto">
          <a:xfrm>
            <a:off x="599540" y="2952750"/>
            <a:ext cx="2235840" cy="149019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rintable Periodic Table With Most Common Charges">
            <a:extLst>
              <a:ext uri="{FF2B5EF4-FFF2-40B4-BE49-F238E27FC236}">
                <a16:creationId xmlns:a16="http://schemas.microsoft.com/office/drawing/2014/main" id="{E52819C1-7620-60F2-62CD-F9665265432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368" t="36666" r="39517" b="33776"/>
          <a:stretch>
            <a:fillRect/>
          </a:stretch>
        </p:blipFill>
        <p:spPr bwMode="auto">
          <a:xfrm>
            <a:off x="772628" y="946053"/>
            <a:ext cx="3444412" cy="184112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65 Body Centered Cubic Royalty-Free Images, Stock Photos &amp; Pictures |  Shutterstock">
            <a:extLst>
              <a:ext uri="{FF2B5EF4-FFF2-40B4-BE49-F238E27FC236}">
                <a16:creationId xmlns:a16="http://schemas.microsoft.com/office/drawing/2014/main" id="{FCDA6A01-E6D5-59B1-70DA-4D56E281E6B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629" r="50079"/>
          <a:stretch>
            <a:fillRect/>
          </a:stretch>
        </p:blipFill>
        <p:spPr bwMode="auto">
          <a:xfrm>
            <a:off x="3089451" y="2952750"/>
            <a:ext cx="1228478" cy="1490194"/>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343E91B6-CBFB-3F70-1218-1C2859D6962A}"/>
              </a:ext>
            </a:extLst>
          </p:cNvPr>
          <p:cNvCxnSpPr>
            <a:cxnSpLocks/>
          </p:cNvCxnSpPr>
          <p:nvPr/>
        </p:nvCxnSpPr>
        <p:spPr>
          <a:xfrm>
            <a:off x="5996165" y="660019"/>
            <a:ext cx="2438400" cy="12766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C67284C6-DDA0-1B9F-2C04-1756D97F49B3}"/>
              </a:ext>
            </a:extLst>
          </p:cNvPr>
          <p:cNvSpPr txBox="1"/>
          <p:nvPr/>
        </p:nvSpPr>
        <p:spPr>
          <a:xfrm rot="1633602">
            <a:off x="6770612" y="905755"/>
            <a:ext cx="1191416" cy="369332"/>
          </a:xfrm>
          <a:prstGeom prst="rect">
            <a:avLst/>
          </a:prstGeom>
          <a:noFill/>
        </p:spPr>
        <p:txBody>
          <a:bodyPr wrap="square" rtlCol="0">
            <a:spAutoFit/>
          </a:bodyPr>
          <a:lstStyle/>
          <a:p>
            <a:r>
              <a:rPr lang="en-US" dirty="0"/>
              <a:t>More inert</a:t>
            </a:r>
          </a:p>
        </p:txBody>
      </p:sp>
      <p:cxnSp>
        <p:nvCxnSpPr>
          <p:cNvPr id="13" name="Straight Arrow Connector 12">
            <a:extLst>
              <a:ext uri="{FF2B5EF4-FFF2-40B4-BE49-F238E27FC236}">
                <a16:creationId xmlns:a16="http://schemas.microsoft.com/office/drawing/2014/main" id="{A0B4EA70-CC78-4B44-B85F-0908F1D1B537}"/>
              </a:ext>
            </a:extLst>
          </p:cNvPr>
          <p:cNvCxnSpPr>
            <a:cxnSpLocks/>
          </p:cNvCxnSpPr>
          <p:nvPr/>
        </p:nvCxnSpPr>
        <p:spPr>
          <a:xfrm>
            <a:off x="1270036" y="819150"/>
            <a:ext cx="241292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90EFE702-FA8A-CAC1-994B-51D5B1C52B42}"/>
              </a:ext>
            </a:extLst>
          </p:cNvPr>
          <p:cNvSpPr txBox="1"/>
          <p:nvPr/>
        </p:nvSpPr>
        <p:spPr>
          <a:xfrm>
            <a:off x="3886200" y="645394"/>
            <a:ext cx="1000595" cy="276999"/>
          </a:xfrm>
          <a:prstGeom prst="rect">
            <a:avLst/>
          </a:prstGeom>
          <a:noFill/>
        </p:spPr>
        <p:txBody>
          <a:bodyPr wrap="none" rtlCol="0">
            <a:spAutoFit/>
          </a:bodyPr>
          <a:lstStyle/>
          <a:p>
            <a:r>
              <a:rPr lang="en-US" sz="1200" dirty="0">
                <a:latin typeface="Corbel" panose="020B0503020204020204" pitchFamily="34" charset="0"/>
              </a:rPr>
              <a:t>Filling d shell</a:t>
            </a:r>
          </a:p>
        </p:txBody>
      </p:sp>
      <p:cxnSp>
        <p:nvCxnSpPr>
          <p:cNvPr id="16" name="Straight Arrow Connector 15">
            <a:extLst>
              <a:ext uri="{FF2B5EF4-FFF2-40B4-BE49-F238E27FC236}">
                <a16:creationId xmlns:a16="http://schemas.microsoft.com/office/drawing/2014/main" id="{75EF3886-43AA-5E7C-8FEA-26E8023631AD}"/>
              </a:ext>
            </a:extLst>
          </p:cNvPr>
          <p:cNvCxnSpPr>
            <a:cxnSpLocks/>
          </p:cNvCxnSpPr>
          <p:nvPr/>
        </p:nvCxnSpPr>
        <p:spPr>
          <a:xfrm flipH="1" flipV="1">
            <a:off x="5991028" y="888854"/>
            <a:ext cx="2438400" cy="12766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D9A2A8B9-23C2-4CB9-8F53-E4A14E2FFAD0}"/>
              </a:ext>
            </a:extLst>
          </p:cNvPr>
          <p:cNvSpPr txBox="1"/>
          <p:nvPr/>
        </p:nvSpPr>
        <p:spPr>
          <a:xfrm rot="1633602">
            <a:off x="6244747" y="1479146"/>
            <a:ext cx="1335045" cy="369332"/>
          </a:xfrm>
          <a:prstGeom prst="rect">
            <a:avLst/>
          </a:prstGeom>
          <a:noFill/>
        </p:spPr>
        <p:txBody>
          <a:bodyPr wrap="square" rtlCol="0">
            <a:spAutoFit/>
          </a:bodyPr>
          <a:lstStyle/>
          <a:p>
            <a:r>
              <a:rPr lang="en-US" dirty="0"/>
              <a:t>More active</a:t>
            </a:r>
          </a:p>
        </p:txBody>
      </p:sp>
      <p:sp>
        <p:nvSpPr>
          <p:cNvPr id="18" name="TextBox 17">
            <a:extLst>
              <a:ext uri="{FF2B5EF4-FFF2-40B4-BE49-F238E27FC236}">
                <a16:creationId xmlns:a16="http://schemas.microsoft.com/office/drawing/2014/main" id="{D4FBC908-BBD5-02B1-FDC9-79088692B72E}"/>
              </a:ext>
            </a:extLst>
          </p:cNvPr>
          <p:cNvSpPr txBox="1"/>
          <p:nvPr/>
        </p:nvSpPr>
        <p:spPr>
          <a:xfrm rot="1633602">
            <a:off x="5814394" y="1751985"/>
            <a:ext cx="1865191" cy="369332"/>
          </a:xfrm>
          <a:prstGeom prst="rect">
            <a:avLst/>
          </a:prstGeom>
          <a:noFill/>
        </p:spPr>
        <p:txBody>
          <a:bodyPr wrap="square" rtlCol="0">
            <a:spAutoFit/>
          </a:bodyPr>
          <a:lstStyle/>
          <a:p>
            <a:r>
              <a:rPr lang="en-US" dirty="0"/>
              <a:t>Harder to reduce</a:t>
            </a:r>
          </a:p>
        </p:txBody>
      </p:sp>
      <p:sp>
        <p:nvSpPr>
          <p:cNvPr id="19" name="TextBox 18">
            <a:extLst>
              <a:ext uri="{FF2B5EF4-FFF2-40B4-BE49-F238E27FC236}">
                <a16:creationId xmlns:a16="http://schemas.microsoft.com/office/drawing/2014/main" id="{6773B4CB-C36D-40D7-6AA7-BAFD95B3EB9F}"/>
              </a:ext>
            </a:extLst>
          </p:cNvPr>
          <p:cNvSpPr txBox="1"/>
          <p:nvPr/>
        </p:nvSpPr>
        <p:spPr>
          <a:xfrm rot="1633602">
            <a:off x="6645909" y="654360"/>
            <a:ext cx="1793568" cy="369332"/>
          </a:xfrm>
          <a:prstGeom prst="rect">
            <a:avLst/>
          </a:prstGeom>
          <a:noFill/>
        </p:spPr>
        <p:txBody>
          <a:bodyPr wrap="square" rtlCol="0">
            <a:spAutoFit/>
          </a:bodyPr>
          <a:lstStyle/>
          <a:p>
            <a:r>
              <a:rPr lang="en-US" dirty="0"/>
              <a:t>Easier to reduce</a:t>
            </a:r>
          </a:p>
        </p:txBody>
      </p:sp>
      <p:pic>
        <p:nvPicPr>
          <p:cNvPr id="21" name="Picture 20" descr="A diagram of a structure made of balls&#10;&#10;AI-generated content may be incorrect.">
            <a:extLst>
              <a:ext uri="{FF2B5EF4-FFF2-40B4-BE49-F238E27FC236}">
                <a16:creationId xmlns:a16="http://schemas.microsoft.com/office/drawing/2014/main" id="{39365A3B-0116-B391-5DC2-8BFCA262BEDE}"/>
              </a:ext>
            </a:extLst>
          </p:cNvPr>
          <p:cNvPicPr>
            <a:picLocks noChangeAspect="1"/>
          </p:cNvPicPr>
          <p:nvPr/>
        </p:nvPicPr>
        <p:blipFill>
          <a:blip r:embed="rId4"/>
          <a:stretch>
            <a:fillRect/>
          </a:stretch>
        </p:blipFill>
        <p:spPr>
          <a:xfrm>
            <a:off x="4826073" y="2563248"/>
            <a:ext cx="2085283" cy="1675356"/>
          </a:xfrm>
          <a:prstGeom prst="rect">
            <a:avLst/>
          </a:prstGeom>
        </p:spPr>
      </p:pic>
      <p:pic>
        <p:nvPicPr>
          <p:cNvPr id="27" name="Picture 26" descr="A close-up of a step atom&#10;&#10;AI-generated content may be incorrect.">
            <a:extLst>
              <a:ext uri="{FF2B5EF4-FFF2-40B4-BE49-F238E27FC236}">
                <a16:creationId xmlns:a16="http://schemas.microsoft.com/office/drawing/2014/main" id="{757E05D1-3781-CDA9-3539-7D63FEB3DA82}"/>
              </a:ext>
            </a:extLst>
          </p:cNvPr>
          <p:cNvPicPr>
            <a:picLocks noChangeAspect="1"/>
          </p:cNvPicPr>
          <p:nvPr/>
        </p:nvPicPr>
        <p:blipFill>
          <a:blip r:embed="rId5"/>
          <a:stretch>
            <a:fillRect/>
          </a:stretch>
        </p:blipFill>
        <p:spPr>
          <a:xfrm>
            <a:off x="7267180" y="2871573"/>
            <a:ext cx="1371600" cy="1238250"/>
          </a:xfrm>
          <a:prstGeom prst="rect">
            <a:avLst/>
          </a:prstGeom>
        </p:spPr>
      </p:pic>
      <p:sp>
        <p:nvSpPr>
          <p:cNvPr id="28" name="TextBox 27">
            <a:extLst>
              <a:ext uri="{FF2B5EF4-FFF2-40B4-BE49-F238E27FC236}">
                <a16:creationId xmlns:a16="http://schemas.microsoft.com/office/drawing/2014/main" id="{9A248A10-4384-E2C5-A36D-EC8D9142F73F}"/>
              </a:ext>
            </a:extLst>
          </p:cNvPr>
          <p:cNvSpPr txBox="1"/>
          <p:nvPr/>
        </p:nvSpPr>
        <p:spPr>
          <a:xfrm>
            <a:off x="4802822" y="4238370"/>
            <a:ext cx="2076209" cy="276999"/>
          </a:xfrm>
          <a:prstGeom prst="rect">
            <a:avLst/>
          </a:prstGeom>
          <a:noFill/>
        </p:spPr>
        <p:txBody>
          <a:bodyPr wrap="none" rtlCol="0">
            <a:spAutoFit/>
          </a:bodyPr>
          <a:lstStyle/>
          <a:p>
            <a:r>
              <a:rPr lang="en-US" sz="1200" dirty="0">
                <a:latin typeface="Corbel" panose="020B0503020204020204" pitchFamily="34" charset="0"/>
              </a:rPr>
              <a:t>Metal particle exposing facets</a:t>
            </a:r>
          </a:p>
        </p:txBody>
      </p:sp>
    </p:spTree>
    <p:extLst>
      <p:ext uri="{BB962C8B-B14F-4D97-AF65-F5344CB8AC3E}">
        <p14:creationId xmlns:p14="http://schemas.microsoft.com/office/powerpoint/2010/main" val="3773728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a:extLst>
              <a:ext uri="{FF2B5EF4-FFF2-40B4-BE49-F238E27FC236}">
                <a16:creationId xmlns:a16="http://schemas.microsoft.com/office/drawing/2014/main" id="{85ABEBC1-0686-058D-0468-773C9B9129F4}"/>
              </a:ext>
            </a:extLst>
          </p:cNvPr>
          <p:cNvSpPr>
            <a:spLocks noGrp="1" noChangeArrowheads="1"/>
          </p:cNvSpPr>
          <p:nvPr>
            <p:ph type="title"/>
          </p:nvPr>
        </p:nvSpPr>
        <p:spPr/>
        <p:txBody>
          <a:bodyPr>
            <a:normAutofit fontScale="90000"/>
          </a:bodyPr>
          <a:lstStyle/>
          <a:p>
            <a:r>
              <a:rPr lang="en-US" altLang="en-US"/>
              <a:t>Adsorption and Reaction at Solid Surfaces</a:t>
            </a:r>
          </a:p>
        </p:txBody>
      </p:sp>
      <p:sp>
        <p:nvSpPr>
          <p:cNvPr id="210947" name="Rectangle 3">
            <a:extLst>
              <a:ext uri="{FF2B5EF4-FFF2-40B4-BE49-F238E27FC236}">
                <a16:creationId xmlns:a16="http://schemas.microsoft.com/office/drawing/2014/main" id="{434C4751-20AC-7DCA-1993-C996FB61C0E4}"/>
              </a:ext>
            </a:extLst>
          </p:cNvPr>
          <p:cNvSpPr>
            <a:spLocks noGrp="1" noChangeArrowheads="1"/>
          </p:cNvSpPr>
          <p:nvPr>
            <p:ph idx="1"/>
          </p:nvPr>
        </p:nvSpPr>
        <p:spPr/>
        <p:txBody>
          <a:bodyPr>
            <a:normAutofit/>
          </a:bodyPr>
          <a:lstStyle/>
          <a:p>
            <a:r>
              <a:rPr lang="en-US" altLang="en-US" u="sng"/>
              <a:t>Physisorption</a:t>
            </a:r>
            <a:r>
              <a:rPr lang="en-US" altLang="en-US"/>
              <a:t>: weak van der Waals attraction of a fluid (like N</a:t>
            </a:r>
            <a:r>
              <a:rPr lang="en-US" altLang="en-US" baseline="-25000"/>
              <a:t>2</a:t>
            </a:r>
            <a:r>
              <a:rPr lang="en-US" altLang="en-US"/>
              <a:t> gas) for any surface</a:t>
            </a:r>
          </a:p>
          <a:p>
            <a:pPr lvl="1"/>
            <a:r>
              <a:rPr lang="en-US" altLang="en-US"/>
              <a:t>E</a:t>
            </a:r>
            <a:r>
              <a:rPr lang="en-US" altLang="en-US" baseline="-25000"/>
              <a:t>ads</a:t>
            </a:r>
            <a:r>
              <a:rPr lang="en-US" altLang="en-US"/>
              <a:t> ~10 – 40 kJ/mol</a:t>
            </a:r>
          </a:p>
          <a:p>
            <a:pPr lvl="1"/>
            <a:r>
              <a:rPr lang="en-US" altLang="en-US"/>
              <a:t>Low temperature phenomenon</a:t>
            </a:r>
          </a:p>
          <a:p>
            <a:pPr lvl="1"/>
            <a:r>
              <a:rPr lang="en-US" altLang="en-US"/>
              <a:t>Exploited in measuring gross surface area</a:t>
            </a:r>
          </a:p>
          <a:p>
            <a:pPr lvl="1"/>
            <a:endParaRPr lang="en-US" altLang="en-US"/>
          </a:p>
          <a:p>
            <a:r>
              <a:rPr lang="en-US" altLang="en-US" u="sng"/>
              <a:t>Chemisorption</a:t>
            </a:r>
            <a:r>
              <a:rPr lang="en-US" altLang="en-US"/>
              <a:t>: chemical bond formation between a fluid molecule (like CO or ethylene) and a surface site</a:t>
            </a:r>
          </a:p>
          <a:p>
            <a:pPr lvl="1"/>
            <a:r>
              <a:rPr lang="en-US" altLang="en-US"/>
              <a:t>E</a:t>
            </a:r>
            <a:r>
              <a:rPr lang="en-US" altLang="en-US" baseline="-25000"/>
              <a:t>ads</a:t>
            </a:r>
            <a:r>
              <a:rPr lang="en-US" altLang="en-US"/>
              <a:t> ~ 100 – 500 kJ/mol</a:t>
            </a:r>
          </a:p>
          <a:p>
            <a:pPr lvl="1"/>
            <a:r>
              <a:rPr lang="en-US" altLang="en-US"/>
              <a:t>Essential element of catalytic activity</a:t>
            </a:r>
          </a:p>
          <a:p>
            <a:pPr lvl="1"/>
            <a:r>
              <a:rPr lang="en-US" altLang="en-US"/>
              <a:t>Exploited in measuring catalytically active sites</a:t>
            </a:r>
          </a:p>
          <a:p>
            <a:pPr lvl="1"/>
            <a:endParaRPr lang="en-US" altLang="en-US"/>
          </a:p>
          <a:p>
            <a:endParaRPr lang="en-US" altLang="en-US"/>
          </a:p>
        </p:txBody>
      </p:sp>
      <p:sp>
        <p:nvSpPr>
          <p:cNvPr id="2" name="Date Placeholder 3">
            <a:extLst>
              <a:ext uri="{FF2B5EF4-FFF2-40B4-BE49-F238E27FC236}">
                <a16:creationId xmlns:a16="http://schemas.microsoft.com/office/drawing/2014/main" id="{89C1666F-3B6D-475B-7767-381539F224F7}"/>
              </a:ext>
            </a:extLst>
          </p:cNvPr>
          <p:cNvSpPr>
            <a:spLocks noGrp="1"/>
          </p:cNvSpPr>
          <p:nvPr>
            <p:ph type="dt" sz="half" idx="10"/>
          </p:nvPr>
        </p:nvSpPr>
        <p:spPr/>
        <p:txBody>
          <a:bodyPr/>
          <a:lstStyle/>
          <a:p>
            <a:r>
              <a:rPr lang="en-US" altLang="en-US"/>
              <a:t>W. F. Schneider</a:t>
            </a:r>
          </a:p>
        </p:txBody>
      </p:sp>
      <p:sp>
        <p:nvSpPr>
          <p:cNvPr id="3" name="Footer Placeholder 4">
            <a:extLst>
              <a:ext uri="{FF2B5EF4-FFF2-40B4-BE49-F238E27FC236}">
                <a16:creationId xmlns:a16="http://schemas.microsoft.com/office/drawing/2014/main" id="{7F1901C9-7910-6EB4-3DD0-BB51D21C9CCB}"/>
              </a:ext>
            </a:extLst>
          </p:cNvPr>
          <p:cNvSpPr>
            <a:spLocks noGrp="1"/>
          </p:cNvSpPr>
          <p:nvPr>
            <p:ph type="ftr" sz="quarter" idx="11"/>
          </p:nvPr>
        </p:nvSpPr>
        <p:spPr/>
        <p:txBody>
          <a:bodyPr/>
          <a:lstStyle/>
          <a:p>
            <a:r>
              <a:rPr lang="en-US" altLang="en-US"/>
              <a:t>CBE 60546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a:extLst>
              <a:ext uri="{FF2B5EF4-FFF2-40B4-BE49-F238E27FC236}">
                <a16:creationId xmlns:a16="http://schemas.microsoft.com/office/drawing/2014/main" id="{A6186227-8190-146D-1078-980E57C3256C}"/>
              </a:ext>
            </a:extLst>
          </p:cNvPr>
          <p:cNvSpPr>
            <a:spLocks noGrp="1" noChangeArrowheads="1"/>
          </p:cNvSpPr>
          <p:nvPr>
            <p:ph type="title"/>
          </p:nvPr>
        </p:nvSpPr>
        <p:spPr>
          <a:xfrm>
            <a:off x="777875" y="139700"/>
            <a:ext cx="7886700" cy="442913"/>
          </a:xfrm>
          <a:noFill/>
          <a:ln/>
        </p:spPr>
        <p:txBody>
          <a:bodyPr vert="horz" wrap="square" lIns="92075" tIns="46038" rIns="92075" bIns="46038" numCol="1" anchor="ctr" anchorCtr="0" compatLnSpc="1">
            <a:prstTxWarp prst="textNoShape">
              <a:avLst/>
            </a:prstTxWarp>
            <a:normAutofit fontScale="90000"/>
          </a:bodyPr>
          <a:lstStyle/>
          <a:p>
            <a:r>
              <a:rPr lang="en-US" altLang="en-US" dirty="0" err="1"/>
              <a:t>Physi</a:t>
            </a:r>
            <a:r>
              <a:rPr lang="en-US" altLang="en-US" dirty="0"/>
              <a:t>- and Chemisorption on MgO(001)</a:t>
            </a:r>
          </a:p>
        </p:txBody>
      </p:sp>
      <p:sp>
        <p:nvSpPr>
          <p:cNvPr id="2" name="Date Placeholder 2">
            <a:extLst>
              <a:ext uri="{FF2B5EF4-FFF2-40B4-BE49-F238E27FC236}">
                <a16:creationId xmlns:a16="http://schemas.microsoft.com/office/drawing/2014/main" id="{552C691D-49D2-B1A2-F8BC-4051026AABAD}"/>
              </a:ext>
            </a:extLst>
          </p:cNvPr>
          <p:cNvSpPr>
            <a:spLocks noGrp="1"/>
          </p:cNvSpPr>
          <p:nvPr>
            <p:ph type="dt" sz="half" idx="10"/>
          </p:nvPr>
        </p:nvSpPr>
        <p:spPr>
          <a:xfrm>
            <a:off x="628650" y="4767263"/>
            <a:ext cx="2057400" cy="273844"/>
          </a:xfrm>
        </p:spPr>
        <p:txBody>
          <a:bodyPr/>
          <a:lstStyle/>
          <a:p>
            <a:r>
              <a:rPr lang="en-US" altLang="en-US"/>
              <a:t>W. F. Schneider</a:t>
            </a:r>
          </a:p>
        </p:txBody>
      </p:sp>
      <p:sp>
        <p:nvSpPr>
          <p:cNvPr id="3" name="Footer Placeholder 3">
            <a:extLst>
              <a:ext uri="{FF2B5EF4-FFF2-40B4-BE49-F238E27FC236}">
                <a16:creationId xmlns:a16="http://schemas.microsoft.com/office/drawing/2014/main" id="{70DDDF92-A4B5-B89C-00ED-B30F47F63CC3}"/>
              </a:ext>
            </a:extLst>
          </p:cNvPr>
          <p:cNvSpPr>
            <a:spLocks noGrp="1"/>
          </p:cNvSpPr>
          <p:nvPr>
            <p:ph type="ftr" sz="quarter" idx="11"/>
          </p:nvPr>
        </p:nvSpPr>
        <p:spPr>
          <a:xfrm>
            <a:off x="3028950" y="4767263"/>
            <a:ext cx="3086100" cy="273844"/>
          </a:xfrm>
        </p:spPr>
        <p:txBody>
          <a:bodyPr/>
          <a:lstStyle/>
          <a:p>
            <a:r>
              <a:rPr lang="en-US" altLang="en-US"/>
              <a:t>CBE 60546</a:t>
            </a:r>
          </a:p>
        </p:txBody>
      </p:sp>
      <p:pic>
        <p:nvPicPr>
          <p:cNvPr id="228371" name="Picture 19">
            <a:extLst>
              <a:ext uri="{FF2B5EF4-FFF2-40B4-BE49-F238E27FC236}">
                <a16:creationId xmlns:a16="http://schemas.microsoft.com/office/drawing/2014/main" id="{AD730A00-29AA-5D22-3CEE-60017AEC47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2432" y="722314"/>
            <a:ext cx="1350962" cy="1125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8372" name="Picture 20">
            <a:extLst>
              <a:ext uri="{FF2B5EF4-FFF2-40B4-BE49-F238E27FC236}">
                <a16:creationId xmlns:a16="http://schemas.microsoft.com/office/drawing/2014/main" id="{15892C92-A42A-6FD2-F88A-E798C3534A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10722" b="12137"/>
          <a:stretch>
            <a:fillRect/>
          </a:stretch>
        </p:blipFill>
        <p:spPr bwMode="auto">
          <a:xfrm>
            <a:off x="6262690" y="1918568"/>
            <a:ext cx="2097086" cy="1346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8376" name="Line 24">
            <a:extLst>
              <a:ext uri="{FF2B5EF4-FFF2-40B4-BE49-F238E27FC236}">
                <a16:creationId xmlns:a16="http://schemas.microsoft.com/office/drawing/2014/main" id="{83233D82-330F-1884-B635-EF274AD2F556}"/>
              </a:ext>
            </a:extLst>
          </p:cNvPr>
          <p:cNvSpPr>
            <a:spLocks noChangeShapeType="1"/>
          </p:cNvSpPr>
          <p:nvPr/>
        </p:nvSpPr>
        <p:spPr bwMode="auto">
          <a:xfrm>
            <a:off x="7423150" y="2462214"/>
            <a:ext cx="0" cy="555625"/>
          </a:xfrm>
          <a:prstGeom prst="line">
            <a:avLst/>
          </a:prstGeom>
          <a:noFill/>
          <a:ln w="12700">
            <a:solidFill>
              <a:schemeClr val="tx1"/>
            </a:solidFill>
            <a:prstDash val="sysDot"/>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228379" name="Picture 27">
            <a:extLst>
              <a:ext uri="{FF2B5EF4-FFF2-40B4-BE49-F238E27FC236}">
                <a16:creationId xmlns:a16="http://schemas.microsoft.com/office/drawing/2014/main" id="{B659D2CD-5660-10E8-5A94-AB2F3027CC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27223" t="6705" r="27672" b="5342"/>
          <a:stretch>
            <a:fillRect/>
          </a:stretch>
        </p:blipFill>
        <p:spPr bwMode="auto">
          <a:xfrm>
            <a:off x="296863" y="742950"/>
            <a:ext cx="1958973" cy="3180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8380" name="Line 28">
            <a:extLst>
              <a:ext uri="{FF2B5EF4-FFF2-40B4-BE49-F238E27FC236}">
                <a16:creationId xmlns:a16="http://schemas.microsoft.com/office/drawing/2014/main" id="{23D310B5-430B-E439-06C7-36B8270078BB}"/>
              </a:ext>
            </a:extLst>
          </p:cNvPr>
          <p:cNvSpPr>
            <a:spLocks noChangeShapeType="1"/>
          </p:cNvSpPr>
          <p:nvPr/>
        </p:nvSpPr>
        <p:spPr bwMode="auto">
          <a:xfrm>
            <a:off x="2629695" y="1244600"/>
            <a:ext cx="12525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8381" name="Text Box 29">
            <a:extLst>
              <a:ext uri="{FF2B5EF4-FFF2-40B4-BE49-F238E27FC236}">
                <a16:creationId xmlns:a16="http://schemas.microsoft.com/office/drawing/2014/main" id="{8C558633-A7CE-746E-B0A8-47D2AB643BF3}"/>
              </a:ext>
            </a:extLst>
          </p:cNvPr>
          <p:cNvSpPr txBox="1">
            <a:spLocks noChangeArrowheads="1"/>
          </p:cNvSpPr>
          <p:nvPr/>
        </p:nvSpPr>
        <p:spPr bwMode="auto">
          <a:xfrm>
            <a:off x="2940050" y="873125"/>
            <a:ext cx="5667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a:t>CO</a:t>
            </a:r>
            <a:r>
              <a:rPr lang="en-US" altLang="en-US" sz="1600" baseline="-25000"/>
              <a:t>2</a:t>
            </a:r>
          </a:p>
        </p:txBody>
      </p:sp>
      <p:sp>
        <p:nvSpPr>
          <p:cNvPr id="228382" name="Line 30">
            <a:extLst>
              <a:ext uri="{FF2B5EF4-FFF2-40B4-BE49-F238E27FC236}">
                <a16:creationId xmlns:a16="http://schemas.microsoft.com/office/drawing/2014/main" id="{8758219E-6C2B-74A3-AC5B-31AD5D6B99FA}"/>
              </a:ext>
            </a:extLst>
          </p:cNvPr>
          <p:cNvSpPr>
            <a:spLocks noChangeShapeType="1"/>
          </p:cNvSpPr>
          <p:nvPr/>
        </p:nvSpPr>
        <p:spPr bwMode="auto">
          <a:xfrm>
            <a:off x="2933701" y="2505075"/>
            <a:ext cx="32178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228383" name="Text Box 31">
            <a:extLst>
              <a:ext uri="{FF2B5EF4-FFF2-40B4-BE49-F238E27FC236}">
                <a16:creationId xmlns:a16="http://schemas.microsoft.com/office/drawing/2014/main" id="{E0766D46-B118-BE54-4838-F42A369D0F6C}"/>
              </a:ext>
            </a:extLst>
          </p:cNvPr>
          <p:cNvSpPr txBox="1">
            <a:spLocks noChangeArrowheads="1"/>
          </p:cNvSpPr>
          <p:nvPr/>
        </p:nvSpPr>
        <p:spPr bwMode="auto">
          <a:xfrm>
            <a:off x="3255964" y="2151063"/>
            <a:ext cx="5556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a:t>SO</a:t>
            </a:r>
            <a:r>
              <a:rPr lang="en-US" altLang="en-US" sz="1600" baseline="-25000"/>
              <a:t>2</a:t>
            </a:r>
          </a:p>
        </p:txBody>
      </p:sp>
      <p:sp>
        <p:nvSpPr>
          <p:cNvPr id="228384" name="Text Box 32">
            <a:extLst>
              <a:ext uri="{FF2B5EF4-FFF2-40B4-BE49-F238E27FC236}">
                <a16:creationId xmlns:a16="http://schemas.microsoft.com/office/drawing/2014/main" id="{36035F28-B404-0C34-36FC-9C54516069D0}"/>
              </a:ext>
            </a:extLst>
          </p:cNvPr>
          <p:cNvSpPr txBox="1">
            <a:spLocks noChangeArrowheads="1"/>
          </p:cNvSpPr>
          <p:nvPr/>
        </p:nvSpPr>
        <p:spPr bwMode="auto">
          <a:xfrm>
            <a:off x="5838828" y="1023939"/>
            <a:ext cx="13083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sz="1200" dirty="0" err="1"/>
              <a:t>Physisorbed</a:t>
            </a:r>
            <a:r>
              <a:rPr lang="en-US" altLang="en-US" sz="1200" dirty="0"/>
              <a:t> CO</a:t>
            </a:r>
            <a:r>
              <a:rPr lang="en-US" altLang="en-US" sz="1200" baseline="-25000" dirty="0"/>
              <a:t>2</a:t>
            </a:r>
          </a:p>
          <a:p>
            <a:pPr algn="ctr" eaLnBrk="1" hangingPunct="1"/>
            <a:r>
              <a:rPr lang="en-US" altLang="en-US" sz="1200" dirty="0"/>
              <a:t>-10 kJ mol</a:t>
            </a:r>
            <a:r>
              <a:rPr lang="en-US" altLang="en-US" sz="1200" baseline="30000" dirty="0"/>
              <a:t>-1</a:t>
            </a:r>
            <a:r>
              <a:rPr lang="en-US" altLang="en-US" sz="1200" dirty="0"/>
              <a:t> GGA</a:t>
            </a:r>
          </a:p>
        </p:txBody>
      </p:sp>
      <p:sp>
        <p:nvSpPr>
          <p:cNvPr id="228385" name="Text Box 33">
            <a:extLst>
              <a:ext uri="{FF2B5EF4-FFF2-40B4-BE49-F238E27FC236}">
                <a16:creationId xmlns:a16="http://schemas.microsoft.com/office/drawing/2014/main" id="{8A8C8516-4002-B856-C7D9-B4CE215BC8D7}"/>
              </a:ext>
            </a:extLst>
          </p:cNvPr>
          <p:cNvSpPr txBox="1">
            <a:spLocks noChangeArrowheads="1"/>
          </p:cNvSpPr>
          <p:nvPr/>
        </p:nvSpPr>
        <p:spPr bwMode="auto">
          <a:xfrm>
            <a:off x="4756477" y="2103439"/>
            <a:ext cx="13773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sz="1200" dirty="0"/>
              <a:t>Chemisorbed SO</a:t>
            </a:r>
            <a:r>
              <a:rPr lang="en-US" altLang="en-US" sz="1200" baseline="-25000" dirty="0"/>
              <a:t>2</a:t>
            </a:r>
          </a:p>
          <a:p>
            <a:pPr algn="ctr" eaLnBrk="1" hangingPunct="1"/>
            <a:r>
              <a:rPr lang="en-US" altLang="en-US" sz="1200" dirty="0"/>
              <a:t>(“sulfite”)</a:t>
            </a:r>
          </a:p>
          <a:p>
            <a:pPr algn="ctr" eaLnBrk="1" hangingPunct="1"/>
            <a:r>
              <a:rPr lang="en-US" altLang="en-US" sz="1200" dirty="0"/>
              <a:t>-100 kJ mol</a:t>
            </a:r>
            <a:r>
              <a:rPr lang="en-US" altLang="en-US" sz="1200" baseline="30000" dirty="0"/>
              <a:t>-1</a:t>
            </a:r>
            <a:r>
              <a:rPr lang="en-US" altLang="en-US" sz="1200" dirty="0"/>
              <a:t> GGA</a:t>
            </a:r>
          </a:p>
        </p:txBody>
      </p:sp>
      <p:pic>
        <p:nvPicPr>
          <p:cNvPr id="228386" name="Picture 34">
            <a:extLst>
              <a:ext uri="{FF2B5EF4-FFF2-40B4-BE49-F238E27FC236}">
                <a16:creationId xmlns:a16="http://schemas.microsoft.com/office/drawing/2014/main" id="{F4B8F090-77B3-CDFE-1EC2-10D36B546BE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77609" y="3159486"/>
            <a:ext cx="1617292" cy="1346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8387" name="Line 35">
            <a:extLst>
              <a:ext uri="{FF2B5EF4-FFF2-40B4-BE49-F238E27FC236}">
                <a16:creationId xmlns:a16="http://schemas.microsoft.com/office/drawing/2014/main" id="{F09105B2-B392-279C-E34A-40512CF2B919}"/>
              </a:ext>
            </a:extLst>
          </p:cNvPr>
          <p:cNvSpPr>
            <a:spLocks noChangeShapeType="1"/>
          </p:cNvSpPr>
          <p:nvPr/>
        </p:nvSpPr>
        <p:spPr bwMode="auto">
          <a:xfrm>
            <a:off x="2703510" y="3743576"/>
            <a:ext cx="12525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8388" name="Text Box 36">
            <a:extLst>
              <a:ext uri="{FF2B5EF4-FFF2-40B4-BE49-F238E27FC236}">
                <a16:creationId xmlns:a16="http://schemas.microsoft.com/office/drawing/2014/main" id="{BDB684B3-E61C-EDC3-5C90-5F4C196722B0}"/>
              </a:ext>
            </a:extLst>
          </p:cNvPr>
          <p:cNvSpPr txBox="1">
            <a:spLocks noChangeArrowheads="1"/>
          </p:cNvSpPr>
          <p:nvPr/>
        </p:nvSpPr>
        <p:spPr bwMode="auto">
          <a:xfrm>
            <a:off x="3063872" y="3408614"/>
            <a:ext cx="5556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dirty="0"/>
              <a:t>SO</a:t>
            </a:r>
            <a:r>
              <a:rPr lang="en-US" altLang="en-US" sz="1600" baseline="-25000" dirty="0"/>
              <a:t>3</a:t>
            </a:r>
            <a:endParaRPr lang="en-US" altLang="en-US" sz="1600" dirty="0"/>
          </a:p>
        </p:txBody>
      </p:sp>
      <p:sp>
        <p:nvSpPr>
          <p:cNvPr id="228389" name="Text Box 37">
            <a:extLst>
              <a:ext uri="{FF2B5EF4-FFF2-40B4-BE49-F238E27FC236}">
                <a16:creationId xmlns:a16="http://schemas.microsoft.com/office/drawing/2014/main" id="{B9CA32EB-79E8-4FB4-D5F3-8F6149AE7048}"/>
              </a:ext>
            </a:extLst>
          </p:cNvPr>
          <p:cNvSpPr txBox="1">
            <a:spLocks noChangeArrowheads="1"/>
          </p:cNvSpPr>
          <p:nvPr/>
        </p:nvSpPr>
        <p:spPr bwMode="auto">
          <a:xfrm>
            <a:off x="6096309" y="3631112"/>
            <a:ext cx="13773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sz="1200" dirty="0"/>
              <a:t>Chemisorbed SO</a:t>
            </a:r>
            <a:r>
              <a:rPr lang="en-US" altLang="en-US" sz="1200" baseline="-25000" dirty="0"/>
              <a:t>3</a:t>
            </a:r>
          </a:p>
          <a:p>
            <a:pPr algn="ctr" eaLnBrk="1" hangingPunct="1"/>
            <a:r>
              <a:rPr lang="en-US" altLang="en-US" sz="1200" dirty="0"/>
              <a:t>(“sulfate”)</a:t>
            </a:r>
          </a:p>
          <a:p>
            <a:pPr algn="ctr" eaLnBrk="1" hangingPunct="1"/>
            <a:r>
              <a:rPr lang="en-US" altLang="en-US" sz="1200" dirty="0"/>
              <a:t>-200 kJ mol</a:t>
            </a:r>
            <a:r>
              <a:rPr lang="en-US" altLang="en-US" sz="1200" baseline="30000" dirty="0"/>
              <a:t>-1</a:t>
            </a:r>
            <a:r>
              <a:rPr lang="en-US" altLang="en-US" sz="1200" dirty="0"/>
              <a:t> GGA</a:t>
            </a:r>
          </a:p>
        </p:txBody>
      </p:sp>
      <p:sp>
        <p:nvSpPr>
          <p:cNvPr id="228397" name="Text Box 45">
            <a:extLst>
              <a:ext uri="{FF2B5EF4-FFF2-40B4-BE49-F238E27FC236}">
                <a16:creationId xmlns:a16="http://schemas.microsoft.com/office/drawing/2014/main" id="{89C744F0-D63E-744F-80B4-0E79C484ABFB}"/>
              </a:ext>
            </a:extLst>
          </p:cNvPr>
          <p:cNvSpPr txBox="1">
            <a:spLocks noChangeArrowheads="1"/>
          </p:cNvSpPr>
          <p:nvPr/>
        </p:nvSpPr>
        <p:spPr bwMode="auto">
          <a:xfrm>
            <a:off x="544515" y="4024314"/>
            <a:ext cx="16305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Corbel" panose="020B0503020204020204" pitchFamily="34" charset="0"/>
              </a:rPr>
              <a:t>MgO(001) supercell</a:t>
            </a:r>
          </a:p>
        </p:txBody>
      </p:sp>
      <p:pic>
        <p:nvPicPr>
          <p:cNvPr id="228400" name="Picture 48">
            <a:extLst>
              <a:ext uri="{FF2B5EF4-FFF2-40B4-BE49-F238E27FC236}">
                <a16:creationId xmlns:a16="http://schemas.microsoft.com/office/drawing/2014/main" id="{F262DB49-DF34-A00F-34FD-B5BA7FAC8EB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l="42299" t="40480" r="42627" b="40660"/>
          <a:stretch>
            <a:fillRect/>
          </a:stretch>
        </p:blipFill>
        <p:spPr bwMode="auto">
          <a:xfrm>
            <a:off x="1068389" y="2184400"/>
            <a:ext cx="168275" cy="17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8401" name="Text Box 49">
            <a:extLst>
              <a:ext uri="{FF2B5EF4-FFF2-40B4-BE49-F238E27FC236}">
                <a16:creationId xmlns:a16="http://schemas.microsoft.com/office/drawing/2014/main" id="{F5C17F52-C3FD-C2CA-B4E5-E514F83E6F10}"/>
              </a:ext>
            </a:extLst>
          </p:cNvPr>
          <p:cNvSpPr txBox="1">
            <a:spLocks noChangeArrowheads="1"/>
          </p:cNvSpPr>
          <p:nvPr/>
        </p:nvSpPr>
        <p:spPr bwMode="auto">
          <a:xfrm>
            <a:off x="1174750" y="2138364"/>
            <a:ext cx="39528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t>Mg</a:t>
            </a:r>
          </a:p>
        </p:txBody>
      </p:sp>
      <p:pic>
        <p:nvPicPr>
          <p:cNvPr id="228402" name="Picture 50">
            <a:extLst>
              <a:ext uri="{FF2B5EF4-FFF2-40B4-BE49-F238E27FC236}">
                <a16:creationId xmlns:a16="http://schemas.microsoft.com/office/drawing/2014/main" id="{8C000C59-9910-56A4-3267-1BB30994C56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l="42657" t="40875" r="42805" b="41306"/>
          <a:stretch>
            <a:fillRect/>
          </a:stretch>
        </p:blipFill>
        <p:spPr bwMode="auto">
          <a:xfrm>
            <a:off x="1055689" y="2474914"/>
            <a:ext cx="219075" cy="223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8403" name="Text Box 51">
            <a:extLst>
              <a:ext uri="{FF2B5EF4-FFF2-40B4-BE49-F238E27FC236}">
                <a16:creationId xmlns:a16="http://schemas.microsoft.com/office/drawing/2014/main" id="{AF525A65-8411-58D8-B007-CE69BE6DCBE1}"/>
              </a:ext>
            </a:extLst>
          </p:cNvPr>
          <p:cNvSpPr txBox="1">
            <a:spLocks noChangeArrowheads="1"/>
          </p:cNvSpPr>
          <p:nvPr/>
        </p:nvSpPr>
        <p:spPr bwMode="auto">
          <a:xfrm>
            <a:off x="1201738" y="2459039"/>
            <a:ext cx="303212"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t>O</a:t>
            </a:r>
          </a:p>
        </p:txBody>
      </p:sp>
      <p:sp>
        <p:nvSpPr>
          <p:cNvPr id="228435" name="Text Box 83">
            <a:extLst>
              <a:ext uri="{FF2B5EF4-FFF2-40B4-BE49-F238E27FC236}">
                <a16:creationId xmlns:a16="http://schemas.microsoft.com/office/drawing/2014/main" id="{091FF914-4E22-1078-FFC6-4B2E72063A71}"/>
              </a:ext>
            </a:extLst>
          </p:cNvPr>
          <p:cNvSpPr txBox="1">
            <a:spLocks noChangeArrowheads="1"/>
          </p:cNvSpPr>
          <p:nvPr/>
        </p:nvSpPr>
        <p:spPr bwMode="auto">
          <a:xfrm rot="16200000">
            <a:off x="7985126" y="5172076"/>
            <a:ext cx="227012"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t>:</a:t>
            </a:r>
          </a:p>
        </p:txBody>
      </p:sp>
      <p:sp>
        <p:nvSpPr>
          <p:cNvPr id="228449" name="Rectangle 97">
            <a:extLst>
              <a:ext uri="{FF2B5EF4-FFF2-40B4-BE49-F238E27FC236}">
                <a16:creationId xmlns:a16="http://schemas.microsoft.com/office/drawing/2014/main" id="{3C18FFB0-2F87-7F82-CA17-CDCFB18977D1}"/>
              </a:ext>
            </a:extLst>
          </p:cNvPr>
          <p:cNvSpPr>
            <a:spLocks noChangeArrowheads="1"/>
          </p:cNvSpPr>
          <p:nvPr/>
        </p:nvSpPr>
        <p:spPr bwMode="auto">
          <a:xfrm>
            <a:off x="389950" y="4368801"/>
            <a:ext cx="3513137" cy="24447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r>
              <a:rPr lang="en-US" altLang="en-US" sz="1000" dirty="0"/>
              <a:t>Schneider, Li, and Hass, </a:t>
            </a:r>
            <a:r>
              <a:rPr lang="en-US" altLang="en-US" sz="1000" i="1" dirty="0"/>
              <a:t>J. Phys. Chem. B</a:t>
            </a:r>
            <a:r>
              <a:rPr lang="en-US" altLang="en-US" sz="1000" dirty="0"/>
              <a:t> </a:t>
            </a:r>
            <a:r>
              <a:rPr lang="en-US" altLang="en-US" sz="1000" b="1" dirty="0"/>
              <a:t>2001</a:t>
            </a:r>
            <a:r>
              <a:rPr lang="en-US" altLang="en-US" sz="1000" dirty="0"/>
              <a:t>, </a:t>
            </a:r>
            <a:r>
              <a:rPr lang="en-US" altLang="en-US" sz="1000" i="1" dirty="0"/>
              <a:t>105</a:t>
            </a:r>
            <a:r>
              <a:rPr lang="en-US" altLang="en-US" sz="1000" dirty="0"/>
              <a:t>, 6972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a:extLst>
              <a:ext uri="{FF2B5EF4-FFF2-40B4-BE49-F238E27FC236}">
                <a16:creationId xmlns:a16="http://schemas.microsoft.com/office/drawing/2014/main" id="{16E3CE43-B3A2-D08C-F45C-E24848C570CE}"/>
              </a:ext>
            </a:extLst>
          </p:cNvPr>
          <p:cNvSpPr>
            <a:spLocks noGrp="1" noChangeArrowheads="1"/>
          </p:cNvSpPr>
          <p:nvPr>
            <p:ph type="title"/>
          </p:nvPr>
        </p:nvSpPr>
        <p:spPr/>
        <p:txBody>
          <a:bodyPr>
            <a:normAutofit fontScale="90000"/>
          </a:bodyPr>
          <a:lstStyle/>
          <a:p>
            <a:r>
              <a:rPr lang="en-US" altLang="en-US" dirty="0"/>
              <a:t>Concentrations in Heterogeneous Catalysis</a:t>
            </a:r>
          </a:p>
        </p:txBody>
      </p:sp>
      <p:sp>
        <p:nvSpPr>
          <p:cNvPr id="215043" name="Rectangle 3">
            <a:extLst>
              <a:ext uri="{FF2B5EF4-FFF2-40B4-BE49-F238E27FC236}">
                <a16:creationId xmlns:a16="http://schemas.microsoft.com/office/drawing/2014/main" id="{C537CE07-B239-C055-655D-11EC279E67E6}"/>
              </a:ext>
            </a:extLst>
          </p:cNvPr>
          <p:cNvSpPr>
            <a:spLocks noGrp="1" noChangeArrowheads="1"/>
          </p:cNvSpPr>
          <p:nvPr>
            <p:ph idx="1"/>
          </p:nvPr>
        </p:nvSpPr>
        <p:spPr/>
        <p:txBody>
          <a:bodyPr>
            <a:normAutofit/>
          </a:bodyPr>
          <a:lstStyle/>
          <a:p>
            <a:r>
              <a:rPr lang="en-US" altLang="en-US" u="sng"/>
              <a:t>Fluid concentrations</a:t>
            </a:r>
          </a:p>
          <a:p>
            <a:pPr lvl="1"/>
            <a:r>
              <a:rPr lang="en-US" altLang="en-US"/>
              <a:t>Traditionally reported as </a:t>
            </a:r>
            <a:r>
              <a:rPr lang="en-US" altLang="en-US" u="sng"/>
              <a:t>pressures</a:t>
            </a:r>
            <a:r>
              <a:rPr lang="en-US" altLang="en-US"/>
              <a:t> (torr, atm, bar)</a:t>
            </a:r>
          </a:p>
          <a:p>
            <a:pPr lvl="1"/>
            <a:r>
              <a:rPr lang="en-US" altLang="en-US"/>
              <a:t>Ideal gas assumption: </a:t>
            </a:r>
            <a:r>
              <a:rPr lang="en-US" altLang="en-US" i="1"/>
              <a:t>P</a:t>
            </a:r>
            <a:r>
              <a:rPr lang="en-US" altLang="en-US" i="1" baseline="-25000"/>
              <a:t>j</a:t>
            </a:r>
            <a:r>
              <a:rPr lang="en-US" altLang="en-US"/>
              <a:t> = </a:t>
            </a:r>
            <a:r>
              <a:rPr lang="en-US" altLang="en-US" i="1"/>
              <a:t>C</a:t>
            </a:r>
            <a:r>
              <a:rPr lang="en-US" altLang="en-US" i="1" baseline="-25000"/>
              <a:t>j</a:t>
            </a:r>
            <a:r>
              <a:rPr lang="en-US" altLang="en-US"/>
              <a:t> </a:t>
            </a:r>
            <a:r>
              <a:rPr lang="en-US" altLang="en-US" i="1"/>
              <a:t>RT</a:t>
            </a:r>
          </a:p>
          <a:p>
            <a:pPr lvl="1"/>
            <a:endParaRPr lang="en-US" altLang="en-US" u="sng"/>
          </a:p>
          <a:p>
            <a:r>
              <a:rPr lang="en-US" altLang="en-US" u="sng"/>
              <a:t>Surface concentrations</a:t>
            </a:r>
          </a:p>
          <a:p>
            <a:pPr lvl="1"/>
            <a:r>
              <a:rPr lang="en-US" altLang="en-US"/>
              <a:t>“Coverage” per unit area</a:t>
            </a:r>
          </a:p>
          <a:p>
            <a:pPr lvl="2"/>
            <a:r>
              <a:rPr lang="en-US" altLang="en-US" i="1"/>
              <a:t>n</a:t>
            </a:r>
            <a:r>
              <a:rPr lang="en-US" altLang="en-US" i="1" baseline="-25000"/>
              <a:t>j</a:t>
            </a:r>
            <a:r>
              <a:rPr lang="en-US" altLang="en-US"/>
              <a:t> = moles</a:t>
            </a:r>
            <a:r>
              <a:rPr lang="en-US" altLang="en-US" i="1" baseline="-25000"/>
              <a:t>j</a:t>
            </a:r>
            <a:r>
              <a:rPr lang="en-US" altLang="en-US"/>
              <a:t> / area</a:t>
            </a:r>
          </a:p>
          <a:p>
            <a:pPr lvl="1"/>
            <a:r>
              <a:rPr lang="en-US" altLang="en-US"/>
              <a:t>Maximum coverage called </a:t>
            </a:r>
            <a:r>
              <a:rPr lang="en-US" altLang="en-US" u="sng"/>
              <a:t>monolayer</a:t>
            </a:r>
          </a:p>
          <a:p>
            <a:pPr lvl="2"/>
            <a:r>
              <a:rPr lang="en-US" altLang="en-US"/>
              <a:t>1 ML: </a:t>
            </a:r>
            <a:r>
              <a:rPr lang="en-US" altLang="en-US" i="1"/>
              <a:t>n</a:t>
            </a:r>
            <a:r>
              <a:rPr lang="en-US" altLang="en-US" i="1" baseline="-25000"/>
              <a:t>j</a:t>
            </a:r>
            <a:r>
              <a:rPr lang="en-US" altLang="en-US" baseline="-25000"/>
              <a:t>,max</a:t>
            </a:r>
            <a:r>
              <a:rPr lang="en-US" altLang="en-US"/>
              <a:t> = ~ 10</a:t>
            </a:r>
            <a:r>
              <a:rPr lang="en-US" altLang="en-US" baseline="30000"/>
              <a:t>15</a:t>
            </a:r>
            <a:r>
              <a:rPr lang="en-US" altLang="en-US"/>
              <a:t> molecules / cm</a:t>
            </a:r>
            <a:r>
              <a:rPr lang="en-US" altLang="en-US" baseline="30000"/>
              <a:t>2</a:t>
            </a:r>
          </a:p>
          <a:p>
            <a:pPr lvl="1"/>
            <a:r>
              <a:rPr lang="en-US" altLang="en-US">
                <a:cs typeface="Arial" panose="020B0604020202020204" pitchFamily="34" charset="0"/>
              </a:rPr>
              <a:t>Fractional coverage</a:t>
            </a:r>
          </a:p>
          <a:p>
            <a:pPr lvl="2"/>
            <a:r>
              <a:rPr lang="el-GR" altLang="en-US" i="1">
                <a:cs typeface="Arial" panose="020B0604020202020204" pitchFamily="34" charset="0"/>
              </a:rPr>
              <a:t>θ</a:t>
            </a:r>
            <a:r>
              <a:rPr lang="en-US" altLang="en-US" i="1" baseline="-25000">
                <a:cs typeface="Arial" panose="020B0604020202020204" pitchFamily="34" charset="0"/>
              </a:rPr>
              <a:t>j </a:t>
            </a:r>
            <a:r>
              <a:rPr lang="en-US" altLang="en-US" i="1">
                <a:cs typeface="Arial" panose="020B0604020202020204" pitchFamily="34" charset="0"/>
              </a:rPr>
              <a:t>= n</a:t>
            </a:r>
            <a:r>
              <a:rPr lang="en-US" altLang="en-US" i="1" baseline="-25000">
                <a:cs typeface="Arial" panose="020B0604020202020204" pitchFamily="34" charset="0"/>
              </a:rPr>
              <a:t>j</a:t>
            </a:r>
            <a:r>
              <a:rPr lang="en-US" altLang="en-US" i="1">
                <a:cs typeface="Arial" panose="020B0604020202020204" pitchFamily="34" charset="0"/>
              </a:rPr>
              <a:t> / n</a:t>
            </a:r>
            <a:r>
              <a:rPr lang="en-US" altLang="en-US" i="1" baseline="-25000">
                <a:cs typeface="Arial" panose="020B0604020202020204" pitchFamily="34" charset="0"/>
              </a:rPr>
              <a:t>j,max</a:t>
            </a:r>
          </a:p>
          <a:p>
            <a:pPr lvl="2"/>
            <a:r>
              <a:rPr lang="en-US" altLang="en-US">
                <a:cs typeface="Arial" panose="020B0604020202020204" pitchFamily="34" charset="0"/>
              </a:rPr>
              <a:t>0 ≤ </a:t>
            </a:r>
            <a:r>
              <a:rPr lang="el-GR" altLang="en-US" i="1">
                <a:cs typeface="Arial" panose="020B0604020202020204" pitchFamily="34" charset="0"/>
              </a:rPr>
              <a:t>θ</a:t>
            </a:r>
            <a:r>
              <a:rPr lang="en-US" altLang="en-US" i="1" baseline="-25000">
                <a:cs typeface="Arial" panose="020B0604020202020204" pitchFamily="34" charset="0"/>
              </a:rPr>
              <a:t>j  </a:t>
            </a:r>
            <a:r>
              <a:rPr lang="en-US" altLang="en-US">
                <a:cs typeface="Arial" panose="020B0604020202020204" pitchFamily="34" charset="0"/>
              </a:rPr>
              <a:t>≤ 1</a:t>
            </a:r>
          </a:p>
          <a:p>
            <a:endParaRPr lang="en-US" altLang="en-US"/>
          </a:p>
        </p:txBody>
      </p:sp>
      <p:sp>
        <p:nvSpPr>
          <p:cNvPr id="2" name="Date Placeholder 3">
            <a:extLst>
              <a:ext uri="{FF2B5EF4-FFF2-40B4-BE49-F238E27FC236}">
                <a16:creationId xmlns:a16="http://schemas.microsoft.com/office/drawing/2014/main" id="{81ED7333-F24A-77DF-6979-F148630E34AE}"/>
              </a:ext>
            </a:extLst>
          </p:cNvPr>
          <p:cNvSpPr>
            <a:spLocks noGrp="1"/>
          </p:cNvSpPr>
          <p:nvPr>
            <p:ph type="dt" sz="half" idx="10"/>
          </p:nvPr>
        </p:nvSpPr>
        <p:spPr/>
        <p:txBody>
          <a:bodyPr/>
          <a:lstStyle/>
          <a:p>
            <a:r>
              <a:rPr lang="en-US" altLang="en-US"/>
              <a:t>W. F. Schneider</a:t>
            </a:r>
          </a:p>
        </p:txBody>
      </p:sp>
      <p:sp>
        <p:nvSpPr>
          <p:cNvPr id="3" name="Footer Placeholder 4">
            <a:extLst>
              <a:ext uri="{FF2B5EF4-FFF2-40B4-BE49-F238E27FC236}">
                <a16:creationId xmlns:a16="http://schemas.microsoft.com/office/drawing/2014/main" id="{9E4BA9FF-E523-679F-5A13-FE462E9737B0}"/>
              </a:ext>
            </a:extLst>
          </p:cNvPr>
          <p:cNvSpPr>
            <a:spLocks noGrp="1"/>
          </p:cNvSpPr>
          <p:nvPr>
            <p:ph type="ftr" sz="quarter" idx="11"/>
          </p:nvPr>
        </p:nvSpPr>
        <p:spPr/>
        <p:txBody>
          <a:bodyPr/>
          <a:lstStyle/>
          <a:p>
            <a:r>
              <a:rPr lang="en-US" altLang="en-US"/>
              <a:t>CBE 60546</a:t>
            </a:r>
          </a:p>
        </p:txBody>
      </p:sp>
      <p:sp>
        <p:nvSpPr>
          <p:cNvPr id="215044" name="Oval 4">
            <a:extLst>
              <a:ext uri="{FF2B5EF4-FFF2-40B4-BE49-F238E27FC236}">
                <a16:creationId xmlns:a16="http://schemas.microsoft.com/office/drawing/2014/main" id="{ACE9CFB9-0C35-7D9D-C483-4056ED03ED83}"/>
              </a:ext>
            </a:extLst>
          </p:cNvPr>
          <p:cNvSpPr>
            <a:spLocks noChangeArrowheads="1"/>
          </p:cNvSpPr>
          <p:nvPr/>
        </p:nvSpPr>
        <p:spPr bwMode="auto">
          <a:xfrm>
            <a:off x="6019800" y="2038349"/>
            <a:ext cx="4572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45" name="Oval 5">
            <a:extLst>
              <a:ext uri="{FF2B5EF4-FFF2-40B4-BE49-F238E27FC236}">
                <a16:creationId xmlns:a16="http://schemas.microsoft.com/office/drawing/2014/main" id="{FA170AC2-A04E-B490-EFD9-FCA5F441D3DA}"/>
              </a:ext>
            </a:extLst>
          </p:cNvPr>
          <p:cNvSpPr>
            <a:spLocks noChangeArrowheads="1"/>
          </p:cNvSpPr>
          <p:nvPr/>
        </p:nvSpPr>
        <p:spPr bwMode="auto">
          <a:xfrm>
            <a:off x="6477000" y="2038349"/>
            <a:ext cx="4572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46" name="Oval 6">
            <a:extLst>
              <a:ext uri="{FF2B5EF4-FFF2-40B4-BE49-F238E27FC236}">
                <a16:creationId xmlns:a16="http://schemas.microsoft.com/office/drawing/2014/main" id="{0F3A5C0B-F96F-F216-134F-69E67E5B4A35}"/>
              </a:ext>
            </a:extLst>
          </p:cNvPr>
          <p:cNvSpPr>
            <a:spLocks noChangeArrowheads="1"/>
          </p:cNvSpPr>
          <p:nvPr/>
        </p:nvSpPr>
        <p:spPr bwMode="auto">
          <a:xfrm>
            <a:off x="6934200" y="2038349"/>
            <a:ext cx="4572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47" name="Oval 7">
            <a:extLst>
              <a:ext uri="{FF2B5EF4-FFF2-40B4-BE49-F238E27FC236}">
                <a16:creationId xmlns:a16="http://schemas.microsoft.com/office/drawing/2014/main" id="{F1CE57E1-BC02-AB59-2043-A17030CC816E}"/>
              </a:ext>
            </a:extLst>
          </p:cNvPr>
          <p:cNvSpPr>
            <a:spLocks noChangeArrowheads="1"/>
          </p:cNvSpPr>
          <p:nvPr/>
        </p:nvSpPr>
        <p:spPr bwMode="auto">
          <a:xfrm>
            <a:off x="7391400" y="2038349"/>
            <a:ext cx="4572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48" name="Oval 8">
            <a:extLst>
              <a:ext uri="{FF2B5EF4-FFF2-40B4-BE49-F238E27FC236}">
                <a16:creationId xmlns:a16="http://schemas.microsoft.com/office/drawing/2014/main" id="{CBFFB8DA-6171-E367-B773-7ECEBD2029EE}"/>
              </a:ext>
            </a:extLst>
          </p:cNvPr>
          <p:cNvSpPr>
            <a:spLocks noChangeArrowheads="1"/>
          </p:cNvSpPr>
          <p:nvPr/>
        </p:nvSpPr>
        <p:spPr bwMode="auto">
          <a:xfrm>
            <a:off x="7848600" y="2038349"/>
            <a:ext cx="4572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49" name="Oval 9">
            <a:extLst>
              <a:ext uri="{FF2B5EF4-FFF2-40B4-BE49-F238E27FC236}">
                <a16:creationId xmlns:a16="http://schemas.microsoft.com/office/drawing/2014/main" id="{6B1F9EE6-8EAD-A9BF-3748-4FE3681E9A3F}"/>
              </a:ext>
            </a:extLst>
          </p:cNvPr>
          <p:cNvSpPr>
            <a:spLocks noChangeArrowheads="1"/>
          </p:cNvSpPr>
          <p:nvPr/>
        </p:nvSpPr>
        <p:spPr bwMode="auto">
          <a:xfrm>
            <a:off x="8305800" y="2038349"/>
            <a:ext cx="4572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50" name="Oval 10">
            <a:extLst>
              <a:ext uri="{FF2B5EF4-FFF2-40B4-BE49-F238E27FC236}">
                <a16:creationId xmlns:a16="http://schemas.microsoft.com/office/drawing/2014/main" id="{15A8249A-9EE0-7EBA-C8A0-2C24CAB225C3}"/>
              </a:ext>
            </a:extLst>
          </p:cNvPr>
          <p:cNvSpPr>
            <a:spLocks noChangeArrowheads="1"/>
          </p:cNvSpPr>
          <p:nvPr/>
        </p:nvSpPr>
        <p:spPr bwMode="auto">
          <a:xfrm>
            <a:off x="5791200" y="2447924"/>
            <a:ext cx="4572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51" name="Oval 11">
            <a:extLst>
              <a:ext uri="{FF2B5EF4-FFF2-40B4-BE49-F238E27FC236}">
                <a16:creationId xmlns:a16="http://schemas.microsoft.com/office/drawing/2014/main" id="{CB945896-40DE-19F3-251F-039DB6221C50}"/>
              </a:ext>
            </a:extLst>
          </p:cNvPr>
          <p:cNvSpPr>
            <a:spLocks noChangeArrowheads="1"/>
          </p:cNvSpPr>
          <p:nvPr/>
        </p:nvSpPr>
        <p:spPr bwMode="auto">
          <a:xfrm>
            <a:off x="6248400" y="2447924"/>
            <a:ext cx="4572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52" name="Oval 12">
            <a:extLst>
              <a:ext uri="{FF2B5EF4-FFF2-40B4-BE49-F238E27FC236}">
                <a16:creationId xmlns:a16="http://schemas.microsoft.com/office/drawing/2014/main" id="{41E81C9F-4258-72F1-DD89-C1C39D32DDF1}"/>
              </a:ext>
            </a:extLst>
          </p:cNvPr>
          <p:cNvSpPr>
            <a:spLocks noChangeArrowheads="1"/>
          </p:cNvSpPr>
          <p:nvPr/>
        </p:nvSpPr>
        <p:spPr bwMode="auto">
          <a:xfrm>
            <a:off x="6705600" y="2447924"/>
            <a:ext cx="4572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53" name="Oval 13">
            <a:extLst>
              <a:ext uri="{FF2B5EF4-FFF2-40B4-BE49-F238E27FC236}">
                <a16:creationId xmlns:a16="http://schemas.microsoft.com/office/drawing/2014/main" id="{D24FA51F-B72B-3532-85AC-C23FE9029B32}"/>
              </a:ext>
            </a:extLst>
          </p:cNvPr>
          <p:cNvSpPr>
            <a:spLocks noChangeArrowheads="1"/>
          </p:cNvSpPr>
          <p:nvPr/>
        </p:nvSpPr>
        <p:spPr bwMode="auto">
          <a:xfrm>
            <a:off x="7162800" y="2447924"/>
            <a:ext cx="4572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54" name="Oval 14">
            <a:extLst>
              <a:ext uri="{FF2B5EF4-FFF2-40B4-BE49-F238E27FC236}">
                <a16:creationId xmlns:a16="http://schemas.microsoft.com/office/drawing/2014/main" id="{C5D729DB-2F35-E186-ED20-36F414EB5264}"/>
              </a:ext>
            </a:extLst>
          </p:cNvPr>
          <p:cNvSpPr>
            <a:spLocks noChangeArrowheads="1"/>
          </p:cNvSpPr>
          <p:nvPr/>
        </p:nvSpPr>
        <p:spPr bwMode="auto">
          <a:xfrm>
            <a:off x="7620000" y="2447924"/>
            <a:ext cx="4572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55" name="Oval 15">
            <a:extLst>
              <a:ext uri="{FF2B5EF4-FFF2-40B4-BE49-F238E27FC236}">
                <a16:creationId xmlns:a16="http://schemas.microsoft.com/office/drawing/2014/main" id="{BA24A029-F3C7-A923-3F39-2496D12CE424}"/>
              </a:ext>
            </a:extLst>
          </p:cNvPr>
          <p:cNvSpPr>
            <a:spLocks noChangeArrowheads="1"/>
          </p:cNvSpPr>
          <p:nvPr/>
        </p:nvSpPr>
        <p:spPr bwMode="auto">
          <a:xfrm>
            <a:off x="8077200" y="2447924"/>
            <a:ext cx="4572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56" name="Oval 16">
            <a:extLst>
              <a:ext uri="{FF2B5EF4-FFF2-40B4-BE49-F238E27FC236}">
                <a16:creationId xmlns:a16="http://schemas.microsoft.com/office/drawing/2014/main" id="{B5D81A57-93DA-101E-CC37-5DB4DE04AD13}"/>
              </a:ext>
            </a:extLst>
          </p:cNvPr>
          <p:cNvSpPr>
            <a:spLocks noChangeArrowheads="1"/>
          </p:cNvSpPr>
          <p:nvPr/>
        </p:nvSpPr>
        <p:spPr bwMode="auto">
          <a:xfrm>
            <a:off x="5562600" y="2857499"/>
            <a:ext cx="4572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57" name="Oval 17">
            <a:extLst>
              <a:ext uri="{FF2B5EF4-FFF2-40B4-BE49-F238E27FC236}">
                <a16:creationId xmlns:a16="http://schemas.microsoft.com/office/drawing/2014/main" id="{063EBB3C-1985-E730-18C4-57082D8581D9}"/>
              </a:ext>
            </a:extLst>
          </p:cNvPr>
          <p:cNvSpPr>
            <a:spLocks noChangeArrowheads="1"/>
          </p:cNvSpPr>
          <p:nvPr/>
        </p:nvSpPr>
        <p:spPr bwMode="auto">
          <a:xfrm>
            <a:off x="6019800" y="2857499"/>
            <a:ext cx="4572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58" name="Oval 18">
            <a:extLst>
              <a:ext uri="{FF2B5EF4-FFF2-40B4-BE49-F238E27FC236}">
                <a16:creationId xmlns:a16="http://schemas.microsoft.com/office/drawing/2014/main" id="{D296CB1B-B90D-27D6-E867-5B7BED55113B}"/>
              </a:ext>
            </a:extLst>
          </p:cNvPr>
          <p:cNvSpPr>
            <a:spLocks noChangeArrowheads="1"/>
          </p:cNvSpPr>
          <p:nvPr/>
        </p:nvSpPr>
        <p:spPr bwMode="auto">
          <a:xfrm>
            <a:off x="6477000" y="2857499"/>
            <a:ext cx="4572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59" name="Oval 19">
            <a:extLst>
              <a:ext uri="{FF2B5EF4-FFF2-40B4-BE49-F238E27FC236}">
                <a16:creationId xmlns:a16="http://schemas.microsoft.com/office/drawing/2014/main" id="{DB1F3F30-F142-E2A4-EAFF-00828AE4AC4A}"/>
              </a:ext>
            </a:extLst>
          </p:cNvPr>
          <p:cNvSpPr>
            <a:spLocks noChangeArrowheads="1"/>
          </p:cNvSpPr>
          <p:nvPr/>
        </p:nvSpPr>
        <p:spPr bwMode="auto">
          <a:xfrm>
            <a:off x="6934200" y="2857499"/>
            <a:ext cx="4572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60" name="Oval 20">
            <a:extLst>
              <a:ext uri="{FF2B5EF4-FFF2-40B4-BE49-F238E27FC236}">
                <a16:creationId xmlns:a16="http://schemas.microsoft.com/office/drawing/2014/main" id="{55BA751B-C1C6-0441-0C81-5229CB1BB437}"/>
              </a:ext>
            </a:extLst>
          </p:cNvPr>
          <p:cNvSpPr>
            <a:spLocks noChangeArrowheads="1"/>
          </p:cNvSpPr>
          <p:nvPr/>
        </p:nvSpPr>
        <p:spPr bwMode="auto">
          <a:xfrm>
            <a:off x="7391400" y="2857499"/>
            <a:ext cx="4572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61" name="Oval 21">
            <a:extLst>
              <a:ext uri="{FF2B5EF4-FFF2-40B4-BE49-F238E27FC236}">
                <a16:creationId xmlns:a16="http://schemas.microsoft.com/office/drawing/2014/main" id="{C4CC50F6-B581-C5D5-A833-750FA6A600A8}"/>
              </a:ext>
            </a:extLst>
          </p:cNvPr>
          <p:cNvSpPr>
            <a:spLocks noChangeArrowheads="1"/>
          </p:cNvSpPr>
          <p:nvPr/>
        </p:nvSpPr>
        <p:spPr bwMode="auto">
          <a:xfrm>
            <a:off x="7848600" y="2857499"/>
            <a:ext cx="4572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62" name="Oval 22">
            <a:extLst>
              <a:ext uri="{FF2B5EF4-FFF2-40B4-BE49-F238E27FC236}">
                <a16:creationId xmlns:a16="http://schemas.microsoft.com/office/drawing/2014/main" id="{930C0EB0-D398-B80C-F54C-E27C56B057F6}"/>
              </a:ext>
            </a:extLst>
          </p:cNvPr>
          <p:cNvSpPr>
            <a:spLocks noChangeArrowheads="1"/>
          </p:cNvSpPr>
          <p:nvPr/>
        </p:nvSpPr>
        <p:spPr bwMode="auto">
          <a:xfrm>
            <a:off x="5334000" y="3267074"/>
            <a:ext cx="4572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63" name="Oval 23">
            <a:extLst>
              <a:ext uri="{FF2B5EF4-FFF2-40B4-BE49-F238E27FC236}">
                <a16:creationId xmlns:a16="http://schemas.microsoft.com/office/drawing/2014/main" id="{09C95609-2B13-5257-3A0C-EDFA2AE36BF7}"/>
              </a:ext>
            </a:extLst>
          </p:cNvPr>
          <p:cNvSpPr>
            <a:spLocks noChangeArrowheads="1"/>
          </p:cNvSpPr>
          <p:nvPr/>
        </p:nvSpPr>
        <p:spPr bwMode="auto">
          <a:xfrm>
            <a:off x="5791200" y="3267074"/>
            <a:ext cx="4572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64" name="Oval 24">
            <a:extLst>
              <a:ext uri="{FF2B5EF4-FFF2-40B4-BE49-F238E27FC236}">
                <a16:creationId xmlns:a16="http://schemas.microsoft.com/office/drawing/2014/main" id="{A688467D-B740-D5B1-DEE8-3B33F0AF3CF7}"/>
              </a:ext>
            </a:extLst>
          </p:cNvPr>
          <p:cNvSpPr>
            <a:spLocks noChangeArrowheads="1"/>
          </p:cNvSpPr>
          <p:nvPr/>
        </p:nvSpPr>
        <p:spPr bwMode="auto">
          <a:xfrm>
            <a:off x="6248400" y="3267074"/>
            <a:ext cx="4572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65" name="Oval 25">
            <a:extLst>
              <a:ext uri="{FF2B5EF4-FFF2-40B4-BE49-F238E27FC236}">
                <a16:creationId xmlns:a16="http://schemas.microsoft.com/office/drawing/2014/main" id="{A4FF48EC-8609-BEF6-D60F-999B5662F2E9}"/>
              </a:ext>
            </a:extLst>
          </p:cNvPr>
          <p:cNvSpPr>
            <a:spLocks noChangeArrowheads="1"/>
          </p:cNvSpPr>
          <p:nvPr/>
        </p:nvSpPr>
        <p:spPr bwMode="auto">
          <a:xfrm>
            <a:off x="6705600" y="3267074"/>
            <a:ext cx="4572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66" name="Oval 26">
            <a:extLst>
              <a:ext uri="{FF2B5EF4-FFF2-40B4-BE49-F238E27FC236}">
                <a16:creationId xmlns:a16="http://schemas.microsoft.com/office/drawing/2014/main" id="{4E334703-5E49-5AB2-A426-E974E41D74C9}"/>
              </a:ext>
            </a:extLst>
          </p:cNvPr>
          <p:cNvSpPr>
            <a:spLocks noChangeArrowheads="1"/>
          </p:cNvSpPr>
          <p:nvPr/>
        </p:nvSpPr>
        <p:spPr bwMode="auto">
          <a:xfrm>
            <a:off x="7162800" y="3267074"/>
            <a:ext cx="4572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67" name="Oval 27">
            <a:extLst>
              <a:ext uri="{FF2B5EF4-FFF2-40B4-BE49-F238E27FC236}">
                <a16:creationId xmlns:a16="http://schemas.microsoft.com/office/drawing/2014/main" id="{4559E988-BD4C-49C8-3CD4-29A493152005}"/>
              </a:ext>
            </a:extLst>
          </p:cNvPr>
          <p:cNvSpPr>
            <a:spLocks noChangeArrowheads="1"/>
          </p:cNvSpPr>
          <p:nvPr/>
        </p:nvSpPr>
        <p:spPr bwMode="auto">
          <a:xfrm>
            <a:off x="7620000" y="3267074"/>
            <a:ext cx="4572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68" name="Oval 28">
            <a:extLst>
              <a:ext uri="{FF2B5EF4-FFF2-40B4-BE49-F238E27FC236}">
                <a16:creationId xmlns:a16="http://schemas.microsoft.com/office/drawing/2014/main" id="{134E6911-18B3-E043-E650-19F3AA7187E5}"/>
              </a:ext>
            </a:extLst>
          </p:cNvPr>
          <p:cNvSpPr>
            <a:spLocks noChangeArrowheads="1"/>
          </p:cNvSpPr>
          <p:nvPr/>
        </p:nvSpPr>
        <p:spPr bwMode="auto">
          <a:xfrm>
            <a:off x="5105400" y="3676649"/>
            <a:ext cx="4572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69" name="Oval 29">
            <a:extLst>
              <a:ext uri="{FF2B5EF4-FFF2-40B4-BE49-F238E27FC236}">
                <a16:creationId xmlns:a16="http://schemas.microsoft.com/office/drawing/2014/main" id="{2186C988-AA1E-9D47-1223-FB2DDFB8F570}"/>
              </a:ext>
            </a:extLst>
          </p:cNvPr>
          <p:cNvSpPr>
            <a:spLocks noChangeArrowheads="1"/>
          </p:cNvSpPr>
          <p:nvPr/>
        </p:nvSpPr>
        <p:spPr bwMode="auto">
          <a:xfrm>
            <a:off x="5562600" y="3676649"/>
            <a:ext cx="4572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70" name="Oval 30">
            <a:extLst>
              <a:ext uri="{FF2B5EF4-FFF2-40B4-BE49-F238E27FC236}">
                <a16:creationId xmlns:a16="http://schemas.microsoft.com/office/drawing/2014/main" id="{0EFDFE4C-CD97-8256-0C8E-3CD67D6A41A2}"/>
              </a:ext>
            </a:extLst>
          </p:cNvPr>
          <p:cNvSpPr>
            <a:spLocks noChangeArrowheads="1"/>
          </p:cNvSpPr>
          <p:nvPr/>
        </p:nvSpPr>
        <p:spPr bwMode="auto">
          <a:xfrm>
            <a:off x="6019800" y="3676649"/>
            <a:ext cx="4572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71" name="Oval 31">
            <a:extLst>
              <a:ext uri="{FF2B5EF4-FFF2-40B4-BE49-F238E27FC236}">
                <a16:creationId xmlns:a16="http://schemas.microsoft.com/office/drawing/2014/main" id="{0519D42A-9A9E-5145-D695-59017DE1C262}"/>
              </a:ext>
            </a:extLst>
          </p:cNvPr>
          <p:cNvSpPr>
            <a:spLocks noChangeArrowheads="1"/>
          </p:cNvSpPr>
          <p:nvPr/>
        </p:nvSpPr>
        <p:spPr bwMode="auto">
          <a:xfrm>
            <a:off x="6477000" y="3676649"/>
            <a:ext cx="4572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72" name="Oval 32">
            <a:extLst>
              <a:ext uri="{FF2B5EF4-FFF2-40B4-BE49-F238E27FC236}">
                <a16:creationId xmlns:a16="http://schemas.microsoft.com/office/drawing/2014/main" id="{25E5FAA0-81BA-BF44-D74E-49F03EFA169E}"/>
              </a:ext>
            </a:extLst>
          </p:cNvPr>
          <p:cNvSpPr>
            <a:spLocks noChangeArrowheads="1"/>
          </p:cNvSpPr>
          <p:nvPr/>
        </p:nvSpPr>
        <p:spPr bwMode="auto">
          <a:xfrm>
            <a:off x="6934200" y="3676649"/>
            <a:ext cx="4572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73" name="Oval 33">
            <a:extLst>
              <a:ext uri="{FF2B5EF4-FFF2-40B4-BE49-F238E27FC236}">
                <a16:creationId xmlns:a16="http://schemas.microsoft.com/office/drawing/2014/main" id="{88CB856B-481A-E02C-4DFC-F9E608806EDC}"/>
              </a:ext>
            </a:extLst>
          </p:cNvPr>
          <p:cNvSpPr>
            <a:spLocks noChangeArrowheads="1"/>
          </p:cNvSpPr>
          <p:nvPr/>
        </p:nvSpPr>
        <p:spPr bwMode="auto">
          <a:xfrm>
            <a:off x="7391400" y="3676649"/>
            <a:ext cx="4572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74" name="Oval 34">
            <a:extLst>
              <a:ext uri="{FF2B5EF4-FFF2-40B4-BE49-F238E27FC236}">
                <a16:creationId xmlns:a16="http://schemas.microsoft.com/office/drawing/2014/main" id="{6BE96B53-6EE7-AF0D-673D-DB28E084523F}"/>
              </a:ext>
            </a:extLst>
          </p:cNvPr>
          <p:cNvSpPr>
            <a:spLocks noChangeAspect="1" noChangeArrowheads="1"/>
          </p:cNvSpPr>
          <p:nvPr/>
        </p:nvSpPr>
        <p:spPr bwMode="auto">
          <a:xfrm>
            <a:off x="5397500" y="3486149"/>
            <a:ext cx="393700" cy="393700"/>
          </a:xfrm>
          <a:prstGeom prst="ellipse">
            <a:avLst/>
          </a:prstGeom>
          <a:solidFill>
            <a:srgbClr val="FF99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75" name="Oval 35">
            <a:extLst>
              <a:ext uri="{FF2B5EF4-FFF2-40B4-BE49-F238E27FC236}">
                <a16:creationId xmlns:a16="http://schemas.microsoft.com/office/drawing/2014/main" id="{E368717C-776F-CDA7-29BB-6A52C3BFAC9F}"/>
              </a:ext>
            </a:extLst>
          </p:cNvPr>
          <p:cNvSpPr>
            <a:spLocks noChangeAspect="1" noChangeArrowheads="1"/>
          </p:cNvSpPr>
          <p:nvPr/>
        </p:nvSpPr>
        <p:spPr bwMode="auto">
          <a:xfrm>
            <a:off x="6083300" y="3105149"/>
            <a:ext cx="393700" cy="393700"/>
          </a:xfrm>
          <a:prstGeom prst="ellipse">
            <a:avLst/>
          </a:prstGeom>
          <a:solidFill>
            <a:srgbClr val="FF99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76" name="Oval 36">
            <a:extLst>
              <a:ext uri="{FF2B5EF4-FFF2-40B4-BE49-F238E27FC236}">
                <a16:creationId xmlns:a16="http://schemas.microsoft.com/office/drawing/2014/main" id="{F8F5FEED-7D09-E1F1-862B-CFE3655FDE7A}"/>
              </a:ext>
            </a:extLst>
          </p:cNvPr>
          <p:cNvSpPr>
            <a:spLocks noChangeAspect="1" noChangeArrowheads="1"/>
          </p:cNvSpPr>
          <p:nvPr/>
        </p:nvSpPr>
        <p:spPr bwMode="auto">
          <a:xfrm>
            <a:off x="6769100" y="2724149"/>
            <a:ext cx="393700" cy="393700"/>
          </a:xfrm>
          <a:prstGeom prst="ellipse">
            <a:avLst/>
          </a:prstGeom>
          <a:solidFill>
            <a:srgbClr val="FF99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77" name="Oval 37">
            <a:extLst>
              <a:ext uri="{FF2B5EF4-FFF2-40B4-BE49-F238E27FC236}">
                <a16:creationId xmlns:a16="http://schemas.microsoft.com/office/drawing/2014/main" id="{23D16A14-8C5E-01C5-754B-C87BF4BA9724}"/>
              </a:ext>
            </a:extLst>
          </p:cNvPr>
          <p:cNvSpPr>
            <a:spLocks noChangeAspect="1" noChangeArrowheads="1"/>
          </p:cNvSpPr>
          <p:nvPr/>
        </p:nvSpPr>
        <p:spPr bwMode="auto">
          <a:xfrm>
            <a:off x="7454900" y="3105149"/>
            <a:ext cx="393700" cy="393700"/>
          </a:xfrm>
          <a:prstGeom prst="ellipse">
            <a:avLst/>
          </a:prstGeom>
          <a:solidFill>
            <a:srgbClr val="FF99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78" name="Oval 38">
            <a:extLst>
              <a:ext uri="{FF2B5EF4-FFF2-40B4-BE49-F238E27FC236}">
                <a16:creationId xmlns:a16="http://schemas.microsoft.com/office/drawing/2014/main" id="{2AAD5BAA-AA80-1BEF-1711-9EA5656682C9}"/>
              </a:ext>
            </a:extLst>
          </p:cNvPr>
          <p:cNvSpPr>
            <a:spLocks noChangeAspect="1" noChangeArrowheads="1"/>
          </p:cNvSpPr>
          <p:nvPr/>
        </p:nvSpPr>
        <p:spPr bwMode="auto">
          <a:xfrm>
            <a:off x="8077200" y="2190749"/>
            <a:ext cx="393700" cy="393700"/>
          </a:xfrm>
          <a:prstGeom prst="ellipse">
            <a:avLst/>
          </a:prstGeom>
          <a:solidFill>
            <a:srgbClr val="FF99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79" name="Oval 39">
            <a:extLst>
              <a:ext uri="{FF2B5EF4-FFF2-40B4-BE49-F238E27FC236}">
                <a16:creationId xmlns:a16="http://schemas.microsoft.com/office/drawing/2014/main" id="{2F890891-CA29-9DA6-0761-ACCC7FE3193F}"/>
              </a:ext>
            </a:extLst>
          </p:cNvPr>
          <p:cNvSpPr>
            <a:spLocks noChangeAspect="1" noChangeArrowheads="1"/>
          </p:cNvSpPr>
          <p:nvPr/>
        </p:nvSpPr>
        <p:spPr bwMode="auto">
          <a:xfrm>
            <a:off x="6248400" y="2254249"/>
            <a:ext cx="393700" cy="393700"/>
          </a:xfrm>
          <a:prstGeom prst="ellipse">
            <a:avLst/>
          </a:prstGeom>
          <a:solidFill>
            <a:srgbClr val="FF99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80" name="Text Box 40">
            <a:extLst>
              <a:ext uri="{FF2B5EF4-FFF2-40B4-BE49-F238E27FC236}">
                <a16:creationId xmlns:a16="http://schemas.microsoft.com/office/drawing/2014/main" id="{D90BA319-9D8C-481B-0DD8-820F5DC8A066}"/>
              </a:ext>
            </a:extLst>
          </p:cNvPr>
          <p:cNvSpPr txBox="1">
            <a:spLocks noChangeArrowheads="1"/>
          </p:cNvSpPr>
          <p:nvPr/>
        </p:nvSpPr>
        <p:spPr bwMode="auto">
          <a:xfrm>
            <a:off x="6096001" y="4171949"/>
            <a:ext cx="10086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l-GR" altLang="en-US" sz="2000" i="1">
                <a:cs typeface="Arial" panose="020B0604020202020204" pitchFamily="34" charset="0"/>
              </a:rPr>
              <a:t>θ</a:t>
            </a:r>
            <a:r>
              <a:rPr lang="en-US" altLang="en-US" sz="2000" i="1" baseline="-25000">
                <a:cs typeface="Arial" panose="020B0604020202020204" pitchFamily="34" charset="0"/>
              </a:rPr>
              <a:t>j</a:t>
            </a:r>
            <a:r>
              <a:rPr lang="en-US" altLang="en-US" sz="2000">
                <a:cs typeface="Arial" panose="020B0604020202020204" pitchFamily="34" charset="0"/>
              </a:rPr>
              <a:t> = 1/6</a:t>
            </a:r>
            <a:endParaRPr lang="el-GR" altLang="en-US" sz="2000">
              <a:cs typeface="Arial" panose="020B0604020202020204" pitchFamily="34" charset="0"/>
            </a:endParaRPr>
          </a:p>
        </p:txBody>
      </p:sp>
      <p:sp>
        <p:nvSpPr>
          <p:cNvPr id="215081" name="Text Box 41">
            <a:extLst>
              <a:ext uri="{FF2B5EF4-FFF2-40B4-BE49-F238E27FC236}">
                <a16:creationId xmlns:a16="http://schemas.microsoft.com/office/drawing/2014/main" id="{D4708910-D4A2-2263-E08F-09F88F332BBB}"/>
              </a:ext>
            </a:extLst>
          </p:cNvPr>
          <p:cNvSpPr txBox="1">
            <a:spLocks noChangeArrowheads="1"/>
          </p:cNvSpPr>
          <p:nvPr/>
        </p:nvSpPr>
        <p:spPr bwMode="auto">
          <a:xfrm>
            <a:off x="6477000" y="971550"/>
            <a:ext cx="1549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i="1"/>
              <a:t>Rate</a:t>
            </a:r>
            <a:r>
              <a:rPr lang="en-US" altLang="en-US" sz="1800"/>
              <a:t> = f(</a:t>
            </a:r>
            <a:r>
              <a:rPr lang="en-US" altLang="en-US" sz="1800" i="1"/>
              <a:t>P</a:t>
            </a:r>
            <a:r>
              <a:rPr lang="en-US" altLang="en-US" sz="1800" i="1" baseline="-25000"/>
              <a:t>j</a:t>
            </a:r>
            <a:r>
              <a:rPr lang="en-US" altLang="en-US" sz="1800"/>
              <a:t>,</a:t>
            </a:r>
            <a:r>
              <a:rPr lang="el-GR" altLang="en-US" sz="1800" i="1">
                <a:cs typeface="Arial" panose="020B0604020202020204" pitchFamily="34" charset="0"/>
              </a:rPr>
              <a:t>θ</a:t>
            </a:r>
            <a:r>
              <a:rPr lang="en-US" altLang="en-US" sz="1800" i="1" baseline="-25000">
                <a:cs typeface="Arial" panose="020B0604020202020204" pitchFamily="34" charset="0"/>
              </a:rPr>
              <a:t>j</a:t>
            </a:r>
            <a:r>
              <a:rPr lang="en-US" altLang="en-US" sz="1800">
                <a:cs typeface="Arial" panose="020B0604020202020204" pitchFamily="34" charset="0"/>
              </a:rPr>
              <a:t>)</a:t>
            </a:r>
            <a:endParaRPr lang="el-GR" altLang="en-US" sz="1800" i="1">
              <a:cs typeface="Arial" panose="020B0604020202020204" pitchFamily="34" charset="0"/>
            </a:endParaRPr>
          </a:p>
        </p:txBody>
      </p:sp>
      <p:sp>
        <p:nvSpPr>
          <p:cNvPr id="215082" name="Text Box 42">
            <a:extLst>
              <a:ext uri="{FF2B5EF4-FFF2-40B4-BE49-F238E27FC236}">
                <a16:creationId xmlns:a16="http://schemas.microsoft.com/office/drawing/2014/main" id="{9ED9173A-BFD2-E96A-6A81-D96AF08C2B95}"/>
              </a:ext>
            </a:extLst>
          </p:cNvPr>
          <p:cNvSpPr txBox="1">
            <a:spLocks noChangeArrowheads="1"/>
          </p:cNvSpPr>
          <p:nvPr/>
        </p:nvSpPr>
        <p:spPr bwMode="auto">
          <a:xfrm>
            <a:off x="6400800" y="1581149"/>
            <a:ext cx="18684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Metal particle surface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080"/>
                                        </p:tgtEl>
                                        <p:attrNameLst>
                                          <p:attrName>style.visibility</p:attrName>
                                        </p:attrNameLst>
                                      </p:cBhvr>
                                      <p:to>
                                        <p:strVal val="visible"/>
                                      </p:to>
                                    </p:set>
                                    <p:anim calcmode="lin" valueType="num">
                                      <p:cBhvr additive="base">
                                        <p:cTn id="7" dur="500" fill="hold"/>
                                        <p:tgtEl>
                                          <p:spTgt spid="215080"/>
                                        </p:tgtEl>
                                        <p:attrNameLst>
                                          <p:attrName>ppt_x</p:attrName>
                                        </p:attrNameLst>
                                      </p:cBhvr>
                                      <p:tavLst>
                                        <p:tav tm="0">
                                          <p:val>
                                            <p:strVal val="#ppt_x"/>
                                          </p:val>
                                        </p:tav>
                                        <p:tav tm="100000">
                                          <p:val>
                                            <p:strVal val="#ppt_x"/>
                                          </p:val>
                                        </p:tav>
                                      </p:tavLst>
                                    </p:anim>
                                    <p:anim calcmode="lin" valueType="num">
                                      <p:cBhvr additive="base">
                                        <p:cTn id="8" dur="500" fill="hold"/>
                                        <p:tgtEl>
                                          <p:spTgt spid="21508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15079"/>
                                        </p:tgtEl>
                                        <p:attrNameLst>
                                          <p:attrName>style.visibility</p:attrName>
                                        </p:attrNameLst>
                                      </p:cBhvr>
                                      <p:to>
                                        <p:strVal val="visible"/>
                                      </p:to>
                                    </p:set>
                                    <p:anim calcmode="lin" valueType="num">
                                      <p:cBhvr additive="base">
                                        <p:cTn id="11" dur="500" fill="hold"/>
                                        <p:tgtEl>
                                          <p:spTgt spid="215079"/>
                                        </p:tgtEl>
                                        <p:attrNameLst>
                                          <p:attrName>ppt_x</p:attrName>
                                        </p:attrNameLst>
                                      </p:cBhvr>
                                      <p:tavLst>
                                        <p:tav tm="0">
                                          <p:val>
                                            <p:strVal val="#ppt_x"/>
                                          </p:val>
                                        </p:tav>
                                        <p:tav tm="100000">
                                          <p:val>
                                            <p:strVal val="#ppt_x"/>
                                          </p:val>
                                        </p:tav>
                                      </p:tavLst>
                                    </p:anim>
                                    <p:anim calcmode="lin" valueType="num">
                                      <p:cBhvr additive="base">
                                        <p:cTn id="12" dur="500" fill="hold"/>
                                        <p:tgtEl>
                                          <p:spTgt spid="21507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15075"/>
                                        </p:tgtEl>
                                        <p:attrNameLst>
                                          <p:attrName>style.visibility</p:attrName>
                                        </p:attrNameLst>
                                      </p:cBhvr>
                                      <p:to>
                                        <p:strVal val="visible"/>
                                      </p:to>
                                    </p:set>
                                    <p:anim calcmode="lin" valueType="num">
                                      <p:cBhvr additive="base">
                                        <p:cTn id="15" dur="500" fill="hold"/>
                                        <p:tgtEl>
                                          <p:spTgt spid="215075"/>
                                        </p:tgtEl>
                                        <p:attrNameLst>
                                          <p:attrName>ppt_x</p:attrName>
                                        </p:attrNameLst>
                                      </p:cBhvr>
                                      <p:tavLst>
                                        <p:tav tm="0">
                                          <p:val>
                                            <p:strVal val="#ppt_x"/>
                                          </p:val>
                                        </p:tav>
                                        <p:tav tm="100000">
                                          <p:val>
                                            <p:strVal val="#ppt_x"/>
                                          </p:val>
                                        </p:tav>
                                      </p:tavLst>
                                    </p:anim>
                                    <p:anim calcmode="lin" valueType="num">
                                      <p:cBhvr additive="base">
                                        <p:cTn id="16" dur="500" fill="hold"/>
                                        <p:tgtEl>
                                          <p:spTgt spid="215075"/>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15074"/>
                                        </p:tgtEl>
                                        <p:attrNameLst>
                                          <p:attrName>style.visibility</p:attrName>
                                        </p:attrNameLst>
                                      </p:cBhvr>
                                      <p:to>
                                        <p:strVal val="visible"/>
                                      </p:to>
                                    </p:set>
                                    <p:anim calcmode="lin" valueType="num">
                                      <p:cBhvr additive="base">
                                        <p:cTn id="19" dur="500" fill="hold"/>
                                        <p:tgtEl>
                                          <p:spTgt spid="215074"/>
                                        </p:tgtEl>
                                        <p:attrNameLst>
                                          <p:attrName>ppt_x</p:attrName>
                                        </p:attrNameLst>
                                      </p:cBhvr>
                                      <p:tavLst>
                                        <p:tav tm="0">
                                          <p:val>
                                            <p:strVal val="#ppt_x"/>
                                          </p:val>
                                        </p:tav>
                                        <p:tav tm="100000">
                                          <p:val>
                                            <p:strVal val="#ppt_x"/>
                                          </p:val>
                                        </p:tav>
                                      </p:tavLst>
                                    </p:anim>
                                    <p:anim calcmode="lin" valueType="num">
                                      <p:cBhvr additive="base">
                                        <p:cTn id="20" dur="500" fill="hold"/>
                                        <p:tgtEl>
                                          <p:spTgt spid="215074"/>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15077"/>
                                        </p:tgtEl>
                                        <p:attrNameLst>
                                          <p:attrName>style.visibility</p:attrName>
                                        </p:attrNameLst>
                                      </p:cBhvr>
                                      <p:to>
                                        <p:strVal val="visible"/>
                                      </p:to>
                                    </p:set>
                                    <p:anim calcmode="lin" valueType="num">
                                      <p:cBhvr additive="base">
                                        <p:cTn id="23" dur="500" fill="hold"/>
                                        <p:tgtEl>
                                          <p:spTgt spid="215077"/>
                                        </p:tgtEl>
                                        <p:attrNameLst>
                                          <p:attrName>ppt_x</p:attrName>
                                        </p:attrNameLst>
                                      </p:cBhvr>
                                      <p:tavLst>
                                        <p:tav tm="0">
                                          <p:val>
                                            <p:strVal val="#ppt_x"/>
                                          </p:val>
                                        </p:tav>
                                        <p:tav tm="100000">
                                          <p:val>
                                            <p:strVal val="#ppt_x"/>
                                          </p:val>
                                        </p:tav>
                                      </p:tavLst>
                                    </p:anim>
                                    <p:anim calcmode="lin" valueType="num">
                                      <p:cBhvr additive="base">
                                        <p:cTn id="24" dur="500" fill="hold"/>
                                        <p:tgtEl>
                                          <p:spTgt spid="215077"/>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15076"/>
                                        </p:tgtEl>
                                        <p:attrNameLst>
                                          <p:attrName>style.visibility</p:attrName>
                                        </p:attrNameLst>
                                      </p:cBhvr>
                                      <p:to>
                                        <p:strVal val="visible"/>
                                      </p:to>
                                    </p:set>
                                    <p:anim calcmode="lin" valueType="num">
                                      <p:cBhvr additive="base">
                                        <p:cTn id="27" dur="500" fill="hold"/>
                                        <p:tgtEl>
                                          <p:spTgt spid="215076"/>
                                        </p:tgtEl>
                                        <p:attrNameLst>
                                          <p:attrName>ppt_x</p:attrName>
                                        </p:attrNameLst>
                                      </p:cBhvr>
                                      <p:tavLst>
                                        <p:tav tm="0">
                                          <p:val>
                                            <p:strVal val="#ppt_x"/>
                                          </p:val>
                                        </p:tav>
                                        <p:tav tm="100000">
                                          <p:val>
                                            <p:strVal val="#ppt_x"/>
                                          </p:val>
                                        </p:tav>
                                      </p:tavLst>
                                    </p:anim>
                                    <p:anim calcmode="lin" valueType="num">
                                      <p:cBhvr additive="base">
                                        <p:cTn id="28" dur="500" fill="hold"/>
                                        <p:tgtEl>
                                          <p:spTgt spid="215076"/>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15078"/>
                                        </p:tgtEl>
                                        <p:attrNameLst>
                                          <p:attrName>style.visibility</p:attrName>
                                        </p:attrNameLst>
                                      </p:cBhvr>
                                      <p:to>
                                        <p:strVal val="visible"/>
                                      </p:to>
                                    </p:set>
                                    <p:anim calcmode="lin" valueType="num">
                                      <p:cBhvr additive="base">
                                        <p:cTn id="31" dur="500" fill="hold"/>
                                        <p:tgtEl>
                                          <p:spTgt spid="215078"/>
                                        </p:tgtEl>
                                        <p:attrNameLst>
                                          <p:attrName>ppt_x</p:attrName>
                                        </p:attrNameLst>
                                      </p:cBhvr>
                                      <p:tavLst>
                                        <p:tav tm="0">
                                          <p:val>
                                            <p:strVal val="#ppt_x"/>
                                          </p:val>
                                        </p:tav>
                                        <p:tav tm="100000">
                                          <p:val>
                                            <p:strVal val="#ppt_x"/>
                                          </p:val>
                                        </p:tav>
                                      </p:tavLst>
                                    </p:anim>
                                    <p:anim calcmode="lin" valueType="num">
                                      <p:cBhvr additive="base">
                                        <p:cTn id="32" dur="500" fill="hold"/>
                                        <p:tgtEl>
                                          <p:spTgt spid="215078"/>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15081"/>
                                        </p:tgtEl>
                                        <p:attrNameLst>
                                          <p:attrName>style.visibility</p:attrName>
                                        </p:attrNameLst>
                                      </p:cBhvr>
                                      <p:to>
                                        <p:strVal val="visible"/>
                                      </p:to>
                                    </p:set>
                                    <p:anim calcmode="lin" valueType="num">
                                      <p:cBhvr additive="base">
                                        <p:cTn id="37" dur="500" fill="hold"/>
                                        <p:tgtEl>
                                          <p:spTgt spid="215081"/>
                                        </p:tgtEl>
                                        <p:attrNameLst>
                                          <p:attrName>ppt_x</p:attrName>
                                        </p:attrNameLst>
                                      </p:cBhvr>
                                      <p:tavLst>
                                        <p:tav tm="0">
                                          <p:val>
                                            <p:strVal val="#ppt_x"/>
                                          </p:val>
                                        </p:tav>
                                        <p:tav tm="100000">
                                          <p:val>
                                            <p:strVal val="#ppt_x"/>
                                          </p:val>
                                        </p:tav>
                                      </p:tavLst>
                                    </p:anim>
                                    <p:anim calcmode="lin" valueType="num">
                                      <p:cBhvr additive="base">
                                        <p:cTn id="38" dur="500" fill="hold"/>
                                        <p:tgtEl>
                                          <p:spTgt spid="2150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0" grpId="0"/>
      <p:bldP spid="21508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a:extLst>
              <a:ext uri="{FF2B5EF4-FFF2-40B4-BE49-F238E27FC236}">
                <a16:creationId xmlns:a16="http://schemas.microsoft.com/office/drawing/2014/main" id="{537AE9DD-02E9-0C5A-CE1E-559BBAE180E5}"/>
              </a:ext>
            </a:extLst>
          </p:cNvPr>
          <p:cNvSpPr>
            <a:spLocks noGrp="1" noChangeArrowheads="1"/>
          </p:cNvSpPr>
          <p:nvPr>
            <p:ph type="title"/>
          </p:nvPr>
        </p:nvSpPr>
        <p:spPr>
          <a:xfrm>
            <a:off x="796673" y="64126"/>
            <a:ext cx="4461127" cy="586587"/>
          </a:xfrm>
        </p:spPr>
        <p:txBody>
          <a:bodyPr/>
          <a:lstStyle/>
          <a:p>
            <a:r>
              <a:rPr lang="en-US" altLang="en-US" dirty="0"/>
              <a:t>Adsorption Isotherms</a:t>
            </a:r>
          </a:p>
        </p:txBody>
      </p:sp>
      <p:sp>
        <p:nvSpPr>
          <p:cNvPr id="216067" name="Rectangle 3">
            <a:extLst>
              <a:ext uri="{FF2B5EF4-FFF2-40B4-BE49-F238E27FC236}">
                <a16:creationId xmlns:a16="http://schemas.microsoft.com/office/drawing/2014/main" id="{ADAF3707-EF57-63A3-7665-B37FDED13FD0}"/>
              </a:ext>
            </a:extLst>
          </p:cNvPr>
          <p:cNvSpPr>
            <a:spLocks noGrp="1" noChangeArrowheads="1"/>
          </p:cNvSpPr>
          <p:nvPr>
            <p:ph type="body" sz="half" idx="1"/>
          </p:nvPr>
        </p:nvSpPr>
        <p:spPr>
          <a:xfrm>
            <a:off x="457200" y="771024"/>
            <a:ext cx="7543800" cy="2713542"/>
          </a:xfrm>
        </p:spPr>
        <p:txBody>
          <a:bodyPr>
            <a:normAutofit lnSpcReduction="10000"/>
          </a:bodyPr>
          <a:lstStyle/>
          <a:p>
            <a:r>
              <a:rPr lang="en-US" altLang="en-US" sz="2000" dirty="0"/>
              <a:t>Molecules in gas and surface are in dynamic equilibrium</a:t>
            </a:r>
          </a:p>
          <a:p>
            <a:pPr>
              <a:buFont typeface="Wingdings" pitchFamily="2" charset="2"/>
              <a:buNone/>
            </a:pPr>
            <a:r>
              <a:rPr lang="en-US" altLang="en-US" sz="2000" dirty="0"/>
              <a:t>			A (g) + M (surface) </a:t>
            </a:r>
            <a:r>
              <a:rPr lang="en-US" altLang="en-US" sz="2000" dirty="0">
                <a:cs typeface="Arial" panose="020B0604020202020204" pitchFamily="34" charset="0"/>
              </a:rPr>
              <a:t>⇌ M-A</a:t>
            </a:r>
          </a:p>
          <a:p>
            <a:r>
              <a:rPr lang="en-US" altLang="en-US" sz="2000" u="sng" dirty="0">
                <a:cs typeface="Arial" panose="020B0604020202020204" pitchFamily="34" charset="0"/>
              </a:rPr>
              <a:t>Isotherm</a:t>
            </a:r>
            <a:r>
              <a:rPr lang="en-US" altLang="en-US" sz="2000" dirty="0">
                <a:cs typeface="Arial" panose="020B0604020202020204" pitchFamily="34" charset="0"/>
              </a:rPr>
              <a:t> describes pressure dependence of equilibrium</a:t>
            </a:r>
          </a:p>
          <a:p>
            <a:endParaRPr lang="en-US" altLang="en-US" sz="2000" dirty="0">
              <a:cs typeface="Arial" panose="020B0604020202020204" pitchFamily="34" charset="0"/>
            </a:endParaRPr>
          </a:p>
          <a:p>
            <a:r>
              <a:rPr lang="en-US" altLang="en-US" sz="2000" dirty="0">
                <a:cs typeface="Arial" panose="020B0604020202020204" pitchFamily="34" charset="0"/>
              </a:rPr>
              <a:t>Langmuir isotherm proposed by Irving Langmuir, GE, 1915</a:t>
            </a:r>
          </a:p>
          <a:p>
            <a:pPr lvl="1"/>
            <a:r>
              <a:rPr lang="en-US" altLang="en-US" sz="1800" dirty="0">
                <a:cs typeface="Arial" panose="020B0604020202020204" pitchFamily="34" charset="0"/>
              </a:rPr>
              <a:t>Adsorption saturates at 1 monolayer</a:t>
            </a:r>
          </a:p>
          <a:p>
            <a:pPr lvl="1"/>
            <a:r>
              <a:rPr lang="en-US" altLang="en-US" sz="1800" dirty="0">
                <a:cs typeface="Arial" panose="020B0604020202020204" pitchFamily="34" charset="0"/>
              </a:rPr>
              <a:t>All sites are equivalent</a:t>
            </a:r>
          </a:p>
          <a:p>
            <a:pPr lvl="1"/>
            <a:r>
              <a:rPr lang="en-US" altLang="en-US" sz="1800" dirty="0">
                <a:cs typeface="Arial" panose="020B0604020202020204" pitchFamily="34" charset="0"/>
              </a:rPr>
              <a:t>Adsorption is independent of coverage</a:t>
            </a:r>
          </a:p>
          <a:p>
            <a:endParaRPr lang="en-US" altLang="en-US" sz="2000" dirty="0">
              <a:cs typeface="Arial" panose="020B0604020202020204" pitchFamily="34" charset="0"/>
            </a:endParaRPr>
          </a:p>
        </p:txBody>
      </p:sp>
      <p:graphicFrame>
        <p:nvGraphicFramePr>
          <p:cNvPr id="216074" name="Object 10">
            <a:extLst>
              <a:ext uri="{FF2B5EF4-FFF2-40B4-BE49-F238E27FC236}">
                <a16:creationId xmlns:a16="http://schemas.microsoft.com/office/drawing/2014/main" id="{B4928615-4355-67B7-C4BB-17F39B38046E}"/>
              </a:ext>
            </a:extLst>
          </p:cNvPr>
          <p:cNvGraphicFramePr>
            <a:graphicFrameLocks noGrp="1" noChangeAspect="1"/>
          </p:cNvGraphicFramePr>
          <p:nvPr>
            <p:ph sz="half" idx="2"/>
            <p:extLst>
              <p:ext uri="{D42A27DB-BD31-4B8C-83A1-F6EECF244321}">
                <p14:modId xmlns:p14="http://schemas.microsoft.com/office/powerpoint/2010/main" val="340755977"/>
              </p:ext>
            </p:extLst>
          </p:nvPr>
        </p:nvGraphicFramePr>
        <p:xfrm>
          <a:off x="5491163" y="2989093"/>
          <a:ext cx="3195637" cy="882856"/>
        </p:xfrm>
        <a:graphic>
          <a:graphicData uri="http://schemas.openxmlformats.org/presentationml/2006/ole">
            <mc:AlternateContent xmlns:mc="http://schemas.openxmlformats.org/markup-compatibility/2006">
              <mc:Choice xmlns:v="urn:schemas-microsoft-com:vml" Requires="v">
                <p:oleObj name="Equation" r:id="rId3" imgW="35991800" imgH="9944100" progId="Equation.DSMT4">
                  <p:embed/>
                </p:oleObj>
              </mc:Choice>
              <mc:Fallback>
                <p:oleObj name="Equation" r:id="rId3" imgW="35991800" imgH="9944100" progId="Equation.DSMT4">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1163" y="2989093"/>
                        <a:ext cx="3195637" cy="882856"/>
                      </a:xfrm>
                      <a:prstGeom prst="rect">
                        <a:avLst/>
                      </a:prstGeom>
                      <a:noFill/>
                      <a:ln w="9525">
                        <a:solidFill>
                          <a:schemeClr val="tx1"/>
                        </a:solidFill>
                        <a:miter lim="800000"/>
                        <a:headEnd/>
                        <a:tailEnd/>
                      </a:ln>
                      <a:effectLst/>
                    </p:spPr>
                  </p:pic>
                </p:oleObj>
              </mc:Fallback>
            </mc:AlternateContent>
          </a:graphicData>
        </a:graphic>
      </p:graphicFrame>
      <p:sp>
        <p:nvSpPr>
          <p:cNvPr id="2" name="Date Placeholder 4">
            <a:extLst>
              <a:ext uri="{FF2B5EF4-FFF2-40B4-BE49-F238E27FC236}">
                <a16:creationId xmlns:a16="http://schemas.microsoft.com/office/drawing/2014/main" id="{7AFFB4FC-7CFF-6022-1165-F42C9D143B58}"/>
              </a:ext>
            </a:extLst>
          </p:cNvPr>
          <p:cNvSpPr>
            <a:spLocks noGrp="1"/>
          </p:cNvSpPr>
          <p:nvPr>
            <p:ph type="dt" sz="half" idx="10"/>
          </p:nvPr>
        </p:nvSpPr>
        <p:spPr/>
        <p:txBody>
          <a:bodyPr/>
          <a:lstStyle/>
          <a:p>
            <a:r>
              <a:rPr lang="en-US" altLang="en-US"/>
              <a:t>W. F. Schneider</a:t>
            </a:r>
          </a:p>
        </p:txBody>
      </p:sp>
      <p:sp>
        <p:nvSpPr>
          <p:cNvPr id="3" name="Footer Placeholder 5">
            <a:extLst>
              <a:ext uri="{FF2B5EF4-FFF2-40B4-BE49-F238E27FC236}">
                <a16:creationId xmlns:a16="http://schemas.microsoft.com/office/drawing/2014/main" id="{CB8B862B-1B62-A6FD-6F8B-2FD4DDA9E262}"/>
              </a:ext>
            </a:extLst>
          </p:cNvPr>
          <p:cNvSpPr>
            <a:spLocks noGrp="1"/>
          </p:cNvSpPr>
          <p:nvPr>
            <p:ph type="ftr" sz="quarter" idx="11"/>
          </p:nvPr>
        </p:nvSpPr>
        <p:spPr/>
        <p:txBody>
          <a:bodyPr/>
          <a:lstStyle/>
          <a:p>
            <a:r>
              <a:rPr lang="en-US" altLang="en-US"/>
              <a:t>CBE 60546</a:t>
            </a:r>
          </a:p>
        </p:txBody>
      </p:sp>
      <p:sp>
        <p:nvSpPr>
          <p:cNvPr id="216070" name="Text Box 6">
            <a:extLst>
              <a:ext uri="{FF2B5EF4-FFF2-40B4-BE49-F238E27FC236}">
                <a16:creationId xmlns:a16="http://schemas.microsoft.com/office/drawing/2014/main" id="{C3DDB8AE-777F-A7F0-FEA8-7D132F4D48EC}"/>
              </a:ext>
            </a:extLst>
          </p:cNvPr>
          <p:cNvSpPr txBox="1">
            <a:spLocks noChangeArrowheads="1"/>
          </p:cNvSpPr>
          <p:nvPr/>
        </p:nvSpPr>
        <p:spPr bwMode="auto">
          <a:xfrm>
            <a:off x="2825584" y="4088538"/>
            <a:ext cx="165622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600" u="sng" dirty="0">
                <a:latin typeface="Corbel" panose="020B0503020204020204" pitchFamily="34" charset="0"/>
                <a:cs typeface="Arial" panose="020B0604020202020204" pitchFamily="34" charset="0"/>
              </a:rPr>
              <a:t>Site conservation</a:t>
            </a:r>
          </a:p>
          <a:p>
            <a:pPr algn="ctr"/>
            <a:r>
              <a:rPr lang="el-GR" altLang="en-US" sz="1600" i="1" dirty="0">
                <a:latin typeface="Corbel" panose="020B0503020204020204" pitchFamily="34" charset="0"/>
                <a:cs typeface="Arial" panose="020B0604020202020204" pitchFamily="34" charset="0"/>
              </a:rPr>
              <a:t>θ</a:t>
            </a:r>
            <a:r>
              <a:rPr lang="en-US" altLang="en-US" sz="1600" baseline="-25000" dirty="0">
                <a:latin typeface="Corbel" panose="020B0503020204020204" pitchFamily="34" charset="0"/>
                <a:cs typeface="Arial" panose="020B0604020202020204" pitchFamily="34" charset="0"/>
              </a:rPr>
              <a:t>A</a:t>
            </a:r>
            <a:r>
              <a:rPr lang="en-US" altLang="en-US" sz="1600" dirty="0">
                <a:latin typeface="Corbel" panose="020B0503020204020204" pitchFamily="34" charset="0"/>
                <a:cs typeface="Arial" panose="020B0604020202020204" pitchFamily="34" charset="0"/>
              </a:rPr>
              <a:t> +  </a:t>
            </a:r>
            <a:r>
              <a:rPr lang="el-GR" altLang="en-US" sz="1600" i="1" dirty="0">
                <a:latin typeface="Corbel" panose="020B0503020204020204" pitchFamily="34" charset="0"/>
                <a:cs typeface="Arial" panose="020B0604020202020204" pitchFamily="34" charset="0"/>
              </a:rPr>
              <a:t>θ</a:t>
            </a:r>
            <a:r>
              <a:rPr lang="en-US" altLang="en-US" sz="1600" dirty="0">
                <a:latin typeface="Corbel" panose="020B0503020204020204" pitchFamily="34" charset="0"/>
                <a:cs typeface="Arial" panose="020B0604020202020204" pitchFamily="34" charset="0"/>
              </a:rPr>
              <a:t>* = 1</a:t>
            </a:r>
            <a:endParaRPr lang="el-GR" altLang="en-US" sz="1600" dirty="0">
              <a:latin typeface="Corbel" panose="020B0503020204020204" pitchFamily="34" charset="0"/>
              <a:cs typeface="Arial" panose="020B0604020202020204" pitchFamily="34" charset="0"/>
            </a:endParaRPr>
          </a:p>
        </p:txBody>
      </p:sp>
      <p:sp>
        <p:nvSpPr>
          <p:cNvPr id="216071" name="Text Box 7">
            <a:extLst>
              <a:ext uri="{FF2B5EF4-FFF2-40B4-BE49-F238E27FC236}">
                <a16:creationId xmlns:a16="http://schemas.microsoft.com/office/drawing/2014/main" id="{231145B5-0C39-C9B9-7AE7-E88353D840B6}"/>
              </a:ext>
            </a:extLst>
          </p:cNvPr>
          <p:cNvSpPr txBox="1">
            <a:spLocks noChangeArrowheads="1"/>
          </p:cNvSpPr>
          <p:nvPr/>
        </p:nvSpPr>
        <p:spPr bwMode="auto">
          <a:xfrm>
            <a:off x="2743201" y="4565650"/>
            <a:ext cx="3032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a:t>
            </a:r>
          </a:p>
        </p:txBody>
      </p:sp>
      <p:sp>
        <p:nvSpPr>
          <p:cNvPr id="216072" name="Text Box 8">
            <a:extLst>
              <a:ext uri="{FF2B5EF4-FFF2-40B4-BE49-F238E27FC236}">
                <a16:creationId xmlns:a16="http://schemas.microsoft.com/office/drawing/2014/main" id="{C2746F45-9FDC-055C-3907-3F60815A5E55}"/>
              </a:ext>
            </a:extLst>
          </p:cNvPr>
          <p:cNvSpPr txBox="1">
            <a:spLocks noChangeArrowheads="1"/>
          </p:cNvSpPr>
          <p:nvPr/>
        </p:nvSpPr>
        <p:spPr bwMode="auto">
          <a:xfrm>
            <a:off x="2997081" y="3557807"/>
            <a:ext cx="145103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600" u="sng" dirty="0">
                <a:latin typeface="Corbel" panose="020B0503020204020204" pitchFamily="34" charset="0"/>
                <a:cs typeface="Arial" panose="020B0604020202020204" pitchFamily="34" charset="0"/>
              </a:rPr>
              <a:t>Equilibrium</a:t>
            </a:r>
          </a:p>
          <a:p>
            <a:pPr algn="ctr"/>
            <a:r>
              <a:rPr lang="en-US" altLang="en-US" sz="1600" dirty="0" err="1">
                <a:latin typeface="Corbel" panose="020B0503020204020204" pitchFamily="34" charset="0"/>
                <a:cs typeface="Arial" panose="020B0604020202020204" pitchFamily="34" charset="0"/>
              </a:rPr>
              <a:t>rate</a:t>
            </a:r>
            <a:r>
              <a:rPr lang="en-US" altLang="en-US" sz="1600" baseline="-25000" dirty="0" err="1">
                <a:latin typeface="Corbel" panose="020B0503020204020204" pitchFamily="34" charset="0"/>
                <a:cs typeface="Arial" panose="020B0604020202020204" pitchFamily="34" charset="0"/>
              </a:rPr>
              <a:t>ads</a:t>
            </a:r>
            <a:r>
              <a:rPr lang="en-US" altLang="en-US" sz="1600" dirty="0">
                <a:latin typeface="Corbel" panose="020B0503020204020204" pitchFamily="34" charset="0"/>
                <a:cs typeface="Arial" panose="020B0604020202020204" pitchFamily="34" charset="0"/>
              </a:rPr>
              <a:t> = </a:t>
            </a:r>
            <a:r>
              <a:rPr lang="en-US" altLang="en-US" sz="1600" dirty="0" err="1">
                <a:latin typeface="Corbel" panose="020B0503020204020204" pitchFamily="34" charset="0"/>
                <a:cs typeface="Arial" panose="020B0604020202020204" pitchFamily="34" charset="0"/>
              </a:rPr>
              <a:t>rate</a:t>
            </a:r>
            <a:r>
              <a:rPr lang="en-US" altLang="en-US" sz="1600" baseline="-25000" dirty="0" err="1">
                <a:latin typeface="Corbel" panose="020B0503020204020204" pitchFamily="34" charset="0"/>
                <a:cs typeface="Arial" panose="020B0604020202020204" pitchFamily="34" charset="0"/>
              </a:rPr>
              <a:t>des</a:t>
            </a:r>
            <a:endParaRPr lang="el-GR" altLang="en-US" sz="1600" baseline="-25000" dirty="0">
              <a:latin typeface="Corbel" panose="020B0503020204020204" pitchFamily="34" charset="0"/>
              <a:cs typeface="Arial" panose="020B0604020202020204" pitchFamily="34" charset="0"/>
            </a:endParaRPr>
          </a:p>
        </p:txBody>
      </p:sp>
      <p:sp>
        <p:nvSpPr>
          <p:cNvPr id="216073" name="Line 9">
            <a:extLst>
              <a:ext uri="{FF2B5EF4-FFF2-40B4-BE49-F238E27FC236}">
                <a16:creationId xmlns:a16="http://schemas.microsoft.com/office/drawing/2014/main" id="{F9E4CFC0-74CA-281A-5CD3-E0DFE0093892}"/>
              </a:ext>
            </a:extLst>
          </p:cNvPr>
          <p:cNvSpPr>
            <a:spLocks noChangeShapeType="1"/>
          </p:cNvSpPr>
          <p:nvPr/>
        </p:nvSpPr>
        <p:spPr bwMode="auto">
          <a:xfrm>
            <a:off x="4648200" y="4088538"/>
            <a:ext cx="990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aphicFrame>
        <p:nvGraphicFramePr>
          <p:cNvPr id="216076" name="Object 12">
            <a:extLst>
              <a:ext uri="{FF2B5EF4-FFF2-40B4-BE49-F238E27FC236}">
                <a16:creationId xmlns:a16="http://schemas.microsoft.com/office/drawing/2014/main" id="{5C692246-635A-ABD6-A6EF-529BCF57E794}"/>
              </a:ext>
            </a:extLst>
          </p:cNvPr>
          <p:cNvGraphicFramePr>
            <a:graphicFrameLocks noChangeAspect="1"/>
          </p:cNvGraphicFramePr>
          <p:nvPr>
            <p:extLst>
              <p:ext uri="{D42A27DB-BD31-4B8C-83A1-F6EECF244321}">
                <p14:modId xmlns:p14="http://schemas.microsoft.com/office/powerpoint/2010/main" val="4147756314"/>
              </p:ext>
            </p:extLst>
          </p:nvPr>
        </p:nvGraphicFramePr>
        <p:xfrm>
          <a:off x="765391" y="3604877"/>
          <a:ext cx="1782862" cy="432520"/>
        </p:xfrm>
        <a:graphic>
          <a:graphicData uri="http://schemas.openxmlformats.org/presentationml/2006/ole">
            <mc:AlternateContent xmlns:mc="http://schemas.openxmlformats.org/markup-compatibility/2006">
              <mc:Choice xmlns:v="urn:schemas-microsoft-com:vml" Requires="v">
                <p:oleObj name="Equation" r:id="rId5" imgW="23990300" imgH="5854700" progId="Equation.DSMT4">
                  <p:embed/>
                </p:oleObj>
              </mc:Choice>
              <mc:Fallback>
                <p:oleObj name="Equation" r:id="rId5" imgW="23990300" imgH="5854700" progId="Equation.DSMT4">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5391" y="3604877"/>
                        <a:ext cx="1782862" cy="432520"/>
                      </a:xfrm>
                      <a:prstGeom prst="rect">
                        <a:avLst/>
                      </a:prstGeom>
                      <a:noFill/>
                      <a:ln>
                        <a:noFill/>
                      </a:ln>
                      <a:effectLst/>
                    </p:spPr>
                  </p:pic>
                </p:oleObj>
              </mc:Fallback>
            </mc:AlternateContent>
          </a:graphicData>
        </a:graphic>
      </p:graphicFrame>
      <p:graphicFrame>
        <p:nvGraphicFramePr>
          <p:cNvPr id="216077" name="Object 13">
            <a:extLst>
              <a:ext uri="{FF2B5EF4-FFF2-40B4-BE49-F238E27FC236}">
                <a16:creationId xmlns:a16="http://schemas.microsoft.com/office/drawing/2014/main" id="{FB40731C-95EC-5BB1-D676-740CC81F8789}"/>
              </a:ext>
            </a:extLst>
          </p:cNvPr>
          <p:cNvGraphicFramePr>
            <a:graphicFrameLocks noChangeAspect="1"/>
          </p:cNvGraphicFramePr>
          <p:nvPr>
            <p:extLst>
              <p:ext uri="{D42A27DB-BD31-4B8C-83A1-F6EECF244321}">
                <p14:modId xmlns:p14="http://schemas.microsoft.com/office/powerpoint/2010/main" val="1015621419"/>
              </p:ext>
            </p:extLst>
          </p:nvPr>
        </p:nvGraphicFramePr>
        <p:xfrm>
          <a:off x="765391" y="4093874"/>
          <a:ext cx="1570038" cy="391039"/>
        </p:xfrm>
        <a:graphic>
          <a:graphicData uri="http://schemas.openxmlformats.org/presentationml/2006/ole">
            <mc:AlternateContent xmlns:mc="http://schemas.openxmlformats.org/markup-compatibility/2006">
              <mc:Choice xmlns:v="urn:schemas-microsoft-com:vml" Requires="v">
                <p:oleObj name="Equation" r:id="rId7" imgW="21069300" imgH="5270500" progId="Equation.DSMT4">
                  <p:embed/>
                </p:oleObj>
              </mc:Choice>
              <mc:Fallback>
                <p:oleObj name="Equation" r:id="rId7" imgW="21069300" imgH="5270500" progId="Equation.DSMT4">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5391" y="4093874"/>
                        <a:ext cx="1570038" cy="391039"/>
                      </a:xfrm>
                      <a:prstGeom prst="rect">
                        <a:avLst/>
                      </a:prstGeom>
                      <a:noFill/>
                      <a:ln>
                        <a:noFill/>
                      </a:ln>
                      <a:effectLst/>
                    </p:spPr>
                  </p:pic>
                </p:oleObj>
              </mc:Fallback>
            </mc:AlternateContent>
          </a:graphicData>
        </a:graphic>
      </p:graphicFrame>
      <p:pic>
        <p:nvPicPr>
          <p:cNvPr id="216079" name="Picture 15" descr="Irving Langmuir - Wikipedia">
            <a:extLst>
              <a:ext uri="{FF2B5EF4-FFF2-40B4-BE49-F238E27FC236}">
                <a16:creationId xmlns:a16="http://schemas.microsoft.com/office/drawing/2014/main" id="{ADEE76C4-4DC2-D2A4-2A61-73E23F71701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45680" y="529738"/>
            <a:ext cx="1272286" cy="1684507"/>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E00387E8-BCF6-DE80-990A-248C7805C8F9}"/>
              </a:ext>
            </a:extLst>
          </p:cNvPr>
          <p:cNvSpPr txBox="1"/>
          <p:nvPr/>
        </p:nvSpPr>
        <p:spPr>
          <a:xfrm>
            <a:off x="7387021" y="2257525"/>
            <a:ext cx="1299779" cy="461665"/>
          </a:xfrm>
          <a:prstGeom prst="rect">
            <a:avLst/>
          </a:prstGeom>
          <a:noFill/>
        </p:spPr>
        <p:txBody>
          <a:bodyPr wrap="none" rtlCol="0">
            <a:spAutoFit/>
          </a:bodyPr>
          <a:lstStyle/>
          <a:p>
            <a:r>
              <a:rPr lang="en-US" sz="1200" dirty="0"/>
              <a:t>Irving Langmuir</a:t>
            </a:r>
          </a:p>
          <a:p>
            <a:r>
              <a:rPr lang="en-US" sz="1200" dirty="0"/>
              <a:t>1932 Nobel Prize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a:extLst>
              <a:ext uri="{FF2B5EF4-FFF2-40B4-BE49-F238E27FC236}">
                <a16:creationId xmlns:a16="http://schemas.microsoft.com/office/drawing/2014/main" id="{161806D8-BBD4-BDDE-16BD-7E132843C421}"/>
              </a:ext>
            </a:extLst>
          </p:cNvPr>
          <p:cNvSpPr>
            <a:spLocks noGrp="1" noChangeArrowheads="1"/>
          </p:cNvSpPr>
          <p:nvPr>
            <p:ph type="title"/>
          </p:nvPr>
        </p:nvSpPr>
        <p:spPr/>
        <p:txBody>
          <a:bodyPr>
            <a:normAutofit fontScale="90000"/>
          </a:bodyPr>
          <a:lstStyle/>
          <a:p>
            <a:r>
              <a:rPr lang="en-US" altLang="en-US" dirty="0"/>
              <a:t>Using the Langmuir Isotherm</a:t>
            </a:r>
          </a:p>
        </p:txBody>
      </p:sp>
      <p:sp>
        <p:nvSpPr>
          <p:cNvPr id="2" name="Date Placeholder 5">
            <a:extLst>
              <a:ext uri="{FF2B5EF4-FFF2-40B4-BE49-F238E27FC236}">
                <a16:creationId xmlns:a16="http://schemas.microsoft.com/office/drawing/2014/main" id="{65CFE96A-427C-F988-8F18-17073C0CA7EB}"/>
              </a:ext>
            </a:extLst>
          </p:cNvPr>
          <p:cNvSpPr>
            <a:spLocks noGrp="1"/>
          </p:cNvSpPr>
          <p:nvPr>
            <p:ph type="dt" sz="half" idx="10"/>
          </p:nvPr>
        </p:nvSpPr>
        <p:spPr/>
        <p:txBody>
          <a:bodyPr/>
          <a:lstStyle/>
          <a:p>
            <a:r>
              <a:rPr lang="en-US" altLang="en-US"/>
              <a:t>W. F. Schneider</a:t>
            </a:r>
          </a:p>
        </p:txBody>
      </p:sp>
      <p:sp>
        <p:nvSpPr>
          <p:cNvPr id="3" name="Footer Placeholder 6">
            <a:extLst>
              <a:ext uri="{FF2B5EF4-FFF2-40B4-BE49-F238E27FC236}">
                <a16:creationId xmlns:a16="http://schemas.microsoft.com/office/drawing/2014/main" id="{E9188D67-55F5-AB8C-8AA7-2B530906A0E4}"/>
              </a:ext>
            </a:extLst>
          </p:cNvPr>
          <p:cNvSpPr>
            <a:spLocks noGrp="1"/>
          </p:cNvSpPr>
          <p:nvPr>
            <p:ph type="ftr" sz="quarter" idx="11"/>
          </p:nvPr>
        </p:nvSpPr>
        <p:spPr/>
        <p:txBody>
          <a:bodyPr/>
          <a:lstStyle/>
          <a:p>
            <a:r>
              <a:rPr lang="en-US" altLang="en-US"/>
              <a:t>CBE 60546</a:t>
            </a:r>
          </a:p>
        </p:txBody>
      </p:sp>
      <p:sp>
        <p:nvSpPr>
          <p:cNvPr id="220163" name="Rectangle 3">
            <a:extLst>
              <a:ext uri="{FF2B5EF4-FFF2-40B4-BE49-F238E27FC236}">
                <a16:creationId xmlns:a16="http://schemas.microsoft.com/office/drawing/2014/main" id="{D246FA0E-8829-17C2-4A5D-72CB04800E8B}"/>
              </a:ext>
            </a:extLst>
          </p:cNvPr>
          <p:cNvSpPr>
            <a:spLocks noGrp="1" noChangeArrowheads="1"/>
          </p:cNvSpPr>
          <p:nvPr>
            <p:ph type="body" sz="half" idx="4294967295"/>
          </p:nvPr>
        </p:nvSpPr>
        <p:spPr>
          <a:xfrm>
            <a:off x="1219202" y="590550"/>
            <a:ext cx="7238998" cy="450057"/>
          </a:xfrm>
        </p:spPr>
        <p:txBody>
          <a:bodyPr/>
          <a:lstStyle/>
          <a:p>
            <a:r>
              <a:rPr lang="en-US" altLang="en-US" dirty="0"/>
              <a:t>Example: CO adsorption on 10% Ru/Al2O3 @ 100°C</a:t>
            </a:r>
          </a:p>
        </p:txBody>
      </p:sp>
      <p:graphicFrame>
        <p:nvGraphicFramePr>
          <p:cNvPr id="220233" name="Group 73">
            <a:extLst>
              <a:ext uri="{FF2B5EF4-FFF2-40B4-BE49-F238E27FC236}">
                <a16:creationId xmlns:a16="http://schemas.microsoft.com/office/drawing/2014/main" id="{B35FEA56-CADE-B010-F8C2-B33553C2DCC9}"/>
              </a:ext>
            </a:extLst>
          </p:cNvPr>
          <p:cNvGraphicFramePr>
            <a:graphicFrameLocks noGrp="1"/>
          </p:cNvGraphicFramePr>
          <p:nvPr>
            <p:ph sz="quarter" idx="4294967295"/>
            <p:extLst>
              <p:ext uri="{D42A27DB-BD31-4B8C-83A1-F6EECF244321}">
                <p14:modId xmlns:p14="http://schemas.microsoft.com/office/powerpoint/2010/main" val="1577790313"/>
              </p:ext>
            </p:extLst>
          </p:nvPr>
        </p:nvGraphicFramePr>
        <p:xfrm>
          <a:off x="486335" y="1047991"/>
          <a:ext cx="7238999" cy="609600"/>
        </p:xfrm>
        <a:graphic>
          <a:graphicData uri="http://schemas.openxmlformats.org/drawingml/2006/table">
            <a:tbl>
              <a:tblPr/>
              <a:tblGrid>
                <a:gridCol w="1763915">
                  <a:extLst>
                    <a:ext uri="{9D8B030D-6E8A-4147-A177-3AD203B41FA5}">
                      <a16:colId xmlns:a16="http://schemas.microsoft.com/office/drawing/2014/main" val="979773209"/>
                    </a:ext>
                  </a:extLst>
                </a:gridCol>
                <a:gridCol w="832425">
                  <a:extLst>
                    <a:ext uri="{9D8B030D-6E8A-4147-A177-3AD203B41FA5}">
                      <a16:colId xmlns:a16="http://schemas.microsoft.com/office/drawing/2014/main" val="603166494"/>
                    </a:ext>
                  </a:extLst>
                </a:gridCol>
                <a:gridCol w="921140">
                  <a:extLst>
                    <a:ext uri="{9D8B030D-6E8A-4147-A177-3AD203B41FA5}">
                      <a16:colId xmlns:a16="http://schemas.microsoft.com/office/drawing/2014/main" val="3753645011"/>
                    </a:ext>
                  </a:extLst>
                </a:gridCol>
                <a:gridCol w="888610">
                  <a:extLst>
                    <a:ext uri="{9D8B030D-6E8A-4147-A177-3AD203B41FA5}">
                      <a16:colId xmlns:a16="http://schemas.microsoft.com/office/drawing/2014/main" val="532577718"/>
                    </a:ext>
                  </a:extLst>
                </a:gridCol>
                <a:gridCol w="1023159">
                  <a:extLst>
                    <a:ext uri="{9D8B030D-6E8A-4147-A177-3AD203B41FA5}">
                      <a16:colId xmlns:a16="http://schemas.microsoft.com/office/drawing/2014/main" val="3917230678"/>
                    </a:ext>
                  </a:extLst>
                </a:gridCol>
                <a:gridCol w="944796">
                  <a:extLst>
                    <a:ext uri="{9D8B030D-6E8A-4147-A177-3AD203B41FA5}">
                      <a16:colId xmlns:a16="http://schemas.microsoft.com/office/drawing/2014/main" val="3140407553"/>
                    </a:ext>
                  </a:extLst>
                </a:gridCol>
                <a:gridCol w="864954">
                  <a:extLst>
                    <a:ext uri="{9D8B030D-6E8A-4147-A177-3AD203B41FA5}">
                      <a16:colId xmlns:a16="http://schemas.microsoft.com/office/drawing/2014/main" val="156295678"/>
                    </a:ext>
                  </a:extLst>
                </a:gridCol>
              </a:tblGrid>
              <a:tr h="238126">
                <a:tc>
                  <a:txBody>
                    <a:bodyPr/>
                    <a:lstStyle>
                      <a:lvl1pPr>
                        <a:spcBef>
                          <a:spcPct val="20000"/>
                        </a:spcBef>
                        <a:buClr>
                          <a:schemeClr val="accent1"/>
                        </a:buClr>
                        <a:buFont typeface="Wingdings" pitchFamily="2" charset="2"/>
                        <a:defRPr sz="2000">
                          <a:solidFill>
                            <a:schemeClr val="tx1"/>
                          </a:solidFill>
                          <a:latin typeface="Arial" panose="020B0604020202020204" pitchFamily="34" charset="0"/>
                        </a:defRPr>
                      </a:lvl1pPr>
                      <a:lvl2pPr>
                        <a:spcBef>
                          <a:spcPct val="20000"/>
                        </a:spcBef>
                        <a:buClr>
                          <a:schemeClr val="accent1"/>
                        </a:buClr>
                        <a:buFont typeface="Wingdings" pitchFamily="2" charset="2"/>
                        <a:defRPr>
                          <a:solidFill>
                            <a:schemeClr val="tx1"/>
                          </a:solidFill>
                          <a:latin typeface="Arial" panose="020B0604020202020204" pitchFamily="34" charset="0"/>
                        </a:defRPr>
                      </a:lvl2pPr>
                      <a:lvl3pPr>
                        <a:spcBef>
                          <a:spcPct val="20000"/>
                        </a:spcBef>
                        <a:buClr>
                          <a:schemeClr val="accent1"/>
                        </a:buClr>
                        <a:buFont typeface="Wingdings" pitchFamily="2" charset="2"/>
                        <a:defRPr sz="1400">
                          <a:solidFill>
                            <a:schemeClr val="tx1"/>
                          </a:solidFill>
                          <a:latin typeface="Arial" panose="020B0604020202020204" pitchFamily="34" charset="0"/>
                        </a:defRPr>
                      </a:lvl3pPr>
                      <a:lvl4pPr>
                        <a:spcBef>
                          <a:spcPct val="20000"/>
                        </a:spcBef>
                        <a:buClr>
                          <a:schemeClr val="accent1"/>
                        </a:buClr>
                        <a:defRPr sz="1400">
                          <a:solidFill>
                            <a:schemeClr val="tx1"/>
                          </a:solidFill>
                          <a:latin typeface="Arial" panose="020B0604020202020204" pitchFamily="34" charset="0"/>
                        </a:defRPr>
                      </a:lvl4pPr>
                      <a:lvl5pPr>
                        <a:spcBef>
                          <a:spcPct val="20000"/>
                        </a:spcBef>
                        <a:buClr>
                          <a:schemeClr val="accent1"/>
                        </a:buClr>
                        <a:buFont typeface="Wingdings" pitchFamily="2" charset="2"/>
                        <a:defRPr sz="1400">
                          <a:solidFill>
                            <a:schemeClr val="tx1"/>
                          </a:solidFill>
                          <a:latin typeface="Arial" panose="020B0604020202020204" pitchFamily="34" charset="0"/>
                        </a:defRPr>
                      </a:lvl5pPr>
                      <a:lvl6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6pPr>
                      <a:lvl7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7pPr>
                      <a:lvl8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8pPr>
                      <a:lvl9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en-US" sz="1200" b="0" i="1" u="none" strike="noStrike" cap="none" normalizeH="0" baseline="0">
                          <a:ln>
                            <a:noFill/>
                          </a:ln>
                          <a:solidFill>
                            <a:schemeClr val="tx1"/>
                          </a:solidFill>
                          <a:effectLst/>
                          <a:latin typeface="Corbel" panose="020B0503020204020204" pitchFamily="34" charset="0"/>
                        </a:rPr>
                        <a:t>P</a:t>
                      </a:r>
                      <a:r>
                        <a:rPr kumimoji="0" lang="en-US" altLang="en-US" sz="1200" b="0" i="0" u="none" strike="noStrike" cap="none" normalizeH="0" baseline="-25000">
                          <a:ln>
                            <a:noFill/>
                          </a:ln>
                          <a:solidFill>
                            <a:schemeClr val="tx1"/>
                          </a:solidFill>
                          <a:effectLst/>
                          <a:latin typeface="Corbel" panose="020B0503020204020204" pitchFamily="34" charset="0"/>
                        </a:rPr>
                        <a:t>CO</a:t>
                      </a:r>
                      <a:r>
                        <a:rPr kumimoji="0" lang="en-US" altLang="en-US" sz="1200" b="0" i="0" u="none" strike="noStrike" cap="none" normalizeH="0" baseline="0">
                          <a:ln>
                            <a:noFill/>
                          </a:ln>
                          <a:solidFill>
                            <a:schemeClr val="tx1"/>
                          </a:solidFill>
                          <a:effectLst/>
                          <a:latin typeface="Corbel" panose="020B0503020204020204" pitchFamily="34" charset="0"/>
                        </a:rPr>
                        <a:t> (torr)</a:t>
                      </a:r>
                      <a:endParaRPr kumimoji="0" lang="en-US" altLang="en-US" sz="1200" b="0" i="0" u="none" strike="noStrike" cap="none" normalizeH="0" baseline="-25000">
                        <a:ln>
                          <a:noFill/>
                        </a:ln>
                        <a:solidFill>
                          <a:schemeClr val="tx1"/>
                        </a:solidFill>
                        <a:effectLst/>
                        <a:latin typeface="Corbel" panose="020B0503020204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itchFamily="2" charset="2"/>
                        <a:defRPr sz="2000">
                          <a:solidFill>
                            <a:schemeClr val="tx1"/>
                          </a:solidFill>
                          <a:latin typeface="Arial" panose="020B0604020202020204" pitchFamily="34" charset="0"/>
                        </a:defRPr>
                      </a:lvl1pPr>
                      <a:lvl2pPr>
                        <a:spcBef>
                          <a:spcPct val="20000"/>
                        </a:spcBef>
                        <a:buClr>
                          <a:schemeClr val="accent1"/>
                        </a:buClr>
                        <a:buFont typeface="Wingdings" pitchFamily="2" charset="2"/>
                        <a:defRPr>
                          <a:solidFill>
                            <a:schemeClr val="tx1"/>
                          </a:solidFill>
                          <a:latin typeface="Arial" panose="020B0604020202020204" pitchFamily="34" charset="0"/>
                        </a:defRPr>
                      </a:lvl2pPr>
                      <a:lvl3pPr>
                        <a:spcBef>
                          <a:spcPct val="20000"/>
                        </a:spcBef>
                        <a:buClr>
                          <a:schemeClr val="accent1"/>
                        </a:buClr>
                        <a:buFont typeface="Wingdings" pitchFamily="2" charset="2"/>
                        <a:defRPr sz="1400">
                          <a:solidFill>
                            <a:schemeClr val="tx1"/>
                          </a:solidFill>
                          <a:latin typeface="Arial" panose="020B0604020202020204" pitchFamily="34" charset="0"/>
                        </a:defRPr>
                      </a:lvl3pPr>
                      <a:lvl4pPr>
                        <a:spcBef>
                          <a:spcPct val="20000"/>
                        </a:spcBef>
                        <a:buClr>
                          <a:schemeClr val="accent1"/>
                        </a:buClr>
                        <a:defRPr sz="1400">
                          <a:solidFill>
                            <a:schemeClr val="tx1"/>
                          </a:solidFill>
                          <a:latin typeface="Arial" panose="020B0604020202020204" pitchFamily="34" charset="0"/>
                        </a:defRPr>
                      </a:lvl4pPr>
                      <a:lvl5pPr>
                        <a:spcBef>
                          <a:spcPct val="20000"/>
                        </a:spcBef>
                        <a:buClr>
                          <a:schemeClr val="accent1"/>
                        </a:buClr>
                        <a:buFont typeface="Wingdings" pitchFamily="2" charset="2"/>
                        <a:defRPr sz="1400">
                          <a:solidFill>
                            <a:schemeClr val="tx1"/>
                          </a:solidFill>
                          <a:latin typeface="Arial" panose="020B0604020202020204" pitchFamily="34" charset="0"/>
                        </a:defRPr>
                      </a:lvl5pPr>
                      <a:lvl6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6pPr>
                      <a:lvl7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7pPr>
                      <a:lvl8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8pPr>
                      <a:lvl9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en-US" sz="1400" b="0" i="0" u="none" strike="noStrike" cap="none" normalizeH="0" baseline="0">
                          <a:ln>
                            <a:noFill/>
                          </a:ln>
                          <a:solidFill>
                            <a:schemeClr val="tx1"/>
                          </a:solidFill>
                          <a:effectLst/>
                          <a:latin typeface="Corbel" panose="020B0503020204020204" pitchFamily="34" charset="0"/>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itchFamily="2" charset="2"/>
                        <a:defRPr sz="2000">
                          <a:solidFill>
                            <a:schemeClr val="tx1"/>
                          </a:solidFill>
                          <a:latin typeface="Arial" panose="020B0604020202020204" pitchFamily="34" charset="0"/>
                        </a:defRPr>
                      </a:lvl1pPr>
                      <a:lvl2pPr>
                        <a:spcBef>
                          <a:spcPct val="20000"/>
                        </a:spcBef>
                        <a:buClr>
                          <a:schemeClr val="accent1"/>
                        </a:buClr>
                        <a:buFont typeface="Wingdings" pitchFamily="2" charset="2"/>
                        <a:defRPr>
                          <a:solidFill>
                            <a:schemeClr val="tx1"/>
                          </a:solidFill>
                          <a:latin typeface="Arial" panose="020B0604020202020204" pitchFamily="34" charset="0"/>
                        </a:defRPr>
                      </a:lvl2pPr>
                      <a:lvl3pPr>
                        <a:spcBef>
                          <a:spcPct val="20000"/>
                        </a:spcBef>
                        <a:buClr>
                          <a:schemeClr val="accent1"/>
                        </a:buClr>
                        <a:buFont typeface="Wingdings" pitchFamily="2" charset="2"/>
                        <a:defRPr sz="1400">
                          <a:solidFill>
                            <a:schemeClr val="tx1"/>
                          </a:solidFill>
                          <a:latin typeface="Arial" panose="020B0604020202020204" pitchFamily="34" charset="0"/>
                        </a:defRPr>
                      </a:lvl3pPr>
                      <a:lvl4pPr>
                        <a:spcBef>
                          <a:spcPct val="20000"/>
                        </a:spcBef>
                        <a:buClr>
                          <a:schemeClr val="accent1"/>
                        </a:buClr>
                        <a:defRPr sz="1400">
                          <a:solidFill>
                            <a:schemeClr val="tx1"/>
                          </a:solidFill>
                          <a:latin typeface="Arial" panose="020B0604020202020204" pitchFamily="34" charset="0"/>
                        </a:defRPr>
                      </a:lvl4pPr>
                      <a:lvl5pPr>
                        <a:spcBef>
                          <a:spcPct val="20000"/>
                        </a:spcBef>
                        <a:buClr>
                          <a:schemeClr val="accent1"/>
                        </a:buClr>
                        <a:buFont typeface="Wingdings" pitchFamily="2" charset="2"/>
                        <a:defRPr sz="1400">
                          <a:solidFill>
                            <a:schemeClr val="tx1"/>
                          </a:solidFill>
                          <a:latin typeface="Arial" panose="020B0604020202020204" pitchFamily="34" charset="0"/>
                        </a:defRPr>
                      </a:lvl5pPr>
                      <a:lvl6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6pPr>
                      <a:lvl7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7pPr>
                      <a:lvl8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8pPr>
                      <a:lvl9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en-US" sz="1400" b="0" i="0" u="none" strike="noStrike" cap="none" normalizeH="0" baseline="0">
                          <a:ln>
                            <a:noFill/>
                          </a:ln>
                          <a:solidFill>
                            <a:schemeClr val="tx1"/>
                          </a:solidFill>
                          <a:effectLst/>
                          <a:latin typeface="Corbel" panose="020B0503020204020204" pitchFamily="34" charset="0"/>
                        </a:rPr>
                        <a:t>150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itchFamily="2" charset="2"/>
                        <a:defRPr sz="2000">
                          <a:solidFill>
                            <a:schemeClr val="tx1"/>
                          </a:solidFill>
                          <a:latin typeface="Arial" panose="020B0604020202020204" pitchFamily="34" charset="0"/>
                        </a:defRPr>
                      </a:lvl1pPr>
                      <a:lvl2pPr>
                        <a:spcBef>
                          <a:spcPct val="20000"/>
                        </a:spcBef>
                        <a:buClr>
                          <a:schemeClr val="accent1"/>
                        </a:buClr>
                        <a:buFont typeface="Wingdings" pitchFamily="2" charset="2"/>
                        <a:defRPr>
                          <a:solidFill>
                            <a:schemeClr val="tx1"/>
                          </a:solidFill>
                          <a:latin typeface="Arial" panose="020B0604020202020204" pitchFamily="34" charset="0"/>
                        </a:defRPr>
                      </a:lvl2pPr>
                      <a:lvl3pPr>
                        <a:spcBef>
                          <a:spcPct val="20000"/>
                        </a:spcBef>
                        <a:buClr>
                          <a:schemeClr val="accent1"/>
                        </a:buClr>
                        <a:buFont typeface="Wingdings" pitchFamily="2" charset="2"/>
                        <a:defRPr sz="1400">
                          <a:solidFill>
                            <a:schemeClr val="tx1"/>
                          </a:solidFill>
                          <a:latin typeface="Arial" panose="020B0604020202020204" pitchFamily="34" charset="0"/>
                        </a:defRPr>
                      </a:lvl3pPr>
                      <a:lvl4pPr>
                        <a:spcBef>
                          <a:spcPct val="20000"/>
                        </a:spcBef>
                        <a:buClr>
                          <a:schemeClr val="accent1"/>
                        </a:buClr>
                        <a:defRPr sz="1400">
                          <a:solidFill>
                            <a:schemeClr val="tx1"/>
                          </a:solidFill>
                          <a:latin typeface="Arial" panose="020B0604020202020204" pitchFamily="34" charset="0"/>
                        </a:defRPr>
                      </a:lvl4pPr>
                      <a:lvl5pPr>
                        <a:spcBef>
                          <a:spcPct val="20000"/>
                        </a:spcBef>
                        <a:buClr>
                          <a:schemeClr val="accent1"/>
                        </a:buClr>
                        <a:buFont typeface="Wingdings" pitchFamily="2" charset="2"/>
                        <a:defRPr sz="1400">
                          <a:solidFill>
                            <a:schemeClr val="tx1"/>
                          </a:solidFill>
                          <a:latin typeface="Arial" panose="020B0604020202020204" pitchFamily="34" charset="0"/>
                        </a:defRPr>
                      </a:lvl5pPr>
                      <a:lvl6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6pPr>
                      <a:lvl7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7pPr>
                      <a:lvl8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8pPr>
                      <a:lvl9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en-US" sz="1400" b="0" i="0" u="none" strike="noStrike" cap="none" normalizeH="0" baseline="0">
                          <a:ln>
                            <a:noFill/>
                          </a:ln>
                          <a:solidFill>
                            <a:schemeClr val="tx1"/>
                          </a:solidFill>
                          <a:effectLst/>
                          <a:latin typeface="Corbel" panose="020B0503020204020204" pitchFamily="34" charset="0"/>
                        </a:rPr>
                        <a:t>200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itchFamily="2" charset="2"/>
                        <a:defRPr sz="2000">
                          <a:solidFill>
                            <a:schemeClr val="tx1"/>
                          </a:solidFill>
                          <a:latin typeface="Arial" panose="020B0604020202020204" pitchFamily="34" charset="0"/>
                        </a:defRPr>
                      </a:lvl1pPr>
                      <a:lvl2pPr>
                        <a:spcBef>
                          <a:spcPct val="20000"/>
                        </a:spcBef>
                        <a:buClr>
                          <a:schemeClr val="accent1"/>
                        </a:buClr>
                        <a:buFont typeface="Wingdings" pitchFamily="2" charset="2"/>
                        <a:defRPr>
                          <a:solidFill>
                            <a:schemeClr val="tx1"/>
                          </a:solidFill>
                          <a:latin typeface="Arial" panose="020B0604020202020204" pitchFamily="34" charset="0"/>
                        </a:defRPr>
                      </a:lvl2pPr>
                      <a:lvl3pPr>
                        <a:spcBef>
                          <a:spcPct val="20000"/>
                        </a:spcBef>
                        <a:buClr>
                          <a:schemeClr val="accent1"/>
                        </a:buClr>
                        <a:buFont typeface="Wingdings" pitchFamily="2" charset="2"/>
                        <a:defRPr sz="1400">
                          <a:solidFill>
                            <a:schemeClr val="tx1"/>
                          </a:solidFill>
                          <a:latin typeface="Arial" panose="020B0604020202020204" pitchFamily="34" charset="0"/>
                        </a:defRPr>
                      </a:lvl3pPr>
                      <a:lvl4pPr>
                        <a:spcBef>
                          <a:spcPct val="20000"/>
                        </a:spcBef>
                        <a:buClr>
                          <a:schemeClr val="accent1"/>
                        </a:buClr>
                        <a:defRPr sz="1400">
                          <a:solidFill>
                            <a:schemeClr val="tx1"/>
                          </a:solidFill>
                          <a:latin typeface="Arial" panose="020B0604020202020204" pitchFamily="34" charset="0"/>
                        </a:defRPr>
                      </a:lvl4pPr>
                      <a:lvl5pPr>
                        <a:spcBef>
                          <a:spcPct val="20000"/>
                        </a:spcBef>
                        <a:buClr>
                          <a:schemeClr val="accent1"/>
                        </a:buClr>
                        <a:buFont typeface="Wingdings" pitchFamily="2" charset="2"/>
                        <a:defRPr sz="1400">
                          <a:solidFill>
                            <a:schemeClr val="tx1"/>
                          </a:solidFill>
                          <a:latin typeface="Arial" panose="020B0604020202020204" pitchFamily="34" charset="0"/>
                        </a:defRPr>
                      </a:lvl5pPr>
                      <a:lvl6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6pPr>
                      <a:lvl7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7pPr>
                      <a:lvl8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8pPr>
                      <a:lvl9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en-US" sz="1400" b="0" i="0" u="none" strike="noStrike" cap="none" normalizeH="0" baseline="0">
                          <a:ln>
                            <a:noFill/>
                          </a:ln>
                          <a:solidFill>
                            <a:schemeClr val="tx1"/>
                          </a:solidFill>
                          <a:effectLst/>
                          <a:latin typeface="Corbel" panose="020B0503020204020204" pitchFamily="34" charset="0"/>
                        </a:rPr>
                        <a:t>250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itchFamily="2" charset="2"/>
                        <a:defRPr sz="2000">
                          <a:solidFill>
                            <a:schemeClr val="tx1"/>
                          </a:solidFill>
                          <a:latin typeface="Arial" panose="020B0604020202020204" pitchFamily="34" charset="0"/>
                        </a:defRPr>
                      </a:lvl1pPr>
                      <a:lvl2pPr>
                        <a:spcBef>
                          <a:spcPct val="20000"/>
                        </a:spcBef>
                        <a:buClr>
                          <a:schemeClr val="accent1"/>
                        </a:buClr>
                        <a:buFont typeface="Wingdings" pitchFamily="2" charset="2"/>
                        <a:defRPr>
                          <a:solidFill>
                            <a:schemeClr val="tx1"/>
                          </a:solidFill>
                          <a:latin typeface="Arial" panose="020B0604020202020204" pitchFamily="34" charset="0"/>
                        </a:defRPr>
                      </a:lvl2pPr>
                      <a:lvl3pPr>
                        <a:spcBef>
                          <a:spcPct val="20000"/>
                        </a:spcBef>
                        <a:buClr>
                          <a:schemeClr val="accent1"/>
                        </a:buClr>
                        <a:buFont typeface="Wingdings" pitchFamily="2" charset="2"/>
                        <a:defRPr sz="1400">
                          <a:solidFill>
                            <a:schemeClr val="tx1"/>
                          </a:solidFill>
                          <a:latin typeface="Arial" panose="020B0604020202020204" pitchFamily="34" charset="0"/>
                        </a:defRPr>
                      </a:lvl3pPr>
                      <a:lvl4pPr>
                        <a:spcBef>
                          <a:spcPct val="20000"/>
                        </a:spcBef>
                        <a:buClr>
                          <a:schemeClr val="accent1"/>
                        </a:buClr>
                        <a:defRPr sz="1400">
                          <a:solidFill>
                            <a:schemeClr val="tx1"/>
                          </a:solidFill>
                          <a:latin typeface="Arial" panose="020B0604020202020204" pitchFamily="34" charset="0"/>
                        </a:defRPr>
                      </a:lvl4pPr>
                      <a:lvl5pPr>
                        <a:spcBef>
                          <a:spcPct val="20000"/>
                        </a:spcBef>
                        <a:buClr>
                          <a:schemeClr val="accent1"/>
                        </a:buClr>
                        <a:buFont typeface="Wingdings" pitchFamily="2" charset="2"/>
                        <a:defRPr sz="1400">
                          <a:solidFill>
                            <a:schemeClr val="tx1"/>
                          </a:solidFill>
                          <a:latin typeface="Arial" panose="020B0604020202020204" pitchFamily="34" charset="0"/>
                        </a:defRPr>
                      </a:lvl5pPr>
                      <a:lvl6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6pPr>
                      <a:lvl7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7pPr>
                      <a:lvl8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8pPr>
                      <a:lvl9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en-US" sz="1400" b="0" i="0" u="none" strike="noStrike" cap="none" normalizeH="0" baseline="0">
                          <a:ln>
                            <a:noFill/>
                          </a:ln>
                          <a:solidFill>
                            <a:schemeClr val="tx1"/>
                          </a:solidFill>
                          <a:effectLst/>
                          <a:latin typeface="Corbel" panose="020B0503020204020204" pitchFamily="34" charset="0"/>
                        </a:rPr>
                        <a:t>300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itchFamily="2" charset="2"/>
                        <a:defRPr sz="2000">
                          <a:solidFill>
                            <a:schemeClr val="tx1"/>
                          </a:solidFill>
                          <a:latin typeface="Arial" panose="020B0604020202020204" pitchFamily="34" charset="0"/>
                        </a:defRPr>
                      </a:lvl1pPr>
                      <a:lvl2pPr>
                        <a:spcBef>
                          <a:spcPct val="20000"/>
                        </a:spcBef>
                        <a:buClr>
                          <a:schemeClr val="accent1"/>
                        </a:buClr>
                        <a:buFont typeface="Wingdings" pitchFamily="2" charset="2"/>
                        <a:defRPr>
                          <a:solidFill>
                            <a:schemeClr val="tx1"/>
                          </a:solidFill>
                          <a:latin typeface="Arial" panose="020B0604020202020204" pitchFamily="34" charset="0"/>
                        </a:defRPr>
                      </a:lvl2pPr>
                      <a:lvl3pPr>
                        <a:spcBef>
                          <a:spcPct val="20000"/>
                        </a:spcBef>
                        <a:buClr>
                          <a:schemeClr val="accent1"/>
                        </a:buClr>
                        <a:buFont typeface="Wingdings" pitchFamily="2" charset="2"/>
                        <a:defRPr sz="1400">
                          <a:solidFill>
                            <a:schemeClr val="tx1"/>
                          </a:solidFill>
                          <a:latin typeface="Arial" panose="020B0604020202020204" pitchFamily="34" charset="0"/>
                        </a:defRPr>
                      </a:lvl3pPr>
                      <a:lvl4pPr>
                        <a:spcBef>
                          <a:spcPct val="20000"/>
                        </a:spcBef>
                        <a:buClr>
                          <a:schemeClr val="accent1"/>
                        </a:buClr>
                        <a:defRPr sz="1400">
                          <a:solidFill>
                            <a:schemeClr val="tx1"/>
                          </a:solidFill>
                          <a:latin typeface="Arial" panose="020B0604020202020204" pitchFamily="34" charset="0"/>
                        </a:defRPr>
                      </a:lvl4pPr>
                      <a:lvl5pPr>
                        <a:spcBef>
                          <a:spcPct val="20000"/>
                        </a:spcBef>
                        <a:buClr>
                          <a:schemeClr val="accent1"/>
                        </a:buClr>
                        <a:buFont typeface="Wingdings" pitchFamily="2" charset="2"/>
                        <a:defRPr sz="1400">
                          <a:solidFill>
                            <a:schemeClr val="tx1"/>
                          </a:solidFill>
                          <a:latin typeface="Arial" panose="020B0604020202020204" pitchFamily="34" charset="0"/>
                        </a:defRPr>
                      </a:lvl5pPr>
                      <a:lvl6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6pPr>
                      <a:lvl7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7pPr>
                      <a:lvl8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8pPr>
                      <a:lvl9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en-US" sz="1400" b="0" i="0" u="none" strike="noStrike" cap="none" normalizeH="0" baseline="0">
                          <a:ln>
                            <a:noFill/>
                          </a:ln>
                          <a:solidFill>
                            <a:schemeClr val="tx1"/>
                          </a:solidFill>
                          <a:effectLst/>
                          <a:latin typeface="Corbel" panose="020B0503020204020204" pitchFamily="34" charset="0"/>
                        </a:rPr>
                        <a:t>400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0442631"/>
                  </a:ext>
                </a:extLst>
              </a:tr>
              <a:tr h="238126">
                <a:tc>
                  <a:txBody>
                    <a:bodyPr/>
                    <a:lstStyle>
                      <a:lvl1pPr>
                        <a:spcBef>
                          <a:spcPct val="20000"/>
                        </a:spcBef>
                        <a:buClr>
                          <a:schemeClr val="accent1"/>
                        </a:buClr>
                        <a:buFont typeface="Wingdings" pitchFamily="2" charset="2"/>
                        <a:defRPr sz="2000">
                          <a:solidFill>
                            <a:schemeClr val="tx1"/>
                          </a:solidFill>
                          <a:latin typeface="Arial" panose="020B0604020202020204" pitchFamily="34" charset="0"/>
                        </a:defRPr>
                      </a:lvl1pPr>
                      <a:lvl2pPr>
                        <a:spcBef>
                          <a:spcPct val="20000"/>
                        </a:spcBef>
                        <a:buClr>
                          <a:schemeClr val="accent1"/>
                        </a:buClr>
                        <a:buFont typeface="Wingdings" pitchFamily="2" charset="2"/>
                        <a:defRPr>
                          <a:solidFill>
                            <a:schemeClr val="tx1"/>
                          </a:solidFill>
                          <a:latin typeface="Arial" panose="020B0604020202020204" pitchFamily="34" charset="0"/>
                        </a:defRPr>
                      </a:lvl2pPr>
                      <a:lvl3pPr>
                        <a:spcBef>
                          <a:spcPct val="20000"/>
                        </a:spcBef>
                        <a:buClr>
                          <a:schemeClr val="accent1"/>
                        </a:buClr>
                        <a:buFont typeface="Wingdings" pitchFamily="2" charset="2"/>
                        <a:defRPr sz="1400">
                          <a:solidFill>
                            <a:schemeClr val="tx1"/>
                          </a:solidFill>
                          <a:latin typeface="Arial" panose="020B0604020202020204" pitchFamily="34" charset="0"/>
                        </a:defRPr>
                      </a:lvl3pPr>
                      <a:lvl4pPr>
                        <a:spcBef>
                          <a:spcPct val="20000"/>
                        </a:spcBef>
                        <a:buClr>
                          <a:schemeClr val="accent1"/>
                        </a:buClr>
                        <a:defRPr sz="1400">
                          <a:solidFill>
                            <a:schemeClr val="tx1"/>
                          </a:solidFill>
                          <a:latin typeface="Arial" panose="020B0604020202020204" pitchFamily="34" charset="0"/>
                        </a:defRPr>
                      </a:lvl4pPr>
                      <a:lvl5pPr>
                        <a:spcBef>
                          <a:spcPct val="20000"/>
                        </a:spcBef>
                        <a:buClr>
                          <a:schemeClr val="accent1"/>
                        </a:buClr>
                        <a:buFont typeface="Wingdings" pitchFamily="2" charset="2"/>
                        <a:defRPr sz="1400">
                          <a:solidFill>
                            <a:schemeClr val="tx1"/>
                          </a:solidFill>
                          <a:latin typeface="Arial" panose="020B0604020202020204" pitchFamily="34" charset="0"/>
                        </a:defRPr>
                      </a:lvl5pPr>
                      <a:lvl6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6pPr>
                      <a:lvl7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7pPr>
                      <a:lvl8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8pPr>
                      <a:lvl9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en-US" sz="1200" b="0" i="0" u="none" strike="noStrike" cap="none" normalizeH="0" baseline="0">
                          <a:ln>
                            <a:noFill/>
                          </a:ln>
                          <a:solidFill>
                            <a:schemeClr val="tx1"/>
                          </a:solidFill>
                          <a:effectLst/>
                          <a:latin typeface="Corbel" panose="020B0503020204020204" pitchFamily="34" charset="0"/>
                        </a:rPr>
                        <a:t>CO</a:t>
                      </a:r>
                      <a:r>
                        <a:rPr kumimoji="0" lang="en-US" altLang="en-US" sz="1200" b="0" i="0" u="none" strike="noStrike" cap="none" normalizeH="0" baseline="-25000">
                          <a:ln>
                            <a:noFill/>
                          </a:ln>
                          <a:solidFill>
                            <a:schemeClr val="tx1"/>
                          </a:solidFill>
                          <a:effectLst/>
                          <a:latin typeface="Corbel" panose="020B0503020204020204" pitchFamily="34" charset="0"/>
                        </a:rPr>
                        <a:t>ads</a:t>
                      </a:r>
                      <a:r>
                        <a:rPr kumimoji="0" lang="en-US" altLang="en-US" sz="1200" b="0" i="0" u="none" strike="noStrike" cap="none" normalizeH="0" baseline="0">
                          <a:ln>
                            <a:noFill/>
                          </a:ln>
                          <a:solidFill>
                            <a:schemeClr val="tx1"/>
                          </a:solidFill>
                          <a:effectLst/>
                          <a:latin typeface="Corbel" panose="020B0503020204020204" pitchFamily="34" charset="0"/>
                        </a:rPr>
                        <a:t> (</a:t>
                      </a:r>
                      <a:r>
                        <a:rPr kumimoji="0" lang="el-GR" altLang="en-US" sz="1200" b="0" i="0" u="none" strike="noStrike" cap="none" normalizeH="0" baseline="0">
                          <a:ln>
                            <a:noFill/>
                          </a:ln>
                          <a:solidFill>
                            <a:schemeClr val="tx1"/>
                          </a:solidFill>
                          <a:effectLst/>
                          <a:latin typeface="Corbel" panose="020B0503020204020204" pitchFamily="34" charset="0"/>
                          <a:cs typeface="Arial" panose="020B0604020202020204" pitchFamily="34" charset="0"/>
                        </a:rPr>
                        <a:t>μ</a:t>
                      </a:r>
                      <a:r>
                        <a:rPr kumimoji="0" lang="en-US" altLang="en-US" sz="1200" b="0" i="0" u="none" strike="noStrike" cap="none" normalizeH="0" baseline="0">
                          <a:ln>
                            <a:noFill/>
                          </a:ln>
                          <a:solidFill>
                            <a:schemeClr val="tx1"/>
                          </a:solidFill>
                          <a:effectLst/>
                          <a:latin typeface="Corbel" panose="020B0503020204020204" pitchFamily="34" charset="0"/>
                          <a:cs typeface="Arial" panose="020B0604020202020204" pitchFamily="34" charset="0"/>
                        </a:rPr>
                        <a:t>mol/g</a:t>
                      </a:r>
                      <a:r>
                        <a:rPr kumimoji="0" lang="en-US" altLang="en-US" sz="1200" b="0" i="0" u="none" strike="noStrike" cap="none" normalizeH="0" baseline="-25000">
                          <a:ln>
                            <a:noFill/>
                          </a:ln>
                          <a:solidFill>
                            <a:schemeClr val="tx1"/>
                          </a:solidFill>
                          <a:effectLst/>
                          <a:latin typeface="Corbel" panose="020B0503020204020204" pitchFamily="34" charset="0"/>
                          <a:cs typeface="Arial" panose="020B0604020202020204" pitchFamily="34" charset="0"/>
                        </a:rPr>
                        <a:t>cat</a:t>
                      </a:r>
                      <a:r>
                        <a:rPr kumimoji="0" lang="en-US" altLang="en-US" sz="1200" b="0" i="0" u="none" strike="noStrike" cap="none" normalizeH="0" baseline="0">
                          <a:ln>
                            <a:noFill/>
                          </a:ln>
                          <a:solidFill>
                            <a:schemeClr val="tx1"/>
                          </a:solidFill>
                          <a:effectLst/>
                          <a:latin typeface="Corbel" panose="020B0503020204020204" pitchFamily="34" charset="0"/>
                          <a:cs typeface="Arial" panose="020B0604020202020204" pitchFamily="34" charset="0"/>
                        </a:rPr>
                        <a:t>)</a:t>
                      </a:r>
                      <a:endParaRPr kumimoji="0" lang="el-GR" altLang="en-US" sz="1200" b="0" i="0" u="none" strike="noStrike" cap="none" normalizeH="0" baseline="-25000">
                        <a:ln>
                          <a:noFill/>
                        </a:ln>
                        <a:solidFill>
                          <a:schemeClr val="tx1"/>
                        </a:solidFill>
                        <a:effectLst/>
                        <a:latin typeface="Corbel" panose="020B0503020204020204" pitchFamily="34"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itchFamily="2" charset="2"/>
                        <a:defRPr sz="2000">
                          <a:solidFill>
                            <a:schemeClr val="tx1"/>
                          </a:solidFill>
                          <a:latin typeface="Arial" panose="020B0604020202020204" pitchFamily="34" charset="0"/>
                        </a:defRPr>
                      </a:lvl1pPr>
                      <a:lvl2pPr>
                        <a:spcBef>
                          <a:spcPct val="20000"/>
                        </a:spcBef>
                        <a:buClr>
                          <a:schemeClr val="accent1"/>
                        </a:buClr>
                        <a:buFont typeface="Wingdings" pitchFamily="2" charset="2"/>
                        <a:defRPr>
                          <a:solidFill>
                            <a:schemeClr val="tx1"/>
                          </a:solidFill>
                          <a:latin typeface="Arial" panose="020B0604020202020204" pitchFamily="34" charset="0"/>
                        </a:defRPr>
                      </a:lvl2pPr>
                      <a:lvl3pPr>
                        <a:spcBef>
                          <a:spcPct val="20000"/>
                        </a:spcBef>
                        <a:buClr>
                          <a:schemeClr val="accent1"/>
                        </a:buClr>
                        <a:buFont typeface="Wingdings" pitchFamily="2" charset="2"/>
                        <a:defRPr sz="1400">
                          <a:solidFill>
                            <a:schemeClr val="tx1"/>
                          </a:solidFill>
                          <a:latin typeface="Arial" panose="020B0604020202020204" pitchFamily="34" charset="0"/>
                        </a:defRPr>
                      </a:lvl3pPr>
                      <a:lvl4pPr>
                        <a:spcBef>
                          <a:spcPct val="20000"/>
                        </a:spcBef>
                        <a:buClr>
                          <a:schemeClr val="accent1"/>
                        </a:buClr>
                        <a:defRPr sz="1400">
                          <a:solidFill>
                            <a:schemeClr val="tx1"/>
                          </a:solidFill>
                          <a:latin typeface="Arial" panose="020B0604020202020204" pitchFamily="34" charset="0"/>
                        </a:defRPr>
                      </a:lvl4pPr>
                      <a:lvl5pPr>
                        <a:spcBef>
                          <a:spcPct val="20000"/>
                        </a:spcBef>
                        <a:buClr>
                          <a:schemeClr val="accent1"/>
                        </a:buClr>
                        <a:buFont typeface="Wingdings" pitchFamily="2" charset="2"/>
                        <a:defRPr sz="1400">
                          <a:solidFill>
                            <a:schemeClr val="tx1"/>
                          </a:solidFill>
                          <a:latin typeface="Arial" panose="020B0604020202020204" pitchFamily="34" charset="0"/>
                        </a:defRPr>
                      </a:lvl5pPr>
                      <a:lvl6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6pPr>
                      <a:lvl7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7pPr>
                      <a:lvl8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8pPr>
                      <a:lvl9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en-US" sz="1400" b="0" i="0" u="none" strike="noStrike" cap="none" normalizeH="0" baseline="0">
                          <a:ln>
                            <a:noFill/>
                          </a:ln>
                          <a:solidFill>
                            <a:schemeClr val="tx1"/>
                          </a:solidFill>
                          <a:effectLst/>
                          <a:latin typeface="Corbel" panose="020B0503020204020204" pitchFamily="34" charset="0"/>
                        </a:rPr>
                        <a:t>1.28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itchFamily="2" charset="2"/>
                        <a:defRPr sz="2000">
                          <a:solidFill>
                            <a:schemeClr val="tx1"/>
                          </a:solidFill>
                          <a:latin typeface="Arial" panose="020B0604020202020204" pitchFamily="34" charset="0"/>
                        </a:defRPr>
                      </a:lvl1pPr>
                      <a:lvl2pPr>
                        <a:spcBef>
                          <a:spcPct val="20000"/>
                        </a:spcBef>
                        <a:buClr>
                          <a:schemeClr val="accent1"/>
                        </a:buClr>
                        <a:buFont typeface="Wingdings" pitchFamily="2" charset="2"/>
                        <a:defRPr>
                          <a:solidFill>
                            <a:schemeClr val="tx1"/>
                          </a:solidFill>
                          <a:latin typeface="Arial" panose="020B0604020202020204" pitchFamily="34" charset="0"/>
                        </a:defRPr>
                      </a:lvl2pPr>
                      <a:lvl3pPr>
                        <a:spcBef>
                          <a:spcPct val="20000"/>
                        </a:spcBef>
                        <a:buClr>
                          <a:schemeClr val="accent1"/>
                        </a:buClr>
                        <a:buFont typeface="Wingdings" pitchFamily="2" charset="2"/>
                        <a:defRPr sz="1400">
                          <a:solidFill>
                            <a:schemeClr val="tx1"/>
                          </a:solidFill>
                          <a:latin typeface="Arial" panose="020B0604020202020204" pitchFamily="34" charset="0"/>
                        </a:defRPr>
                      </a:lvl3pPr>
                      <a:lvl4pPr>
                        <a:spcBef>
                          <a:spcPct val="20000"/>
                        </a:spcBef>
                        <a:buClr>
                          <a:schemeClr val="accent1"/>
                        </a:buClr>
                        <a:defRPr sz="1400">
                          <a:solidFill>
                            <a:schemeClr val="tx1"/>
                          </a:solidFill>
                          <a:latin typeface="Arial" panose="020B0604020202020204" pitchFamily="34" charset="0"/>
                        </a:defRPr>
                      </a:lvl4pPr>
                      <a:lvl5pPr>
                        <a:spcBef>
                          <a:spcPct val="20000"/>
                        </a:spcBef>
                        <a:buClr>
                          <a:schemeClr val="accent1"/>
                        </a:buClr>
                        <a:buFont typeface="Wingdings" pitchFamily="2" charset="2"/>
                        <a:defRPr sz="1400">
                          <a:solidFill>
                            <a:schemeClr val="tx1"/>
                          </a:solidFill>
                          <a:latin typeface="Arial" panose="020B0604020202020204" pitchFamily="34" charset="0"/>
                        </a:defRPr>
                      </a:lvl5pPr>
                      <a:lvl6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6pPr>
                      <a:lvl7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7pPr>
                      <a:lvl8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8pPr>
                      <a:lvl9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en-US" sz="1400" b="0" i="0" u="none" strike="noStrike" cap="none" normalizeH="0" baseline="0">
                          <a:ln>
                            <a:noFill/>
                          </a:ln>
                          <a:solidFill>
                            <a:schemeClr val="tx1"/>
                          </a:solidFill>
                          <a:effectLst/>
                          <a:latin typeface="Corbel" panose="020B0503020204020204" pitchFamily="34" charset="0"/>
                        </a:rPr>
                        <a:t>1.63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itchFamily="2" charset="2"/>
                        <a:defRPr sz="2000">
                          <a:solidFill>
                            <a:schemeClr val="tx1"/>
                          </a:solidFill>
                          <a:latin typeface="Arial" panose="020B0604020202020204" pitchFamily="34" charset="0"/>
                        </a:defRPr>
                      </a:lvl1pPr>
                      <a:lvl2pPr>
                        <a:spcBef>
                          <a:spcPct val="20000"/>
                        </a:spcBef>
                        <a:buClr>
                          <a:schemeClr val="accent1"/>
                        </a:buClr>
                        <a:buFont typeface="Wingdings" pitchFamily="2" charset="2"/>
                        <a:defRPr>
                          <a:solidFill>
                            <a:schemeClr val="tx1"/>
                          </a:solidFill>
                          <a:latin typeface="Arial" panose="020B0604020202020204" pitchFamily="34" charset="0"/>
                        </a:defRPr>
                      </a:lvl2pPr>
                      <a:lvl3pPr>
                        <a:spcBef>
                          <a:spcPct val="20000"/>
                        </a:spcBef>
                        <a:buClr>
                          <a:schemeClr val="accent1"/>
                        </a:buClr>
                        <a:buFont typeface="Wingdings" pitchFamily="2" charset="2"/>
                        <a:defRPr sz="1400">
                          <a:solidFill>
                            <a:schemeClr val="tx1"/>
                          </a:solidFill>
                          <a:latin typeface="Arial" panose="020B0604020202020204" pitchFamily="34" charset="0"/>
                        </a:defRPr>
                      </a:lvl3pPr>
                      <a:lvl4pPr>
                        <a:spcBef>
                          <a:spcPct val="20000"/>
                        </a:spcBef>
                        <a:buClr>
                          <a:schemeClr val="accent1"/>
                        </a:buClr>
                        <a:defRPr sz="1400">
                          <a:solidFill>
                            <a:schemeClr val="tx1"/>
                          </a:solidFill>
                          <a:latin typeface="Arial" panose="020B0604020202020204" pitchFamily="34" charset="0"/>
                        </a:defRPr>
                      </a:lvl4pPr>
                      <a:lvl5pPr>
                        <a:spcBef>
                          <a:spcPct val="20000"/>
                        </a:spcBef>
                        <a:buClr>
                          <a:schemeClr val="accent1"/>
                        </a:buClr>
                        <a:buFont typeface="Wingdings" pitchFamily="2" charset="2"/>
                        <a:defRPr sz="1400">
                          <a:solidFill>
                            <a:schemeClr val="tx1"/>
                          </a:solidFill>
                          <a:latin typeface="Arial" panose="020B0604020202020204" pitchFamily="34" charset="0"/>
                        </a:defRPr>
                      </a:lvl5pPr>
                      <a:lvl6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6pPr>
                      <a:lvl7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7pPr>
                      <a:lvl8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8pPr>
                      <a:lvl9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en-US" sz="1400" b="0" i="0" u="none" strike="noStrike" cap="none" normalizeH="0" baseline="0">
                          <a:ln>
                            <a:noFill/>
                          </a:ln>
                          <a:solidFill>
                            <a:schemeClr val="tx1"/>
                          </a:solidFill>
                          <a:effectLst/>
                          <a:latin typeface="Corbel" panose="020B0503020204020204" pitchFamily="34" charset="0"/>
                        </a:rPr>
                        <a:t>1.77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itchFamily="2" charset="2"/>
                        <a:defRPr sz="2000">
                          <a:solidFill>
                            <a:schemeClr val="tx1"/>
                          </a:solidFill>
                          <a:latin typeface="Arial" panose="020B0604020202020204" pitchFamily="34" charset="0"/>
                        </a:defRPr>
                      </a:lvl1pPr>
                      <a:lvl2pPr>
                        <a:spcBef>
                          <a:spcPct val="20000"/>
                        </a:spcBef>
                        <a:buClr>
                          <a:schemeClr val="accent1"/>
                        </a:buClr>
                        <a:buFont typeface="Wingdings" pitchFamily="2" charset="2"/>
                        <a:defRPr>
                          <a:solidFill>
                            <a:schemeClr val="tx1"/>
                          </a:solidFill>
                          <a:latin typeface="Arial" panose="020B0604020202020204" pitchFamily="34" charset="0"/>
                        </a:defRPr>
                      </a:lvl2pPr>
                      <a:lvl3pPr>
                        <a:spcBef>
                          <a:spcPct val="20000"/>
                        </a:spcBef>
                        <a:buClr>
                          <a:schemeClr val="accent1"/>
                        </a:buClr>
                        <a:buFont typeface="Wingdings" pitchFamily="2" charset="2"/>
                        <a:defRPr sz="1400">
                          <a:solidFill>
                            <a:schemeClr val="tx1"/>
                          </a:solidFill>
                          <a:latin typeface="Arial" panose="020B0604020202020204" pitchFamily="34" charset="0"/>
                        </a:defRPr>
                      </a:lvl3pPr>
                      <a:lvl4pPr>
                        <a:spcBef>
                          <a:spcPct val="20000"/>
                        </a:spcBef>
                        <a:buClr>
                          <a:schemeClr val="accent1"/>
                        </a:buClr>
                        <a:defRPr sz="1400">
                          <a:solidFill>
                            <a:schemeClr val="tx1"/>
                          </a:solidFill>
                          <a:latin typeface="Arial" panose="020B0604020202020204" pitchFamily="34" charset="0"/>
                        </a:defRPr>
                      </a:lvl4pPr>
                      <a:lvl5pPr>
                        <a:spcBef>
                          <a:spcPct val="20000"/>
                        </a:spcBef>
                        <a:buClr>
                          <a:schemeClr val="accent1"/>
                        </a:buClr>
                        <a:buFont typeface="Wingdings" pitchFamily="2" charset="2"/>
                        <a:defRPr sz="1400">
                          <a:solidFill>
                            <a:schemeClr val="tx1"/>
                          </a:solidFill>
                          <a:latin typeface="Arial" panose="020B0604020202020204" pitchFamily="34" charset="0"/>
                        </a:defRPr>
                      </a:lvl5pPr>
                      <a:lvl6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6pPr>
                      <a:lvl7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7pPr>
                      <a:lvl8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8pPr>
                      <a:lvl9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en-US" sz="1400" b="0" i="0" u="none" strike="noStrike" cap="none" normalizeH="0" baseline="0">
                          <a:ln>
                            <a:noFill/>
                          </a:ln>
                          <a:solidFill>
                            <a:schemeClr val="tx1"/>
                          </a:solidFill>
                          <a:effectLst/>
                          <a:latin typeface="Corbel" panose="020B0503020204020204" pitchFamily="34" charset="0"/>
                        </a:rPr>
                        <a:t>1.94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itchFamily="2" charset="2"/>
                        <a:defRPr sz="2000">
                          <a:solidFill>
                            <a:schemeClr val="tx1"/>
                          </a:solidFill>
                          <a:latin typeface="Arial" panose="020B0604020202020204" pitchFamily="34" charset="0"/>
                        </a:defRPr>
                      </a:lvl1pPr>
                      <a:lvl2pPr>
                        <a:spcBef>
                          <a:spcPct val="20000"/>
                        </a:spcBef>
                        <a:buClr>
                          <a:schemeClr val="accent1"/>
                        </a:buClr>
                        <a:buFont typeface="Wingdings" pitchFamily="2" charset="2"/>
                        <a:defRPr>
                          <a:solidFill>
                            <a:schemeClr val="tx1"/>
                          </a:solidFill>
                          <a:latin typeface="Arial" panose="020B0604020202020204" pitchFamily="34" charset="0"/>
                        </a:defRPr>
                      </a:lvl2pPr>
                      <a:lvl3pPr>
                        <a:spcBef>
                          <a:spcPct val="20000"/>
                        </a:spcBef>
                        <a:buClr>
                          <a:schemeClr val="accent1"/>
                        </a:buClr>
                        <a:buFont typeface="Wingdings" pitchFamily="2" charset="2"/>
                        <a:defRPr sz="1400">
                          <a:solidFill>
                            <a:schemeClr val="tx1"/>
                          </a:solidFill>
                          <a:latin typeface="Arial" panose="020B0604020202020204" pitchFamily="34" charset="0"/>
                        </a:defRPr>
                      </a:lvl3pPr>
                      <a:lvl4pPr>
                        <a:spcBef>
                          <a:spcPct val="20000"/>
                        </a:spcBef>
                        <a:buClr>
                          <a:schemeClr val="accent1"/>
                        </a:buClr>
                        <a:defRPr sz="1400">
                          <a:solidFill>
                            <a:schemeClr val="tx1"/>
                          </a:solidFill>
                          <a:latin typeface="Arial" panose="020B0604020202020204" pitchFamily="34" charset="0"/>
                        </a:defRPr>
                      </a:lvl4pPr>
                      <a:lvl5pPr>
                        <a:spcBef>
                          <a:spcPct val="20000"/>
                        </a:spcBef>
                        <a:buClr>
                          <a:schemeClr val="accent1"/>
                        </a:buClr>
                        <a:buFont typeface="Wingdings" pitchFamily="2" charset="2"/>
                        <a:defRPr sz="1400">
                          <a:solidFill>
                            <a:schemeClr val="tx1"/>
                          </a:solidFill>
                          <a:latin typeface="Arial" panose="020B0604020202020204" pitchFamily="34" charset="0"/>
                        </a:defRPr>
                      </a:lvl5pPr>
                      <a:lvl6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6pPr>
                      <a:lvl7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7pPr>
                      <a:lvl8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8pPr>
                      <a:lvl9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en-US" sz="1400" b="0" i="0" u="none" strike="noStrike" cap="none" normalizeH="0" baseline="0">
                          <a:ln>
                            <a:noFill/>
                          </a:ln>
                          <a:solidFill>
                            <a:schemeClr val="tx1"/>
                          </a:solidFill>
                          <a:effectLst/>
                          <a:latin typeface="Corbel" panose="020B0503020204020204" pitchFamily="34" charset="0"/>
                        </a:rPr>
                        <a:t>2.06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itchFamily="2" charset="2"/>
                        <a:defRPr sz="2000">
                          <a:solidFill>
                            <a:schemeClr val="tx1"/>
                          </a:solidFill>
                          <a:latin typeface="Arial" panose="020B0604020202020204" pitchFamily="34" charset="0"/>
                        </a:defRPr>
                      </a:lvl1pPr>
                      <a:lvl2pPr>
                        <a:spcBef>
                          <a:spcPct val="20000"/>
                        </a:spcBef>
                        <a:buClr>
                          <a:schemeClr val="accent1"/>
                        </a:buClr>
                        <a:buFont typeface="Wingdings" pitchFamily="2" charset="2"/>
                        <a:defRPr>
                          <a:solidFill>
                            <a:schemeClr val="tx1"/>
                          </a:solidFill>
                          <a:latin typeface="Arial" panose="020B0604020202020204" pitchFamily="34" charset="0"/>
                        </a:defRPr>
                      </a:lvl2pPr>
                      <a:lvl3pPr>
                        <a:spcBef>
                          <a:spcPct val="20000"/>
                        </a:spcBef>
                        <a:buClr>
                          <a:schemeClr val="accent1"/>
                        </a:buClr>
                        <a:buFont typeface="Wingdings" pitchFamily="2" charset="2"/>
                        <a:defRPr sz="1400">
                          <a:solidFill>
                            <a:schemeClr val="tx1"/>
                          </a:solidFill>
                          <a:latin typeface="Arial" panose="020B0604020202020204" pitchFamily="34" charset="0"/>
                        </a:defRPr>
                      </a:lvl3pPr>
                      <a:lvl4pPr>
                        <a:spcBef>
                          <a:spcPct val="20000"/>
                        </a:spcBef>
                        <a:buClr>
                          <a:schemeClr val="accent1"/>
                        </a:buClr>
                        <a:defRPr sz="1400">
                          <a:solidFill>
                            <a:schemeClr val="tx1"/>
                          </a:solidFill>
                          <a:latin typeface="Arial" panose="020B0604020202020204" pitchFamily="34" charset="0"/>
                        </a:defRPr>
                      </a:lvl4pPr>
                      <a:lvl5pPr>
                        <a:spcBef>
                          <a:spcPct val="20000"/>
                        </a:spcBef>
                        <a:buClr>
                          <a:schemeClr val="accent1"/>
                        </a:buClr>
                        <a:buFont typeface="Wingdings" pitchFamily="2" charset="2"/>
                        <a:defRPr sz="1400">
                          <a:solidFill>
                            <a:schemeClr val="tx1"/>
                          </a:solidFill>
                          <a:latin typeface="Arial" panose="020B0604020202020204" pitchFamily="34" charset="0"/>
                        </a:defRPr>
                      </a:lvl5pPr>
                      <a:lvl6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6pPr>
                      <a:lvl7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7pPr>
                      <a:lvl8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8pPr>
                      <a:lvl9pPr fontAlgn="base">
                        <a:spcBef>
                          <a:spcPct val="20000"/>
                        </a:spcBef>
                        <a:spcAft>
                          <a:spcPct val="0"/>
                        </a:spcAft>
                        <a:buClr>
                          <a:schemeClr val="accent1"/>
                        </a:buClr>
                        <a:buFont typeface="Wingdings" pitchFamily="2" charset="2"/>
                        <a:defRPr sz="14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en-US" sz="1400" b="0" i="0" u="none" strike="noStrike" cap="none" normalizeH="0" baseline="0" dirty="0">
                          <a:ln>
                            <a:noFill/>
                          </a:ln>
                          <a:solidFill>
                            <a:schemeClr val="tx1"/>
                          </a:solidFill>
                          <a:effectLst/>
                          <a:latin typeface="Corbel" panose="020B0503020204020204" pitchFamily="34" charset="0"/>
                        </a:rPr>
                        <a:t>2.21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66962926"/>
                  </a:ext>
                </a:extLst>
              </a:tr>
            </a:tbl>
          </a:graphicData>
        </a:graphic>
      </p:graphicFrame>
      <p:pic>
        <p:nvPicPr>
          <p:cNvPr id="220216" name="Picture 56">
            <a:extLst>
              <a:ext uri="{FF2B5EF4-FFF2-40B4-BE49-F238E27FC236}">
                <a16:creationId xmlns:a16="http://schemas.microsoft.com/office/drawing/2014/main" id="{EB9C15AE-E5F1-6E32-C6B9-85461F8E16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165"/>
          <a:stretch>
            <a:fillRect/>
          </a:stretch>
        </p:blipFill>
        <p:spPr bwMode="auto">
          <a:xfrm>
            <a:off x="2438400" y="1683926"/>
            <a:ext cx="5676900" cy="312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0226" name="Text Box 66">
            <a:extLst>
              <a:ext uri="{FF2B5EF4-FFF2-40B4-BE49-F238E27FC236}">
                <a16:creationId xmlns:a16="http://schemas.microsoft.com/office/drawing/2014/main" id="{7254E661-B833-88F5-9809-CF52E314C887}"/>
              </a:ext>
            </a:extLst>
          </p:cNvPr>
          <p:cNvSpPr txBox="1">
            <a:spLocks noChangeArrowheads="1"/>
          </p:cNvSpPr>
          <p:nvPr/>
        </p:nvSpPr>
        <p:spPr bwMode="auto">
          <a:xfrm>
            <a:off x="299413" y="2085010"/>
            <a:ext cx="2308965"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err="1">
                <a:latin typeface="Corbel" panose="020B0503020204020204" pitchFamily="34" charset="0"/>
              </a:rPr>
              <a:t>n</a:t>
            </a:r>
            <a:r>
              <a:rPr lang="en-US" altLang="en-US" baseline="-25000" dirty="0" err="1">
                <a:latin typeface="Corbel" panose="020B0503020204020204" pitchFamily="34" charset="0"/>
              </a:rPr>
              <a:t>CO</a:t>
            </a:r>
            <a:r>
              <a:rPr lang="en-US" altLang="en-US" baseline="-25000" dirty="0">
                <a:latin typeface="Corbel" panose="020B0503020204020204" pitchFamily="34" charset="0"/>
              </a:rPr>
              <a:t>,</a:t>
            </a:r>
            <a:r>
              <a:rPr lang="en-US" altLang="en-US" baseline="-25000" dirty="0">
                <a:latin typeface="Corbel" panose="020B0503020204020204" pitchFamily="34" charset="0"/>
                <a:cs typeface="Arial" panose="020B0604020202020204" pitchFamily="34" charset="0"/>
              </a:rPr>
              <a:t>∞</a:t>
            </a:r>
            <a:r>
              <a:rPr lang="en-US" altLang="en-US" dirty="0">
                <a:latin typeface="Corbel" panose="020B0503020204020204" pitchFamily="34" charset="0"/>
                <a:cs typeface="Arial" panose="020B0604020202020204" pitchFamily="34" charset="0"/>
              </a:rPr>
              <a:t> = 2.89 </a:t>
            </a:r>
            <a:r>
              <a:rPr lang="el-GR" altLang="en-US" dirty="0">
                <a:latin typeface="Corbel" panose="020B0503020204020204" pitchFamily="34" charset="0"/>
                <a:cs typeface="Arial" panose="020B0604020202020204" pitchFamily="34" charset="0"/>
              </a:rPr>
              <a:t>μ</a:t>
            </a:r>
            <a:r>
              <a:rPr lang="en-US" altLang="en-US" dirty="0">
                <a:latin typeface="Corbel" panose="020B0503020204020204" pitchFamily="34" charset="0"/>
                <a:cs typeface="Arial" panose="020B0604020202020204" pitchFamily="34" charset="0"/>
              </a:rPr>
              <a:t>mol/</a:t>
            </a:r>
            <a:r>
              <a:rPr lang="en-US" altLang="en-US" dirty="0" err="1">
                <a:latin typeface="Corbel" panose="020B0503020204020204" pitchFamily="34" charset="0"/>
                <a:cs typeface="Arial" panose="020B0604020202020204" pitchFamily="34" charset="0"/>
              </a:rPr>
              <a:t>g</a:t>
            </a:r>
            <a:r>
              <a:rPr lang="en-US" altLang="en-US" baseline="-25000" dirty="0" err="1">
                <a:latin typeface="Corbel" panose="020B0503020204020204" pitchFamily="34" charset="0"/>
                <a:cs typeface="Arial" panose="020B0604020202020204" pitchFamily="34" charset="0"/>
              </a:rPr>
              <a:t>cat</a:t>
            </a:r>
            <a:endParaRPr lang="en-US" altLang="en-US" dirty="0">
              <a:latin typeface="Corbel" panose="020B0503020204020204" pitchFamily="34" charset="0"/>
              <a:cs typeface="Arial" panose="020B0604020202020204" pitchFamily="34" charset="0"/>
            </a:endParaRPr>
          </a:p>
          <a:p>
            <a:r>
              <a:rPr lang="en-US" altLang="en-US" i="1" dirty="0">
                <a:latin typeface="Corbel" panose="020B0503020204020204" pitchFamily="34" charset="0"/>
                <a:cs typeface="Arial" panose="020B0604020202020204" pitchFamily="34" charset="0"/>
              </a:rPr>
              <a:t>K</a:t>
            </a:r>
            <a:r>
              <a:rPr lang="en-US" altLang="en-US" dirty="0">
                <a:latin typeface="Corbel" panose="020B0503020204020204" pitchFamily="34" charset="0"/>
                <a:cs typeface="Arial" panose="020B0604020202020204" pitchFamily="34" charset="0"/>
              </a:rPr>
              <a:t> = 0.0082</a:t>
            </a:r>
            <a:endParaRPr lang="en-US" altLang="en-US" baseline="-25000" dirty="0">
              <a:latin typeface="Corbel" panose="020B0503020204020204" pitchFamily="34" charset="0"/>
              <a:cs typeface="Arial" panose="020B0604020202020204" pitchFamily="34" charset="0"/>
            </a:endParaRPr>
          </a:p>
          <a:p>
            <a:endParaRPr lang="en-US" altLang="en-US" baseline="-25000" dirty="0">
              <a:latin typeface="Corbel" panose="020B0503020204020204" pitchFamily="34" charset="0"/>
              <a:cs typeface="Arial" panose="020B0604020202020204" pitchFamily="34" charset="0"/>
            </a:endParaRPr>
          </a:p>
          <a:p>
            <a:r>
              <a:rPr lang="en-US" altLang="en-US" dirty="0">
                <a:latin typeface="Corbel" panose="020B0503020204020204" pitchFamily="34" charset="0"/>
                <a:cs typeface="Arial" panose="020B0604020202020204" pitchFamily="34" charset="0"/>
              </a:rPr>
              <a:t>10</a:t>
            </a:r>
            <a:r>
              <a:rPr lang="en-US" altLang="en-US" baseline="30000" dirty="0">
                <a:latin typeface="Corbel" panose="020B0503020204020204" pitchFamily="34" charset="0"/>
                <a:cs typeface="Arial" panose="020B0604020202020204" pitchFamily="34" charset="0"/>
              </a:rPr>
              <a:t>-3</a:t>
            </a:r>
            <a:r>
              <a:rPr lang="en-US" altLang="en-US" dirty="0">
                <a:latin typeface="Corbel" panose="020B0503020204020204" pitchFamily="34" charset="0"/>
                <a:cs typeface="Arial" panose="020B0604020202020204" pitchFamily="34" charset="0"/>
              </a:rPr>
              <a:t> mol Ru</a:t>
            </a:r>
          </a:p>
          <a:p>
            <a:endParaRPr lang="en-US" altLang="en-US" dirty="0">
              <a:latin typeface="Corbel" panose="020B0503020204020204" pitchFamily="34" charset="0"/>
              <a:cs typeface="Arial" panose="020B0604020202020204" pitchFamily="34" charset="0"/>
            </a:endParaRPr>
          </a:p>
          <a:p>
            <a:r>
              <a:rPr lang="en-US" altLang="en-US" dirty="0">
                <a:latin typeface="Corbel" panose="020B0503020204020204" pitchFamily="34" charset="0"/>
                <a:cs typeface="Arial" panose="020B0604020202020204" pitchFamily="34" charset="0"/>
              </a:rPr>
              <a:t>Dispersion </a:t>
            </a:r>
          </a:p>
          <a:p>
            <a:r>
              <a:rPr lang="en-US" altLang="en-US" dirty="0">
                <a:latin typeface="Corbel" panose="020B0503020204020204" pitchFamily="34" charset="0"/>
                <a:cs typeface="Arial" panose="020B0604020202020204" pitchFamily="34" charset="0"/>
              </a:rPr>
              <a:t>(</a:t>
            </a:r>
            <a:r>
              <a:rPr lang="en-US" altLang="en-US" dirty="0" err="1">
                <a:latin typeface="Corbel" panose="020B0503020204020204" pitchFamily="34" charset="0"/>
                <a:cs typeface="Arial" panose="020B0604020202020204" pitchFamily="34" charset="0"/>
              </a:rPr>
              <a:t>mol</a:t>
            </a:r>
            <a:r>
              <a:rPr lang="en-US" altLang="en-US" baseline="-25000" dirty="0" err="1">
                <a:latin typeface="Corbel" panose="020B0503020204020204" pitchFamily="34" charset="0"/>
                <a:cs typeface="Arial" panose="020B0604020202020204" pitchFamily="34" charset="0"/>
              </a:rPr>
              <a:t>CO</a:t>
            </a:r>
            <a:r>
              <a:rPr lang="en-US" altLang="en-US" dirty="0">
                <a:latin typeface="Corbel" panose="020B0503020204020204" pitchFamily="34" charset="0"/>
                <a:cs typeface="Arial" panose="020B0604020202020204" pitchFamily="34" charset="0"/>
              </a:rPr>
              <a:t>/</a:t>
            </a:r>
            <a:r>
              <a:rPr lang="en-US" altLang="en-US" dirty="0" err="1">
                <a:latin typeface="Corbel" panose="020B0503020204020204" pitchFamily="34" charset="0"/>
                <a:cs typeface="Arial" panose="020B0604020202020204" pitchFamily="34" charset="0"/>
              </a:rPr>
              <a:t>mol</a:t>
            </a:r>
            <a:r>
              <a:rPr lang="en-US" altLang="en-US" baseline="-25000" dirty="0" err="1">
                <a:latin typeface="Corbel" panose="020B0503020204020204" pitchFamily="34" charset="0"/>
                <a:cs typeface="Arial" panose="020B0604020202020204" pitchFamily="34" charset="0"/>
              </a:rPr>
              <a:t>Ru</a:t>
            </a:r>
            <a:r>
              <a:rPr lang="en-US" altLang="en-US" dirty="0">
                <a:latin typeface="Corbel" panose="020B0503020204020204" pitchFamily="34" charset="0"/>
                <a:cs typeface="Arial" panose="020B0604020202020204" pitchFamily="34" charset="0"/>
              </a:rPr>
              <a:t>) = 0.29%</a:t>
            </a:r>
          </a:p>
          <a:p>
            <a:endParaRPr lang="en-US" altLang="en-US" dirty="0">
              <a:latin typeface="Corbel" panose="020B0503020204020204" pitchFamily="34" charset="0"/>
              <a:cs typeface="Arial" panose="020B0604020202020204" pitchFamily="34" charset="0"/>
            </a:endParaRPr>
          </a:p>
          <a:p>
            <a:r>
              <a:rPr lang="en-US" altLang="en-US" dirty="0">
                <a:latin typeface="Corbel" panose="020B0503020204020204" pitchFamily="34" charset="0"/>
                <a:cs typeface="Arial" panose="020B0604020202020204" pitchFamily="34" charset="0"/>
              </a:rPr>
              <a:t>~1000 atoms</a:t>
            </a:r>
          </a:p>
        </p:txBody>
      </p:sp>
      <p:graphicFrame>
        <p:nvGraphicFramePr>
          <p:cNvPr id="220234" name="Object 74">
            <a:extLst>
              <a:ext uri="{FF2B5EF4-FFF2-40B4-BE49-F238E27FC236}">
                <a16:creationId xmlns:a16="http://schemas.microsoft.com/office/drawing/2014/main" id="{FF1B4FCB-E319-66AD-C99E-2B566F093386}"/>
              </a:ext>
            </a:extLst>
          </p:cNvPr>
          <p:cNvGraphicFramePr>
            <a:graphicFrameLocks noChangeAspect="1"/>
          </p:cNvGraphicFramePr>
          <p:nvPr/>
        </p:nvGraphicFramePr>
        <p:xfrm>
          <a:off x="6186488" y="3797300"/>
          <a:ext cx="1331912" cy="419100"/>
        </p:xfrm>
        <a:graphic>
          <a:graphicData uri="http://schemas.openxmlformats.org/presentationml/2006/ole">
            <mc:AlternateContent xmlns:mc="http://schemas.openxmlformats.org/markup-compatibility/2006">
              <mc:Choice xmlns:v="urn:schemas-microsoft-com:vml" Requires="v">
                <p:oleObj name="Equation" r:id="rId4" imgW="32473900" imgH="10236200" progId="Equation.DSMT4">
                  <p:embed/>
                </p:oleObj>
              </mc:Choice>
              <mc:Fallback>
                <p:oleObj name="Equation" r:id="rId4" imgW="32473900" imgH="10236200" progId="Equation.DSMT4">
                  <p:embed/>
                  <p:pic>
                    <p:nvPicPr>
                      <p:cNvPr id="0" name="Object 7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86488" y="3797300"/>
                        <a:ext cx="1331912" cy="4191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0231" name="Object 71">
            <a:extLst>
              <a:ext uri="{FF2B5EF4-FFF2-40B4-BE49-F238E27FC236}">
                <a16:creationId xmlns:a16="http://schemas.microsoft.com/office/drawing/2014/main" id="{E891DB1A-823B-855F-6A3E-ED8D4F3B1A10}"/>
              </a:ext>
            </a:extLst>
          </p:cNvPr>
          <p:cNvGraphicFramePr>
            <a:graphicFrameLocks noGrp="1" noChangeAspect="1"/>
          </p:cNvGraphicFramePr>
          <p:nvPr>
            <p:ph sz="quarter" idx="4294967295"/>
            <p:extLst>
              <p:ext uri="{D42A27DB-BD31-4B8C-83A1-F6EECF244321}">
                <p14:modId xmlns:p14="http://schemas.microsoft.com/office/powerpoint/2010/main" val="1170090946"/>
              </p:ext>
            </p:extLst>
          </p:nvPr>
        </p:nvGraphicFramePr>
        <p:xfrm>
          <a:off x="3429000" y="2085010"/>
          <a:ext cx="1055688" cy="431800"/>
        </p:xfrm>
        <a:graphic>
          <a:graphicData uri="http://schemas.openxmlformats.org/presentationml/2006/ole">
            <mc:AlternateContent xmlns:mc="http://schemas.openxmlformats.org/markup-compatibility/2006">
              <mc:Choice xmlns:v="urn:schemas-microsoft-com:vml" Requires="v">
                <p:oleObj name="Equation" r:id="rId6" imgW="25742900" imgH="10528300" progId="Equation.DSMT4">
                  <p:embed/>
                </p:oleObj>
              </mc:Choice>
              <mc:Fallback>
                <p:oleObj name="Equation" r:id="rId6" imgW="25742900" imgH="10528300" progId="Equation.DSMT4">
                  <p:embed/>
                  <p:pic>
                    <p:nvPicPr>
                      <p:cNvPr id="0" name="Object 7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29000" y="2085010"/>
                        <a:ext cx="1055688" cy="431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a:extLst>
              <a:ext uri="{FF2B5EF4-FFF2-40B4-BE49-F238E27FC236}">
                <a16:creationId xmlns:a16="http://schemas.microsoft.com/office/drawing/2014/main" id="{CEA1B9F6-32A6-3FC5-B5F1-3CA485127E9A}"/>
              </a:ext>
            </a:extLst>
          </p:cNvPr>
          <p:cNvSpPr>
            <a:spLocks noGrp="1" noChangeArrowheads="1"/>
          </p:cNvSpPr>
          <p:nvPr>
            <p:ph type="title"/>
          </p:nvPr>
        </p:nvSpPr>
        <p:spPr/>
        <p:txBody>
          <a:bodyPr>
            <a:normAutofit fontScale="90000"/>
          </a:bodyPr>
          <a:lstStyle/>
          <a:p>
            <a:r>
              <a:rPr lang="en-US" altLang="en-US" dirty="0" err="1"/>
              <a:t>Brunauer</a:t>
            </a:r>
            <a:r>
              <a:rPr lang="en-US" altLang="en-US" dirty="0"/>
              <a:t>-Emmett-Teller Isotherm (BET)</a:t>
            </a:r>
          </a:p>
        </p:txBody>
      </p:sp>
      <p:sp>
        <p:nvSpPr>
          <p:cNvPr id="2" name="Date Placeholder 4">
            <a:extLst>
              <a:ext uri="{FF2B5EF4-FFF2-40B4-BE49-F238E27FC236}">
                <a16:creationId xmlns:a16="http://schemas.microsoft.com/office/drawing/2014/main" id="{8EA25BF6-5277-08CE-54D5-501604D7A812}"/>
              </a:ext>
            </a:extLst>
          </p:cNvPr>
          <p:cNvSpPr>
            <a:spLocks noGrp="1"/>
          </p:cNvSpPr>
          <p:nvPr>
            <p:ph type="dt" sz="half" idx="10"/>
          </p:nvPr>
        </p:nvSpPr>
        <p:spPr>
          <a:xfrm>
            <a:off x="628650" y="4736306"/>
            <a:ext cx="2057400" cy="273844"/>
          </a:xfrm>
        </p:spPr>
        <p:txBody>
          <a:bodyPr/>
          <a:lstStyle/>
          <a:p>
            <a:r>
              <a:rPr lang="en-US" altLang="en-US"/>
              <a:t>W. F. Schneider</a:t>
            </a:r>
          </a:p>
        </p:txBody>
      </p:sp>
      <p:sp>
        <p:nvSpPr>
          <p:cNvPr id="3" name="Footer Placeholder 5">
            <a:extLst>
              <a:ext uri="{FF2B5EF4-FFF2-40B4-BE49-F238E27FC236}">
                <a16:creationId xmlns:a16="http://schemas.microsoft.com/office/drawing/2014/main" id="{1BB6469D-FA6C-E275-F5AC-F0EA841DB15B}"/>
              </a:ext>
            </a:extLst>
          </p:cNvPr>
          <p:cNvSpPr>
            <a:spLocks noGrp="1"/>
          </p:cNvSpPr>
          <p:nvPr>
            <p:ph type="ftr" sz="quarter" idx="11"/>
          </p:nvPr>
        </p:nvSpPr>
        <p:spPr/>
        <p:txBody>
          <a:bodyPr/>
          <a:lstStyle/>
          <a:p>
            <a:r>
              <a:rPr lang="en-US" altLang="en-US"/>
              <a:t>CBE 60546</a:t>
            </a:r>
          </a:p>
        </p:txBody>
      </p:sp>
      <p:sp>
        <p:nvSpPr>
          <p:cNvPr id="221253" name="Rectangle 69">
            <a:extLst>
              <a:ext uri="{FF2B5EF4-FFF2-40B4-BE49-F238E27FC236}">
                <a16:creationId xmlns:a16="http://schemas.microsoft.com/office/drawing/2014/main" id="{93FB02EF-0F5A-6F9A-A991-867C337D83E4}"/>
              </a:ext>
            </a:extLst>
          </p:cNvPr>
          <p:cNvSpPr>
            <a:spLocks noGrp="1" noChangeArrowheads="1"/>
          </p:cNvSpPr>
          <p:nvPr>
            <p:ph type="body" sz="half" idx="4294967295"/>
          </p:nvPr>
        </p:nvSpPr>
        <p:spPr>
          <a:xfrm>
            <a:off x="762000" y="779463"/>
            <a:ext cx="8382000" cy="1077912"/>
          </a:xfrm>
        </p:spPr>
        <p:txBody>
          <a:bodyPr>
            <a:normAutofit fontScale="92500" lnSpcReduction="20000"/>
          </a:bodyPr>
          <a:lstStyle/>
          <a:p>
            <a:pPr>
              <a:lnSpc>
                <a:spcPct val="90000"/>
              </a:lnSpc>
            </a:pPr>
            <a:r>
              <a:rPr lang="en-US" altLang="en-US" sz="2000" dirty="0"/>
              <a:t>Relaxes Langmuir restriction to single layer adsorption</a:t>
            </a:r>
          </a:p>
          <a:p>
            <a:pPr lvl="1">
              <a:lnSpc>
                <a:spcPct val="90000"/>
              </a:lnSpc>
            </a:pPr>
            <a:r>
              <a:rPr lang="en-US" altLang="en-US" sz="1800" dirty="0"/>
              <a:t>Monolayer adsorption; multilayer condensation</a:t>
            </a:r>
          </a:p>
          <a:p>
            <a:pPr>
              <a:lnSpc>
                <a:spcPct val="90000"/>
              </a:lnSpc>
            </a:pPr>
            <a:r>
              <a:rPr lang="en-US" altLang="en-US" sz="2000" dirty="0"/>
              <a:t>Useful for total surface area measurement</a:t>
            </a:r>
          </a:p>
          <a:p>
            <a:pPr lvl="1">
              <a:lnSpc>
                <a:spcPct val="90000"/>
              </a:lnSpc>
            </a:pPr>
            <a:r>
              <a:rPr lang="en-US" altLang="en-US" sz="1800" dirty="0"/>
              <a:t>Adsorption of boiling N</a:t>
            </a:r>
            <a:r>
              <a:rPr lang="en-US" altLang="en-US" sz="1800" baseline="-25000" dirty="0"/>
              <a:t>2</a:t>
            </a:r>
            <a:r>
              <a:rPr lang="en-US" altLang="en-US" sz="1800" dirty="0"/>
              <a:t> (78 K)</a:t>
            </a:r>
          </a:p>
        </p:txBody>
      </p:sp>
      <p:sp>
        <p:nvSpPr>
          <p:cNvPr id="221188" name="Rectangle 4">
            <a:extLst>
              <a:ext uri="{FF2B5EF4-FFF2-40B4-BE49-F238E27FC236}">
                <a16:creationId xmlns:a16="http://schemas.microsoft.com/office/drawing/2014/main" id="{977246AA-D28B-ED40-96C8-722721DE8401}"/>
              </a:ext>
            </a:extLst>
          </p:cNvPr>
          <p:cNvSpPr>
            <a:spLocks noChangeArrowheads="1"/>
          </p:cNvSpPr>
          <p:nvPr/>
        </p:nvSpPr>
        <p:spPr bwMode="auto">
          <a:xfrm>
            <a:off x="685800" y="4095750"/>
            <a:ext cx="30480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Solid Surface</a:t>
            </a:r>
          </a:p>
        </p:txBody>
      </p:sp>
      <p:sp>
        <p:nvSpPr>
          <p:cNvPr id="221189" name="Oval 5">
            <a:extLst>
              <a:ext uri="{FF2B5EF4-FFF2-40B4-BE49-F238E27FC236}">
                <a16:creationId xmlns:a16="http://schemas.microsoft.com/office/drawing/2014/main" id="{3C4382B8-7922-CC82-2A80-2CF1D8479D48}"/>
              </a:ext>
            </a:extLst>
          </p:cNvPr>
          <p:cNvSpPr>
            <a:spLocks noChangeArrowheads="1"/>
          </p:cNvSpPr>
          <p:nvPr/>
        </p:nvSpPr>
        <p:spPr bwMode="auto">
          <a:xfrm>
            <a:off x="1447800" y="34861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190" name="Oval 6">
            <a:extLst>
              <a:ext uri="{FF2B5EF4-FFF2-40B4-BE49-F238E27FC236}">
                <a16:creationId xmlns:a16="http://schemas.microsoft.com/office/drawing/2014/main" id="{63A7A122-C9D0-32B2-45DC-FC432885455A}"/>
              </a:ext>
            </a:extLst>
          </p:cNvPr>
          <p:cNvSpPr>
            <a:spLocks noChangeArrowheads="1"/>
          </p:cNvSpPr>
          <p:nvPr/>
        </p:nvSpPr>
        <p:spPr bwMode="auto">
          <a:xfrm>
            <a:off x="1143000" y="34861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191" name="Oval 7">
            <a:extLst>
              <a:ext uri="{FF2B5EF4-FFF2-40B4-BE49-F238E27FC236}">
                <a16:creationId xmlns:a16="http://schemas.microsoft.com/office/drawing/2014/main" id="{8EAFD816-038A-840D-61C3-2B1F16740B6C}"/>
              </a:ext>
            </a:extLst>
          </p:cNvPr>
          <p:cNvSpPr>
            <a:spLocks noChangeArrowheads="1"/>
          </p:cNvSpPr>
          <p:nvPr/>
        </p:nvSpPr>
        <p:spPr bwMode="auto">
          <a:xfrm>
            <a:off x="838200" y="34861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192" name="Oval 8">
            <a:extLst>
              <a:ext uri="{FF2B5EF4-FFF2-40B4-BE49-F238E27FC236}">
                <a16:creationId xmlns:a16="http://schemas.microsoft.com/office/drawing/2014/main" id="{48F13B3A-B028-964D-DFB8-6FE5080696DD}"/>
              </a:ext>
            </a:extLst>
          </p:cNvPr>
          <p:cNvSpPr>
            <a:spLocks noChangeArrowheads="1"/>
          </p:cNvSpPr>
          <p:nvPr/>
        </p:nvSpPr>
        <p:spPr bwMode="auto">
          <a:xfrm>
            <a:off x="685800" y="37909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193" name="Oval 9">
            <a:extLst>
              <a:ext uri="{FF2B5EF4-FFF2-40B4-BE49-F238E27FC236}">
                <a16:creationId xmlns:a16="http://schemas.microsoft.com/office/drawing/2014/main" id="{E0809D4A-E00E-F5C6-62BF-2BFDAF95734C}"/>
              </a:ext>
            </a:extLst>
          </p:cNvPr>
          <p:cNvSpPr>
            <a:spLocks noChangeArrowheads="1"/>
          </p:cNvSpPr>
          <p:nvPr/>
        </p:nvSpPr>
        <p:spPr bwMode="auto">
          <a:xfrm>
            <a:off x="990600" y="37909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194" name="Oval 10">
            <a:extLst>
              <a:ext uri="{FF2B5EF4-FFF2-40B4-BE49-F238E27FC236}">
                <a16:creationId xmlns:a16="http://schemas.microsoft.com/office/drawing/2014/main" id="{2508DB30-B05D-F370-5719-10D5F68F2364}"/>
              </a:ext>
            </a:extLst>
          </p:cNvPr>
          <p:cNvSpPr>
            <a:spLocks noChangeArrowheads="1"/>
          </p:cNvSpPr>
          <p:nvPr/>
        </p:nvSpPr>
        <p:spPr bwMode="auto">
          <a:xfrm>
            <a:off x="1295400" y="37909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195" name="Oval 11">
            <a:extLst>
              <a:ext uri="{FF2B5EF4-FFF2-40B4-BE49-F238E27FC236}">
                <a16:creationId xmlns:a16="http://schemas.microsoft.com/office/drawing/2014/main" id="{AF0EB176-7906-A30B-9AEC-B5900EE1CD91}"/>
              </a:ext>
            </a:extLst>
          </p:cNvPr>
          <p:cNvSpPr>
            <a:spLocks noChangeArrowheads="1"/>
          </p:cNvSpPr>
          <p:nvPr/>
        </p:nvSpPr>
        <p:spPr bwMode="auto">
          <a:xfrm>
            <a:off x="1600200" y="37909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196" name="Oval 12">
            <a:extLst>
              <a:ext uri="{FF2B5EF4-FFF2-40B4-BE49-F238E27FC236}">
                <a16:creationId xmlns:a16="http://schemas.microsoft.com/office/drawing/2014/main" id="{A08D4CE7-93EB-0FE6-E59A-9330B10C2664}"/>
              </a:ext>
            </a:extLst>
          </p:cNvPr>
          <p:cNvSpPr>
            <a:spLocks noChangeArrowheads="1"/>
          </p:cNvSpPr>
          <p:nvPr/>
        </p:nvSpPr>
        <p:spPr bwMode="auto">
          <a:xfrm>
            <a:off x="1905000" y="37909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197" name="Oval 13">
            <a:extLst>
              <a:ext uri="{FF2B5EF4-FFF2-40B4-BE49-F238E27FC236}">
                <a16:creationId xmlns:a16="http://schemas.microsoft.com/office/drawing/2014/main" id="{92AF4E4A-9DD6-7FBB-F154-920A4CF4DE26}"/>
              </a:ext>
            </a:extLst>
          </p:cNvPr>
          <p:cNvSpPr>
            <a:spLocks noChangeArrowheads="1"/>
          </p:cNvSpPr>
          <p:nvPr/>
        </p:nvSpPr>
        <p:spPr bwMode="auto">
          <a:xfrm>
            <a:off x="2209800" y="37909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198" name="Oval 14">
            <a:extLst>
              <a:ext uri="{FF2B5EF4-FFF2-40B4-BE49-F238E27FC236}">
                <a16:creationId xmlns:a16="http://schemas.microsoft.com/office/drawing/2014/main" id="{FB044311-DC73-5030-8BB2-CAE9CD81BAD4}"/>
              </a:ext>
            </a:extLst>
          </p:cNvPr>
          <p:cNvSpPr>
            <a:spLocks noChangeArrowheads="1"/>
          </p:cNvSpPr>
          <p:nvPr/>
        </p:nvSpPr>
        <p:spPr bwMode="auto">
          <a:xfrm>
            <a:off x="2514600" y="37909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199" name="Oval 15">
            <a:extLst>
              <a:ext uri="{FF2B5EF4-FFF2-40B4-BE49-F238E27FC236}">
                <a16:creationId xmlns:a16="http://schemas.microsoft.com/office/drawing/2014/main" id="{445A20E4-5FA9-6732-56A7-9D1734224C3F}"/>
              </a:ext>
            </a:extLst>
          </p:cNvPr>
          <p:cNvSpPr>
            <a:spLocks noChangeArrowheads="1"/>
          </p:cNvSpPr>
          <p:nvPr/>
        </p:nvSpPr>
        <p:spPr bwMode="auto">
          <a:xfrm>
            <a:off x="2819400" y="37909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00" name="Oval 16">
            <a:extLst>
              <a:ext uri="{FF2B5EF4-FFF2-40B4-BE49-F238E27FC236}">
                <a16:creationId xmlns:a16="http://schemas.microsoft.com/office/drawing/2014/main" id="{00AC6AA5-804C-77E3-E35C-2DBADD2C8B26}"/>
              </a:ext>
            </a:extLst>
          </p:cNvPr>
          <p:cNvSpPr>
            <a:spLocks noChangeArrowheads="1"/>
          </p:cNvSpPr>
          <p:nvPr/>
        </p:nvSpPr>
        <p:spPr bwMode="auto">
          <a:xfrm>
            <a:off x="3124200" y="37909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01" name="Oval 17">
            <a:extLst>
              <a:ext uri="{FF2B5EF4-FFF2-40B4-BE49-F238E27FC236}">
                <a16:creationId xmlns:a16="http://schemas.microsoft.com/office/drawing/2014/main" id="{0F198883-8282-BBD3-2935-D6FBF341E9C1}"/>
              </a:ext>
            </a:extLst>
          </p:cNvPr>
          <p:cNvSpPr>
            <a:spLocks noChangeArrowheads="1"/>
          </p:cNvSpPr>
          <p:nvPr/>
        </p:nvSpPr>
        <p:spPr bwMode="auto">
          <a:xfrm>
            <a:off x="3429000" y="37909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02" name="Oval 18">
            <a:extLst>
              <a:ext uri="{FF2B5EF4-FFF2-40B4-BE49-F238E27FC236}">
                <a16:creationId xmlns:a16="http://schemas.microsoft.com/office/drawing/2014/main" id="{E48413C4-B3B3-9D56-8F46-5FDE3AC620D4}"/>
              </a:ext>
            </a:extLst>
          </p:cNvPr>
          <p:cNvSpPr>
            <a:spLocks noChangeArrowheads="1"/>
          </p:cNvSpPr>
          <p:nvPr/>
        </p:nvSpPr>
        <p:spPr bwMode="auto">
          <a:xfrm>
            <a:off x="2362200" y="34861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03" name="Oval 19">
            <a:extLst>
              <a:ext uri="{FF2B5EF4-FFF2-40B4-BE49-F238E27FC236}">
                <a16:creationId xmlns:a16="http://schemas.microsoft.com/office/drawing/2014/main" id="{656076DB-9C5B-8F3A-4020-37E3BB2780C4}"/>
              </a:ext>
            </a:extLst>
          </p:cNvPr>
          <p:cNvSpPr>
            <a:spLocks noChangeArrowheads="1"/>
          </p:cNvSpPr>
          <p:nvPr/>
        </p:nvSpPr>
        <p:spPr bwMode="auto">
          <a:xfrm>
            <a:off x="2057400" y="34861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04" name="Oval 20">
            <a:extLst>
              <a:ext uri="{FF2B5EF4-FFF2-40B4-BE49-F238E27FC236}">
                <a16:creationId xmlns:a16="http://schemas.microsoft.com/office/drawing/2014/main" id="{450F1016-93CB-AE93-B0C7-126A3998021A}"/>
              </a:ext>
            </a:extLst>
          </p:cNvPr>
          <p:cNvSpPr>
            <a:spLocks noChangeArrowheads="1"/>
          </p:cNvSpPr>
          <p:nvPr/>
        </p:nvSpPr>
        <p:spPr bwMode="auto">
          <a:xfrm>
            <a:off x="1752600" y="34861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05" name="Oval 21">
            <a:extLst>
              <a:ext uri="{FF2B5EF4-FFF2-40B4-BE49-F238E27FC236}">
                <a16:creationId xmlns:a16="http://schemas.microsoft.com/office/drawing/2014/main" id="{AE6FEE71-D5A5-2881-68E7-25E8B7D1D8FC}"/>
              </a:ext>
            </a:extLst>
          </p:cNvPr>
          <p:cNvSpPr>
            <a:spLocks noChangeArrowheads="1"/>
          </p:cNvSpPr>
          <p:nvPr/>
        </p:nvSpPr>
        <p:spPr bwMode="auto">
          <a:xfrm>
            <a:off x="3276600" y="34861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06" name="Oval 22">
            <a:extLst>
              <a:ext uri="{FF2B5EF4-FFF2-40B4-BE49-F238E27FC236}">
                <a16:creationId xmlns:a16="http://schemas.microsoft.com/office/drawing/2014/main" id="{A771ED03-79F4-D586-26DA-A731FB08D923}"/>
              </a:ext>
            </a:extLst>
          </p:cNvPr>
          <p:cNvSpPr>
            <a:spLocks noChangeArrowheads="1"/>
          </p:cNvSpPr>
          <p:nvPr/>
        </p:nvSpPr>
        <p:spPr bwMode="auto">
          <a:xfrm>
            <a:off x="2971800" y="34861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07" name="Oval 23">
            <a:extLst>
              <a:ext uri="{FF2B5EF4-FFF2-40B4-BE49-F238E27FC236}">
                <a16:creationId xmlns:a16="http://schemas.microsoft.com/office/drawing/2014/main" id="{179DDA15-BC2A-0DC4-D9EB-EECD5E2B7376}"/>
              </a:ext>
            </a:extLst>
          </p:cNvPr>
          <p:cNvSpPr>
            <a:spLocks noChangeArrowheads="1"/>
          </p:cNvSpPr>
          <p:nvPr/>
        </p:nvSpPr>
        <p:spPr bwMode="auto">
          <a:xfrm>
            <a:off x="2667000" y="34861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08" name="Oval 24">
            <a:extLst>
              <a:ext uri="{FF2B5EF4-FFF2-40B4-BE49-F238E27FC236}">
                <a16:creationId xmlns:a16="http://schemas.microsoft.com/office/drawing/2014/main" id="{FF25D45C-E927-A1BF-FE18-277F35858F61}"/>
              </a:ext>
            </a:extLst>
          </p:cNvPr>
          <p:cNvSpPr>
            <a:spLocks noChangeArrowheads="1"/>
          </p:cNvSpPr>
          <p:nvPr/>
        </p:nvSpPr>
        <p:spPr bwMode="auto">
          <a:xfrm>
            <a:off x="1600200" y="31813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09" name="Oval 25">
            <a:extLst>
              <a:ext uri="{FF2B5EF4-FFF2-40B4-BE49-F238E27FC236}">
                <a16:creationId xmlns:a16="http://schemas.microsoft.com/office/drawing/2014/main" id="{809EE16B-FDC8-E7FD-F656-C4759266A8D5}"/>
              </a:ext>
            </a:extLst>
          </p:cNvPr>
          <p:cNvSpPr>
            <a:spLocks noChangeArrowheads="1"/>
          </p:cNvSpPr>
          <p:nvPr/>
        </p:nvSpPr>
        <p:spPr bwMode="auto">
          <a:xfrm>
            <a:off x="1295400" y="31813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10" name="Oval 26">
            <a:extLst>
              <a:ext uri="{FF2B5EF4-FFF2-40B4-BE49-F238E27FC236}">
                <a16:creationId xmlns:a16="http://schemas.microsoft.com/office/drawing/2014/main" id="{147B8009-FC58-93DE-A6C9-77BDBA9D28D2}"/>
              </a:ext>
            </a:extLst>
          </p:cNvPr>
          <p:cNvSpPr>
            <a:spLocks noChangeArrowheads="1"/>
          </p:cNvSpPr>
          <p:nvPr/>
        </p:nvSpPr>
        <p:spPr bwMode="auto">
          <a:xfrm>
            <a:off x="990600" y="31813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11" name="Oval 27">
            <a:extLst>
              <a:ext uri="{FF2B5EF4-FFF2-40B4-BE49-F238E27FC236}">
                <a16:creationId xmlns:a16="http://schemas.microsoft.com/office/drawing/2014/main" id="{FC7CC6A2-31D0-03FD-8826-B177A166A7B8}"/>
              </a:ext>
            </a:extLst>
          </p:cNvPr>
          <p:cNvSpPr>
            <a:spLocks noChangeArrowheads="1"/>
          </p:cNvSpPr>
          <p:nvPr/>
        </p:nvSpPr>
        <p:spPr bwMode="auto">
          <a:xfrm>
            <a:off x="2514600" y="31813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12" name="Oval 28">
            <a:extLst>
              <a:ext uri="{FF2B5EF4-FFF2-40B4-BE49-F238E27FC236}">
                <a16:creationId xmlns:a16="http://schemas.microsoft.com/office/drawing/2014/main" id="{CB6392EA-EC84-73E5-FF28-64DFAE2AC4D2}"/>
              </a:ext>
            </a:extLst>
          </p:cNvPr>
          <p:cNvSpPr>
            <a:spLocks noChangeArrowheads="1"/>
          </p:cNvSpPr>
          <p:nvPr/>
        </p:nvSpPr>
        <p:spPr bwMode="auto">
          <a:xfrm>
            <a:off x="2209800" y="31813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13" name="Oval 29">
            <a:extLst>
              <a:ext uri="{FF2B5EF4-FFF2-40B4-BE49-F238E27FC236}">
                <a16:creationId xmlns:a16="http://schemas.microsoft.com/office/drawing/2014/main" id="{01E3BC0E-3568-15DA-1C68-B70549E07817}"/>
              </a:ext>
            </a:extLst>
          </p:cNvPr>
          <p:cNvSpPr>
            <a:spLocks noChangeArrowheads="1"/>
          </p:cNvSpPr>
          <p:nvPr/>
        </p:nvSpPr>
        <p:spPr bwMode="auto">
          <a:xfrm>
            <a:off x="1905000" y="31813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14" name="Oval 30">
            <a:extLst>
              <a:ext uri="{FF2B5EF4-FFF2-40B4-BE49-F238E27FC236}">
                <a16:creationId xmlns:a16="http://schemas.microsoft.com/office/drawing/2014/main" id="{80E724F4-54A7-23BD-0471-008475FC8773}"/>
              </a:ext>
            </a:extLst>
          </p:cNvPr>
          <p:cNvSpPr>
            <a:spLocks noChangeArrowheads="1"/>
          </p:cNvSpPr>
          <p:nvPr/>
        </p:nvSpPr>
        <p:spPr bwMode="auto">
          <a:xfrm>
            <a:off x="3429000" y="31813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15" name="Oval 31">
            <a:extLst>
              <a:ext uri="{FF2B5EF4-FFF2-40B4-BE49-F238E27FC236}">
                <a16:creationId xmlns:a16="http://schemas.microsoft.com/office/drawing/2014/main" id="{8113A4E3-1502-62FF-3522-8C66E88A392D}"/>
              </a:ext>
            </a:extLst>
          </p:cNvPr>
          <p:cNvSpPr>
            <a:spLocks noChangeArrowheads="1"/>
          </p:cNvSpPr>
          <p:nvPr/>
        </p:nvSpPr>
        <p:spPr bwMode="auto">
          <a:xfrm>
            <a:off x="3124200" y="31813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16" name="Oval 32">
            <a:extLst>
              <a:ext uri="{FF2B5EF4-FFF2-40B4-BE49-F238E27FC236}">
                <a16:creationId xmlns:a16="http://schemas.microsoft.com/office/drawing/2014/main" id="{E1FE5727-F757-AA65-AACD-74E9EA17F39B}"/>
              </a:ext>
            </a:extLst>
          </p:cNvPr>
          <p:cNvSpPr>
            <a:spLocks noChangeArrowheads="1"/>
          </p:cNvSpPr>
          <p:nvPr/>
        </p:nvSpPr>
        <p:spPr bwMode="auto">
          <a:xfrm>
            <a:off x="2819400" y="31813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17" name="Oval 33">
            <a:extLst>
              <a:ext uri="{FF2B5EF4-FFF2-40B4-BE49-F238E27FC236}">
                <a16:creationId xmlns:a16="http://schemas.microsoft.com/office/drawing/2014/main" id="{9F073018-F66C-AFB7-686B-96E216E4EC09}"/>
              </a:ext>
            </a:extLst>
          </p:cNvPr>
          <p:cNvSpPr>
            <a:spLocks noChangeArrowheads="1"/>
          </p:cNvSpPr>
          <p:nvPr/>
        </p:nvSpPr>
        <p:spPr bwMode="auto">
          <a:xfrm>
            <a:off x="1447800" y="28765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18" name="Oval 34">
            <a:extLst>
              <a:ext uri="{FF2B5EF4-FFF2-40B4-BE49-F238E27FC236}">
                <a16:creationId xmlns:a16="http://schemas.microsoft.com/office/drawing/2014/main" id="{559F27DC-ADFC-C3E2-A7F0-C20DD7258658}"/>
              </a:ext>
            </a:extLst>
          </p:cNvPr>
          <p:cNvSpPr>
            <a:spLocks noChangeArrowheads="1"/>
          </p:cNvSpPr>
          <p:nvPr/>
        </p:nvSpPr>
        <p:spPr bwMode="auto">
          <a:xfrm>
            <a:off x="1143000" y="28765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19" name="Oval 35">
            <a:extLst>
              <a:ext uri="{FF2B5EF4-FFF2-40B4-BE49-F238E27FC236}">
                <a16:creationId xmlns:a16="http://schemas.microsoft.com/office/drawing/2014/main" id="{60045056-7528-7CF7-5540-39719AD15AE4}"/>
              </a:ext>
            </a:extLst>
          </p:cNvPr>
          <p:cNvSpPr>
            <a:spLocks noChangeArrowheads="1"/>
          </p:cNvSpPr>
          <p:nvPr/>
        </p:nvSpPr>
        <p:spPr bwMode="auto">
          <a:xfrm>
            <a:off x="838200" y="28765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20" name="Oval 36">
            <a:extLst>
              <a:ext uri="{FF2B5EF4-FFF2-40B4-BE49-F238E27FC236}">
                <a16:creationId xmlns:a16="http://schemas.microsoft.com/office/drawing/2014/main" id="{C44FBC27-0B98-F778-BA59-3218587E4043}"/>
              </a:ext>
            </a:extLst>
          </p:cNvPr>
          <p:cNvSpPr>
            <a:spLocks noChangeArrowheads="1"/>
          </p:cNvSpPr>
          <p:nvPr/>
        </p:nvSpPr>
        <p:spPr bwMode="auto">
          <a:xfrm>
            <a:off x="2362200" y="28765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21" name="Oval 37">
            <a:extLst>
              <a:ext uri="{FF2B5EF4-FFF2-40B4-BE49-F238E27FC236}">
                <a16:creationId xmlns:a16="http://schemas.microsoft.com/office/drawing/2014/main" id="{C830C4E1-CD18-D8BF-3EE1-0A35F42D1342}"/>
              </a:ext>
            </a:extLst>
          </p:cNvPr>
          <p:cNvSpPr>
            <a:spLocks noChangeArrowheads="1"/>
          </p:cNvSpPr>
          <p:nvPr/>
        </p:nvSpPr>
        <p:spPr bwMode="auto">
          <a:xfrm>
            <a:off x="2057400" y="28765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22" name="Oval 38">
            <a:extLst>
              <a:ext uri="{FF2B5EF4-FFF2-40B4-BE49-F238E27FC236}">
                <a16:creationId xmlns:a16="http://schemas.microsoft.com/office/drawing/2014/main" id="{B1DE93EE-8C9E-8335-A045-F437F38E0A15}"/>
              </a:ext>
            </a:extLst>
          </p:cNvPr>
          <p:cNvSpPr>
            <a:spLocks noChangeArrowheads="1"/>
          </p:cNvSpPr>
          <p:nvPr/>
        </p:nvSpPr>
        <p:spPr bwMode="auto">
          <a:xfrm>
            <a:off x="1752600" y="28765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23" name="Oval 39">
            <a:extLst>
              <a:ext uri="{FF2B5EF4-FFF2-40B4-BE49-F238E27FC236}">
                <a16:creationId xmlns:a16="http://schemas.microsoft.com/office/drawing/2014/main" id="{6B92D497-8CEB-8FFF-9C3D-5C60EEA11B28}"/>
              </a:ext>
            </a:extLst>
          </p:cNvPr>
          <p:cNvSpPr>
            <a:spLocks noChangeArrowheads="1"/>
          </p:cNvSpPr>
          <p:nvPr/>
        </p:nvSpPr>
        <p:spPr bwMode="auto">
          <a:xfrm>
            <a:off x="3276600" y="28765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24" name="Oval 40">
            <a:extLst>
              <a:ext uri="{FF2B5EF4-FFF2-40B4-BE49-F238E27FC236}">
                <a16:creationId xmlns:a16="http://schemas.microsoft.com/office/drawing/2014/main" id="{13969EB7-3CC8-AF7A-7EEE-ABCADFF21744}"/>
              </a:ext>
            </a:extLst>
          </p:cNvPr>
          <p:cNvSpPr>
            <a:spLocks noChangeArrowheads="1"/>
          </p:cNvSpPr>
          <p:nvPr/>
        </p:nvSpPr>
        <p:spPr bwMode="auto">
          <a:xfrm>
            <a:off x="2971800" y="28765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25" name="Oval 41">
            <a:extLst>
              <a:ext uri="{FF2B5EF4-FFF2-40B4-BE49-F238E27FC236}">
                <a16:creationId xmlns:a16="http://schemas.microsoft.com/office/drawing/2014/main" id="{2E0F519B-2E55-658E-6E3B-9301AA5A14AD}"/>
              </a:ext>
            </a:extLst>
          </p:cNvPr>
          <p:cNvSpPr>
            <a:spLocks noChangeArrowheads="1"/>
          </p:cNvSpPr>
          <p:nvPr/>
        </p:nvSpPr>
        <p:spPr bwMode="auto">
          <a:xfrm>
            <a:off x="2667000" y="28765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26" name="Oval 42">
            <a:extLst>
              <a:ext uri="{FF2B5EF4-FFF2-40B4-BE49-F238E27FC236}">
                <a16:creationId xmlns:a16="http://schemas.microsoft.com/office/drawing/2014/main" id="{70DA763F-F3BB-8B7E-4444-46422DD5A7B5}"/>
              </a:ext>
            </a:extLst>
          </p:cNvPr>
          <p:cNvSpPr>
            <a:spLocks noChangeArrowheads="1"/>
          </p:cNvSpPr>
          <p:nvPr/>
        </p:nvSpPr>
        <p:spPr bwMode="auto">
          <a:xfrm>
            <a:off x="1600200" y="25717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27" name="Oval 43">
            <a:extLst>
              <a:ext uri="{FF2B5EF4-FFF2-40B4-BE49-F238E27FC236}">
                <a16:creationId xmlns:a16="http://schemas.microsoft.com/office/drawing/2014/main" id="{3E0625E0-03C1-008A-9161-A4802DCE6A45}"/>
              </a:ext>
            </a:extLst>
          </p:cNvPr>
          <p:cNvSpPr>
            <a:spLocks noChangeArrowheads="1"/>
          </p:cNvSpPr>
          <p:nvPr/>
        </p:nvSpPr>
        <p:spPr bwMode="auto">
          <a:xfrm>
            <a:off x="1295400" y="25717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28" name="Oval 44">
            <a:extLst>
              <a:ext uri="{FF2B5EF4-FFF2-40B4-BE49-F238E27FC236}">
                <a16:creationId xmlns:a16="http://schemas.microsoft.com/office/drawing/2014/main" id="{A291C9AC-9036-9578-1670-AABA84E8894A}"/>
              </a:ext>
            </a:extLst>
          </p:cNvPr>
          <p:cNvSpPr>
            <a:spLocks noChangeArrowheads="1"/>
          </p:cNvSpPr>
          <p:nvPr/>
        </p:nvSpPr>
        <p:spPr bwMode="auto">
          <a:xfrm>
            <a:off x="990600" y="25717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29" name="Oval 45">
            <a:extLst>
              <a:ext uri="{FF2B5EF4-FFF2-40B4-BE49-F238E27FC236}">
                <a16:creationId xmlns:a16="http://schemas.microsoft.com/office/drawing/2014/main" id="{CE35D5EA-0D59-C5C0-F681-79618091F1E9}"/>
              </a:ext>
            </a:extLst>
          </p:cNvPr>
          <p:cNvSpPr>
            <a:spLocks noChangeArrowheads="1"/>
          </p:cNvSpPr>
          <p:nvPr/>
        </p:nvSpPr>
        <p:spPr bwMode="auto">
          <a:xfrm>
            <a:off x="2514600" y="25717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30" name="Oval 46">
            <a:extLst>
              <a:ext uri="{FF2B5EF4-FFF2-40B4-BE49-F238E27FC236}">
                <a16:creationId xmlns:a16="http://schemas.microsoft.com/office/drawing/2014/main" id="{CA15FE92-DCB5-1882-7E23-C68B82C387E4}"/>
              </a:ext>
            </a:extLst>
          </p:cNvPr>
          <p:cNvSpPr>
            <a:spLocks noChangeArrowheads="1"/>
          </p:cNvSpPr>
          <p:nvPr/>
        </p:nvSpPr>
        <p:spPr bwMode="auto">
          <a:xfrm>
            <a:off x="2209800" y="25717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31" name="Oval 47">
            <a:extLst>
              <a:ext uri="{FF2B5EF4-FFF2-40B4-BE49-F238E27FC236}">
                <a16:creationId xmlns:a16="http://schemas.microsoft.com/office/drawing/2014/main" id="{3A5D82FA-6261-1D09-D6A1-E05EECA5DAB4}"/>
              </a:ext>
            </a:extLst>
          </p:cNvPr>
          <p:cNvSpPr>
            <a:spLocks noChangeArrowheads="1"/>
          </p:cNvSpPr>
          <p:nvPr/>
        </p:nvSpPr>
        <p:spPr bwMode="auto">
          <a:xfrm>
            <a:off x="1905000" y="25717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32" name="Oval 48">
            <a:extLst>
              <a:ext uri="{FF2B5EF4-FFF2-40B4-BE49-F238E27FC236}">
                <a16:creationId xmlns:a16="http://schemas.microsoft.com/office/drawing/2014/main" id="{BED5AB3B-15CA-4CB0-F5F6-F13F8ED3B67C}"/>
              </a:ext>
            </a:extLst>
          </p:cNvPr>
          <p:cNvSpPr>
            <a:spLocks noChangeArrowheads="1"/>
          </p:cNvSpPr>
          <p:nvPr/>
        </p:nvSpPr>
        <p:spPr bwMode="auto">
          <a:xfrm>
            <a:off x="3429000" y="25717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33" name="Oval 49">
            <a:extLst>
              <a:ext uri="{FF2B5EF4-FFF2-40B4-BE49-F238E27FC236}">
                <a16:creationId xmlns:a16="http://schemas.microsoft.com/office/drawing/2014/main" id="{F6560754-184A-9FE4-4434-FAA7792D825E}"/>
              </a:ext>
            </a:extLst>
          </p:cNvPr>
          <p:cNvSpPr>
            <a:spLocks noChangeArrowheads="1"/>
          </p:cNvSpPr>
          <p:nvPr/>
        </p:nvSpPr>
        <p:spPr bwMode="auto">
          <a:xfrm>
            <a:off x="3124200" y="25717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34" name="Oval 50">
            <a:extLst>
              <a:ext uri="{FF2B5EF4-FFF2-40B4-BE49-F238E27FC236}">
                <a16:creationId xmlns:a16="http://schemas.microsoft.com/office/drawing/2014/main" id="{8E107E2D-B66F-A49B-ECED-3D9289E992CD}"/>
              </a:ext>
            </a:extLst>
          </p:cNvPr>
          <p:cNvSpPr>
            <a:spLocks noChangeArrowheads="1"/>
          </p:cNvSpPr>
          <p:nvPr/>
        </p:nvSpPr>
        <p:spPr bwMode="auto">
          <a:xfrm>
            <a:off x="2819400" y="25717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35" name="Oval 51">
            <a:extLst>
              <a:ext uri="{FF2B5EF4-FFF2-40B4-BE49-F238E27FC236}">
                <a16:creationId xmlns:a16="http://schemas.microsoft.com/office/drawing/2014/main" id="{68858EA7-1174-492C-F39F-8B64081F2E7E}"/>
              </a:ext>
            </a:extLst>
          </p:cNvPr>
          <p:cNvSpPr>
            <a:spLocks noChangeArrowheads="1"/>
          </p:cNvSpPr>
          <p:nvPr/>
        </p:nvSpPr>
        <p:spPr bwMode="auto">
          <a:xfrm>
            <a:off x="1447800" y="22669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36" name="Oval 52">
            <a:extLst>
              <a:ext uri="{FF2B5EF4-FFF2-40B4-BE49-F238E27FC236}">
                <a16:creationId xmlns:a16="http://schemas.microsoft.com/office/drawing/2014/main" id="{EEB74017-BE29-BD13-62E6-0DC5FD52FF99}"/>
              </a:ext>
            </a:extLst>
          </p:cNvPr>
          <p:cNvSpPr>
            <a:spLocks noChangeArrowheads="1"/>
          </p:cNvSpPr>
          <p:nvPr/>
        </p:nvSpPr>
        <p:spPr bwMode="auto">
          <a:xfrm>
            <a:off x="1143000" y="22669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37" name="Oval 53">
            <a:extLst>
              <a:ext uri="{FF2B5EF4-FFF2-40B4-BE49-F238E27FC236}">
                <a16:creationId xmlns:a16="http://schemas.microsoft.com/office/drawing/2014/main" id="{3F0DB8EB-D94C-FE69-FFFD-911CEDAEE7C5}"/>
              </a:ext>
            </a:extLst>
          </p:cNvPr>
          <p:cNvSpPr>
            <a:spLocks noChangeArrowheads="1"/>
          </p:cNvSpPr>
          <p:nvPr/>
        </p:nvSpPr>
        <p:spPr bwMode="auto">
          <a:xfrm>
            <a:off x="838200" y="22669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38" name="Oval 54">
            <a:extLst>
              <a:ext uri="{FF2B5EF4-FFF2-40B4-BE49-F238E27FC236}">
                <a16:creationId xmlns:a16="http://schemas.microsoft.com/office/drawing/2014/main" id="{06108ABA-03A0-D3A9-50C9-771D62253D86}"/>
              </a:ext>
            </a:extLst>
          </p:cNvPr>
          <p:cNvSpPr>
            <a:spLocks noChangeArrowheads="1"/>
          </p:cNvSpPr>
          <p:nvPr/>
        </p:nvSpPr>
        <p:spPr bwMode="auto">
          <a:xfrm>
            <a:off x="2362200" y="22669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39" name="Oval 55">
            <a:extLst>
              <a:ext uri="{FF2B5EF4-FFF2-40B4-BE49-F238E27FC236}">
                <a16:creationId xmlns:a16="http://schemas.microsoft.com/office/drawing/2014/main" id="{A453B571-96E8-5363-F62F-035F10729504}"/>
              </a:ext>
            </a:extLst>
          </p:cNvPr>
          <p:cNvSpPr>
            <a:spLocks noChangeArrowheads="1"/>
          </p:cNvSpPr>
          <p:nvPr/>
        </p:nvSpPr>
        <p:spPr bwMode="auto">
          <a:xfrm>
            <a:off x="2057400" y="22669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40" name="Oval 56">
            <a:extLst>
              <a:ext uri="{FF2B5EF4-FFF2-40B4-BE49-F238E27FC236}">
                <a16:creationId xmlns:a16="http://schemas.microsoft.com/office/drawing/2014/main" id="{B33CFB56-6149-3B11-6828-1DC1A27C412D}"/>
              </a:ext>
            </a:extLst>
          </p:cNvPr>
          <p:cNvSpPr>
            <a:spLocks noChangeArrowheads="1"/>
          </p:cNvSpPr>
          <p:nvPr/>
        </p:nvSpPr>
        <p:spPr bwMode="auto">
          <a:xfrm>
            <a:off x="1752600" y="22669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41" name="Oval 57">
            <a:extLst>
              <a:ext uri="{FF2B5EF4-FFF2-40B4-BE49-F238E27FC236}">
                <a16:creationId xmlns:a16="http://schemas.microsoft.com/office/drawing/2014/main" id="{EF9EC956-CB41-27D6-6F57-0673D0837989}"/>
              </a:ext>
            </a:extLst>
          </p:cNvPr>
          <p:cNvSpPr>
            <a:spLocks noChangeArrowheads="1"/>
          </p:cNvSpPr>
          <p:nvPr/>
        </p:nvSpPr>
        <p:spPr bwMode="auto">
          <a:xfrm>
            <a:off x="3276600" y="22669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42" name="Oval 58">
            <a:extLst>
              <a:ext uri="{FF2B5EF4-FFF2-40B4-BE49-F238E27FC236}">
                <a16:creationId xmlns:a16="http://schemas.microsoft.com/office/drawing/2014/main" id="{5DCF38DD-4795-33B4-9013-AD535660D038}"/>
              </a:ext>
            </a:extLst>
          </p:cNvPr>
          <p:cNvSpPr>
            <a:spLocks noChangeArrowheads="1"/>
          </p:cNvSpPr>
          <p:nvPr/>
        </p:nvSpPr>
        <p:spPr bwMode="auto">
          <a:xfrm>
            <a:off x="2971800" y="22669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43" name="Oval 59">
            <a:extLst>
              <a:ext uri="{FF2B5EF4-FFF2-40B4-BE49-F238E27FC236}">
                <a16:creationId xmlns:a16="http://schemas.microsoft.com/office/drawing/2014/main" id="{EDEF3EED-349A-1A32-2ED6-072A3E79825B}"/>
              </a:ext>
            </a:extLst>
          </p:cNvPr>
          <p:cNvSpPr>
            <a:spLocks noChangeArrowheads="1"/>
          </p:cNvSpPr>
          <p:nvPr/>
        </p:nvSpPr>
        <p:spPr bwMode="auto">
          <a:xfrm>
            <a:off x="2667000" y="22669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44" name="Oval 60">
            <a:extLst>
              <a:ext uri="{FF2B5EF4-FFF2-40B4-BE49-F238E27FC236}">
                <a16:creationId xmlns:a16="http://schemas.microsoft.com/office/drawing/2014/main" id="{594A725A-A7B7-3C6E-9DA9-9061DC7F820A}"/>
              </a:ext>
            </a:extLst>
          </p:cNvPr>
          <p:cNvSpPr>
            <a:spLocks noChangeArrowheads="1"/>
          </p:cNvSpPr>
          <p:nvPr/>
        </p:nvSpPr>
        <p:spPr bwMode="auto">
          <a:xfrm>
            <a:off x="1600200" y="19621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45" name="Oval 61">
            <a:extLst>
              <a:ext uri="{FF2B5EF4-FFF2-40B4-BE49-F238E27FC236}">
                <a16:creationId xmlns:a16="http://schemas.microsoft.com/office/drawing/2014/main" id="{CD734635-3FA8-4AE3-839F-91DEA7D36AF6}"/>
              </a:ext>
            </a:extLst>
          </p:cNvPr>
          <p:cNvSpPr>
            <a:spLocks noChangeArrowheads="1"/>
          </p:cNvSpPr>
          <p:nvPr/>
        </p:nvSpPr>
        <p:spPr bwMode="auto">
          <a:xfrm>
            <a:off x="1295400" y="19621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46" name="Oval 62">
            <a:extLst>
              <a:ext uri="{FF2B5EF4-FFF2-40B4-BE49-F238E27FC236}">
                <a16:creationId xmlns:a16="http://schemas.microsoft.com/office/drawing/2014/main" id="{6CD416A2-7639-E2F7-264B-AB0A78E744F3}"/>
              </a:ext>
            </a:extLst>
          </p:cNvPr>
          <p:cNvSpPr>
            <a:spLocks noChangeArrowheads="1"/>
          </p:cNvSpPr>
          <p:nvPr/>
        </p:nvSpPr>
        <p:spPr bwMode="auto">
          <a:xfrm>
            <a:off x="990600" y="19621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47" name="Oval 63">
            <a:extLst>
              <a:ext uri="{FF2B5EF4-FFF2-40B4-BE49-F238E27FC236}">
                <a16:creationId xmlns:a16="http://schemas.microsoft.com/office/drawing/2014/main" id="{E37CABB0-427C-E755-01C2-A0731943529B}"/>
              </a:ext>
            </a:extLst>
          </p:cNvPr>
          <p:cNvSpPr>
            <a:spLocks noChangeArrowheads="1"/>
          </p:cNvSpPr>
          <p:nvPr/>
        </p:nvSpPr>
        <p:spPr bwMode="auto">
          <a:xfrm>
            <a:off x="2514600" y="19621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48" name="Oval 64">
            <a:extLst>
              <a:ext uri="{FF2B5EF4-FFF2-40B4-BE49-F238E27FC236}">
                <a16:creationId xmlns:a16="http://schemas.microsoft.com/office/drawing/2014/main" id="{58218F63-5995-5EE3-BE9B-A938FCE3943E}"/>
              </a:ext>
            </a:extLst>
          </p:cNvPr>
          <p:cNvSpPr>
            <a:spLocks noChangeArrowheads="1"/>
          </p:cNvSpPr>
          <p:nvPr/>
        </p:nvSpPr>
        <p:spPr bwMode="auto">
          <a:xfrm>
            <a:off x="2209800" y="19621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49" name="Oval 65">
            <a:extLst>
              <a:ext uri="{FF2B5EF4-FFF2-40B4-BE49-F238E27FC236}">
                <a16:creationId xmlns:a16="http://schemas.microsoft.com/office/drawing/2014/main" id="{7F31E41C-C4E1-60E1-B730-39A6BADA60B7}"/>
              </a:ext>
            </a:extLst>
          </p:cNvPr>
          <p:cNvSpPr>
            <a:spLocks noChangeArrowheads="1"/>
          </p:cNvSpPr>
          <p:nvPr/>
        </p:nvSpPr>
        <p:spPr bwMode="auto">
          <a:xfrm>
            <a:off x="1905000" y="19621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50" name="Oval 66">
            <a:extLst>
              <a:ext uri="{FF2B5EF4-FFF2-40B4-BE49-F238E27FC236}">
                <a16:creationId xmlns:a16="http://schemas.microsoft.com/office/drawing/2014/main" id="{DFED9178-4FDD-10B0-0FEC-0DCA1461B3AB}"/>
              </a:ext>
            </a:extLst>
          </p:cNvPr>
          <p:cNvSpPr>
            <a:spLocks noChangeArrowheads="1"/>
          </p:cNvSpPr>
          <p:nvPr/>
        </p:nvSpPr>
        <p:spPr bwMode="auto">
          <a:xfrm>
            <a:off x="3429000" y="19621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51" name="Oval 67">
            <a:extLst>
              <a:ext uri="{FF2B5EF4-FFF2-40B4-BE49-F238E27FC236}">
                <a16:creationId xmlns:a16="http://schemas.microsoft.com/office/drawing/2014/main" id="{100AE3D3-AE88-60E8-4662-93EE5D731855}"/>
              </a:ext>
            </a:extLst>
          </p:cNvPr>
          <p:cNvSpPr>
            <a:spLocks noChangeArrowheads="1"/>
          </p:cNvSpPr>
          <p:nvPr/>
        </p:nvSpPr>
        <p:spPr bwMode="auto">
          <a:xfrm>
            <a:off x="3124200" y="19621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52" name="Oval 68">
            <a:extLst>
              <a:ext uri="{FF2B5EF4-FFF2-40B4-BE49-F238E27FC236}">
                <a16:creationId xmlns:a16="http://schemas.microsoft.com/office/drawing/2014/main" id="{F7E49795-2DD0-2EAF-A298-0238A61CB3DF}"/>
              </a:ext>
            </a:extLst>
          </p:cNvPr>
          <p:cNvSpPr>
            <a:spLocks noChangeArrowheads="1"/>
          </p:cNvSpPr>
          <p:nvPr/>
        </p:nvSpPr>
        <p:spPr bwMode="auto">
          <a:xfrm>
            <a:off x="2819400" y="1962150"/>
            <a:ext cx="304800" cy="30480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55" name="Line 71">
            <a:extLst>
              <a:ext uri="{FF2B5EF4-FFF2-40B4-BE49-F238E27FC236}">
                <a16:creationId xmlns:a16="http://schemas.microsoft.com/office/drawing/2014/main" id="{9472DBD8-16FC-1CAC-6CA1-4DC27E602315}"/>
              </a:ext>
            </a:extLst>
          </p:cNvPr>
          <p:cNvSpPr>
            <a:spLocks noChangeShapeType="1"/>
          </p:cNvSpPr>
          <p:nvPr/>
        </p:nvSpPr>
        <p:spPr bwMode="auto">
          <a:xfrm flipH="1">
            <a:off x="3886200" y="3943350"/>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1256" name="Text Box 72">
            <a:extLst>
              <a:ext uri="{FF2B5EF4-FFF2-40B4-BE49-F238E27FC236}">
                <a16:creationId xmlns:a16="http://schemas.microsoft.com/office/drawing/2014/main" id="{A80EE57A-1124-024C-F7B7-58B27A95DC40}"/>
              </a:ext>
            </a:extLst>
          </p:cNvPr>
          <p:cNvSpPr txBox="1">
            <a:spLocks noChangeArrowheads="1"/>
          </p:cNvSpPr>
          <p:nvPr/>
        </p:nvSpPr>
        <p:spPr bwMode="auto">
          <a:xfrm>
            <a:off x="4168776" y="3786338"/>
            <a:ext cx="6921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l-GR" altLang="en-US" sz="1600" dirty="0">
                <a:cs typeface="Arial" panose="020B0604020202020204" pitchFamily="34" charset="0"/>
              </a:rPr>
              <a:t>Δ</a:t>
            </a:r>
            <a:r>
              <a:rPr lang="en-US" altLang="en-US" sz="1600" i="1" dirty="0" err="1">
                <a:cs typeface="Arial" panose="020B0604020202020204" pitchFamily="34" charset="0"/>
              </a:rPr>
              <a:t>H</a:t>
            </a:r>
            <a:r>
              <a:rPr lang="en-US" altLang="en-US" sz="1600" baseline="-25000" dirty="0" err="1">
                <a:cs typeface="Arial" panose="020B0604020202020204" pitchFamily="34" charset="0"/>
              </a:rPr>
              <a:t>ads</a:t>
            </a:r>
            <a:endParaRPr lang="el-GR" altLang="en-US" sz="1600" baseline="-25000" dirty="0">
              <a:cs typeface="Arial" panose="020B0604020202020204" pitchFamily="34" charset="0"/>
            </a:endParaRPr>
          </a:p>
        </p:txBody>
      </p:sp>
      <p:sp>
        <p:nvSpPr>
          <p:cNvPr id="221257" name="AutoShape 73">
            <a:extLst>
              <a:ext uri="{FF2B5EF4-FFF2-40B4-BE49-F238E27FC236}">
                <a16:creationId xmlns:a16="http://schemas.microsoft.com/office/drawing/2014/main" id="{695EEA6E-7630-66FB-EBD9-3B1C2813ECF3}"/>
              </a:ext>
            </a:extLst>
          </p:cNvPr>
          <p:cNvSpPr>
            <a:spLocks/>
          </p:cNvSpPr>
          <p:nvPr/>
        </p:nvSpPr>
        <p:spPr bwMode="auto">
          <a:xfrm>
            <a:off x="3962400" y="2038350"/>
            <a:ext cx="152400" cy="1752600"/>
          </a:xfrm>
          <a:prstGeom prst="rightBrace">
            <a:avLst>
              <a:gd name="adj1" fmla="val 958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1258" name="Text Box 74">
            <a:extLst>
              <a:ext uri="{FF2B5EF4-FFF2-40B4-BE49-F238E27FC236}">
                <a16:creationId xmlns:a16="http://schemas.microsoft.com/office/drawing/2014/main" id="{C67E43FC-C9E6-1846-3CBC-EA61EF558D40}"/>
              </a:ext>
            </a:extLst>
          </p:cNvPr>
          <p:cNvSpPr txBox="1">
            <a:spLocks noChangeArrowheads="1"/>
          </p:cNvSpPr>
          <p:nvPr/>
        </p:nvSpPr>
        <p:spPr bwMode="auto">
          <a:xfrm>
            <a:off x="4191000" y="2768600"/>
            <a:ext cx="7699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l-GR" altLang="en-US" sz="1600" dirty="0">
                <a:cs typeface="Arial" panose="020B0604020202020204" pitchFamily="34" charset="0"/>
              </a:rPr>
              <a:t>Δ</a:t>
            </a:r>
            <a:r>
              <a:rPr lang="en-US" altLang="en-US" sz="1600" i="1" dirty="0" err="1">
                <a:cs typeface="Arial" panose="020B0604020202020204" pitchFamily="34" charset="0"/>
              </a:rPr>
              <a:t>H</a:t>
            </a:r>
            <a:r>
              <a:rPr lang="en-US" altLang="en-US" sz="1600" baseline="-25000" dirty="0" err="1">
                <a:cs typeface="Arial" panose="020B0604020202020204" pitchFamily="34" charset="0"/>
              </a:rPr>
              <a:t>cond</a:t>
            </a:r>
            <a:endParaRPr lang="el-GR" altLang="en-US" sz="1600" baseline="-25000" dirty="0">
              <a:cs typeface="Arial" panose="020B0604020202020204" pitchFamily="34" charset="0"/>
            </a:endParaRPr>
          </a:p>
        </p:txBody>
      </p:sp>
      <p:pic>
        <p:nvPicPr>
          <p:cNvPr id="221261" name="Picture 77">
            <a:extLst>
              <a:ext uri="{FF2B5EF4-FFF2-40B4-BE49-F238E27FC236}">
                <a16:creationId xmlns:a16="http://schemas.microsoft.com/office/drawing/2014/main" id="{A8346E55-014E-D913-4C60-AB8CEA1AC93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166"/>
          <a:stretch>
            <a:fillRect/>
          </a:stretch>
        </p:blipFill>
        <p:spPr bwMode="auto">
          <a:xfrm>
            <a:off x="5971516" y="1047750"/>
            <a:ext cx="2410484" cy="3475506"/>
          </a:xfrm>
          <a:prstGeom prst="rect">
            <a:avLst/>
          </a:prstGeom>
          <a:noFill/>
          <a:extLst>
            <a:ext uri="{909E8E84-426E-40DD-AFC4-6F175D3DCCD1}">
              <a14:hiddenFill xmlns:a14="http://schemas.microsoft.com/office/drawing/2010/main">
                <a:solidFill>
                  <a:srgbClr val="FFFFFF"/>
                </a:solidFill>
              </a14:hiddenFill>
            </a:ext>
          </a:extLst>
        </p:spPr>
      </p:pic>
      <p:sp>
        <p:nvSpPr>
          <p:cNvPr id="221262" name="Line 78">
            <a:extLst>
              <a:ext uri="{FF2B5EF4-FFF2-40B4-BE49-F238E27FC236}">
                <a16:creationId xmlns:a16="http://schemas.microsoft.com/office/drawing/2014/main" id="{5DF3C871-8D72-098F-53FA-B4BDEB0B7B11}"/>
              </a:ext>
            </a:extLst>
          </p:cNvPr>
          <p:cNvSpPr>
            <a:spLocks noChangeShapeType="1"/>
          </p:cNvSpPr>
          <p:nvPr/>
        </p:nvSpPr>
        <p:spPr bwMode="auto">
          <a:xfrm flipH="1" flipV="1">
            <a:off x="6858000" y="2419350"/>
            <a:ext cx="1066800" cy="1066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1263" name="Text Box 79">
            <a:extLst>
              <a:ext uri="{FF2B5EF4-FFF2-40B4-BE49-F238E27FC236}">
                <a16:creationId xmlns:a16="http://schemas.microsoft.com/office/drawing/2014/main" id="{E036D36F-15C1-749E-3B9E-3F25354534B1}"/>
              </a:ext>
            </a:extLst>
          </p:cNvPr>
          <p:cNvSpPr txBox="1">
            <a:spLocks noChangeArrowheads="1"/>
          </p:cNvSpPr>
          <p:nvPr/>
        </p:nvSpPr>
        <p:spPr bwMode="auto">
          <a:xfrm>
            <a:off x="6527140" y="2084856"/>
            <a:ext cx="137249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l-GR" altLang="en-US" sz="1600" dirty="0">
                <a:cs typeface="Arial" panose="020B0604020202020204" pitchFamily="34" charset="0"/>
              </a:rPr>
              <a:t>Δ</a:t>
            </a:r>
            <a:r>
              <a:rPr lang="en-US" altLang="en-US" sz="1600" i="1" dirty="0" err="1">
                <a:cs typeface="Arial" panose="020B0604020202020204" pitchFamily="34" charset="0"/>
              </a:rPr>
              <a:t>H</a:t>
            </a:r>
            <a:r>
              <a:rPr lang="en-US" altLang="en-US" sz="1600" baseline="-25000" dirty="0" err="1">
                <a:cs typeface="Arial" panose="020B0604020202020204" pitchFamily="34" charset="0"/>
              </a:rPr>
              <a:t>ads</a:t>
            </a:r>
            <a:r>
              <a:rPr lang="en-US" altLang="en-US" sz="1600" dirty="0">
                <a:cs typeface="Arial" panose="020B0604020202020204" pitchFamily="34" charset="0"/>
              </a:rPr>
              <a:t>/</a:t>
            </a:r>
            <a:r>
              <a:rPr lang="el-GR" altLang="en-US" dirty="0"/>
              <a:t>Δ</a:t>
            </a:r>
            <a:r>
              <a:rPr lang="en-US" altLang="en-US" i="1" dirty="0" err="1"/>
              <a:t>H</a:t>
            </a:r>
            <a:r>
              <a:rPr lang="en-US" altLang="en-US" baseline="-25000" dirty="0" err="1"/>
              <a:t>cond</a:t>
            </a:r>
            <a:endParaRPr lang="el-GR" altLang="en-US" sz="1600" baseline="-25000" dirty="0">
              <a:cs typeface="Arial" panose="020B0604020202020204" pitchFamily="34" charset="0"/>
            </a:endParaRPr>
          </a:p>
        </p:txBody>
      </p:sp>
      <p:graphicFrame>
        <p:nvGraphicFramePr>
          <p:cNvPr id="221269" name="Object 85">
            <a:extLst>
              <a:ext uri="{FF2B5EF4-FFF2-40B4-BE49-F238E27FC236}">
                <a16:creationId xmlns:a16="http://schemas.microsoft.com/office/drawing/2014/main" id="{685E85EF-C20E-F48D-5E79-E92741C2E3A7}"/>
              </a:ext>
            </a:extLst>
          </p:cNvPr>
          <p:cNvGraphicFramePr>
            <a:graphicFrameLocks noGrp="1" noChangeAspect="1"/>
          </p:cNvGraphicFramePr>
          <p:nvPr>
            <p:ph idx="1"/>
            <p:extLst>
              <p:ext uri="{D42A27DB-BD31-4B8C-83A1-F6EECF244321}">
                <p14:modId xmlns:p14="http://schemas.microsoft.com/office/powerpoint/2010/main" val="45723012"/>
              </p:ext>
            </p:extLst>
          </p:nvPr>
        </p:nvGraphicFramePr>
        <p:xfrm>
          <a:off x="611188" y="2273300"/>
          <a:ext cx="3294062" cy="1260475"/>
        </p:xfrm>
        <a:graphic>
          <a:graphicData uri="http://schemas.openxmlformats.org/presentationml/2006/ole">
            <mc:AlternateContent xmlns:mc="http://schemas.openxmlformats.org/markup-compatibility/2006">
              <mc:Choice xmlns:v="urn:schemas-microsoft-com:vml" Requires="v">
                <p:oleObj name="Equation" r:id="rId4" imgW="53543200" imgH="20485100" progId="Equation.DSMT4">
                  <p:embed/>
                </p:oleObj>
              </mc:Choice>
              <mc:Fallback>
                <p:oleObj name="Equation" r:id="rId4" imgW="53543200" imgH="20485100" progId="Equation.DSMT4">
                  <p:embed/>
                  <p:pic>
                    <p:nvPicPr>
                      <p:cNvPr id="0" name="Object 8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188" y="2273300"/>
                        <a:ext cx="3294062" cy="1260475"/>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221192"/>
                                        </p:tgtEl>
                                        <p:attrNameLst>
                                          <p:attrName>style.visibility</p:attrName>
                                        </p:attrNameLst>
                                      </p:cBhvr>
                                      <p:to>
                                        <p:strVal val="visible"/>
                                      </p:to>
                                    </p:set>
                                    <p:anim calcmode="lin" valueType="num">
                                      <p:cBhvr additive="base">
                                        <p:cTn id="7" dur="500" fill="hold"/>
                                        <p:tgtEl>
                                          <p:spTgt spid="221192"/>
                                        </p:tgtEl>
                                        <p:attrNameLst>
                                          <p:attrName>ppt_x</p:attrName>
                                        </p:attrNameLst>
                                      </p:cBhvr>
                                      <p:tavLst>
                                        <p:tav tm="0">
                                          <p:val>
                                            <p:strVal val="#ppt_x"/>
                                          </p:val>
                                        </p:tav>
                                        <p:tav tm="100000">
                                          <p:val>
                                            <p:strVal val="#ppt_x"/>
                                          </p:val>
                                        </p:tav>
                                      </p:tavLst>
                                    </p:anim>
                                    <p:anim calcmode="lin" valueType="num">
                                      <p:cBhvr additive="base">
                                        <p:cTn id="8" dur="500" fill="hold"/>
                                        <p:tgtEl>
                                          <p:spTgt spid="221192"/>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221193"/>
                                        </p:tgtEl>
                                        <p:attrNameLst>
                                          <p:attrName>style.visibility</p:attrName>
                                        </p:attrNameLst>
                                      </p:cBhvr>
                                      <p:to>
                                        <p:strVal val="visible"/>
                                      </p:to>
                                    </p:set>
                                    <p:anim calcmode="lin" valueType="num">
                                      <p:cBhvr additive="base">
                                        <p:cTn id="11" dur="500" fill="hold"/>
                                        <p:tgtEl>
                                          <p:spTgt spid="221193"/>
                                        </p:tgtEl>
                                        <p:attrNameLst>
                                          <p:attrName>ppt_x</p:attrName>
                                        </p:attrNameLst>
                                      </p:cBhvr>
                                      <p:tavLst>
                                        <p:tav tm="0">
                                          <p:val>
                                            <p:strVal val="#ppt_x"/>
                                          </p:val>
                                        </p:tav>
                                        <p:tav tm="100000">
                                          <p:val>
                                            <p:strVal val="#ppt_x"/>
                                          </p:val>
                                        </p:tav>
                                      </p:tavLst>
                                    </p:anim>
                                    <p:anim calcmode="lin" valueType="num">
                                      <p:cBhvr additive="base">
                                        <p:cTn id="12" dur="500" fill="hold"/>
                                        <p:tgtEl>
                                          <p:spTgt spid="221193"/>
                                        </p:tgtEl>
                                        <p:attrNameLst>
                                          <p:attrName>ppt_y</p:attrName>
                                        </p:attrNameLst>
                                      </p:cBhvr>
                                      <p:tavLst>
                                        <p:tav tm="0">
                                          <p:val>
                                            <p:strVal val="0-#ppt_h/2"/>
                                          </p:val>
                                        </p:tav>
                                        <p:tav tm="100000">
                                          <p:val>
                                            <p:strVal val="#ppt_y"/>
                                          </p:val>
                                        </p:tav>
                                      </p:tavLst>
                                    </p:anim>
                                  </p:childTnLst>
                                </p:cTn>
                              </p:par>
                              <p:par>
                                <p:cTn id="13" presetID="2" presetClass="entr" presetSubtype="1" fill="hold" nodeType="withEffect">
                                  <p:stCondLst>
                                    <p:cond delay="0"/>
                                  </p:stCondLst>
                                  <p:childTnLst>
                                    <p:set>
                                      <p:cBhvr>
                                        <p:cTn id="14" dur="1" fill="hold">
                                          <p:stCondLst>
                                            <p:cond delay="0"/>
                                          </p:stCondLst>
                                        </p:cTn>
                                        <p:tgtEl>
                                          <p:spTgt spid="221194"/>
                                        </p:tgtEl>
                                        <p:attrNameLst>
                                          <p:attrName>style.visibility</p:attrName>
                                        </p:attrNameLst>
                                      </p:cBhvr>
                                      <p:to>
                                        <p:strVal val="visible"/>
                                      </p:to>
                                    </p:set>
                                    <p:anim calcmode="lin" valueType="num">
                                      <p:cBhvr additive="base">
                                        <p:cTn id="15" dur="500" fill="hold"/>
                                        <p:tgtEl>
                                          <p:spTgt spid="221194"/>
                                        </p:tgtEl>
                                        <p:attrNameLst>
                                          <p:attrName>ppt_x</p:attrName>
                                        </p:attrNameLst>
                                      </p:cBhvr>
                                      <p:tavLst>
                                        <p:tav tm="0">
                                          <p:val>
                                            <p:strVal val="#ppt_x"/>
                                          </p:val>
                                        </p:tav>
                                        <p:tav tm="100000">
                                          <p:val>
                                            <p:strVal val="#ppt_x"/>
                                          </p:val>
                                        </p:tav>
                                      </p:tavLst>
                                    </p:anim>
                                    <p:anim calcmode="lin" valueType="num">
                                      <p:cBhvr additive="base">
                                        <p:cTn id="16" dur="500" fill="hold"/>
                                        <p:tgtEl>
                                          <p:spTgt spid="221194"/>
                                        </p:tgtEl>
                                        <p:attrNameLst>
                                          <p:attrName>ppt_y</p:attrName>
                                        </p:attrNameLst>
                                      </p:cBhvr>
                                      <p:tavLst>
                                        <p:tav tm="0">
                                          <p:val>
                                            <p:strVal val="0-#ppt_h/2"/>
                                          </p:val>
                                        </p:tav>
                                        <p:tav tm="100000">
                                          <p:val>
                                            <p:strVal val="#ppt_y"/>
                                          </p:val>
                                        </p:tav>
                                      </p:tavLst>
                                    </p:anim>
                                  </p:childTnLst>
                                </p:cTn>
                              </p:par>
                              <p:par>
                                <p:cTn id="17" presetID="2" presetClass="entr" presetSubtype="1" fill="hold" nodeType="withEffect">
                                  <p:stCondLst>
                                    <p:cond delay="0"/>
                                  </p:stCondLst>
                                  <p:childTnLst>
                                    <p:set>
                                      <p:cBhvr>
                                        <p:cTn id="18" dur="1" fill="hold">
                                          <p:stCondLst>
                                            <p:cond delay="0"/>
                                          </p:stCondLst>
                                        </p:cTn>
                                        <p:tgtEl>
                                          <p:spTgt spid="221195"/>
                                        </p:tgtEl>
                                        <p:attrNameLst>
                                          <p:attrName>style.visibility</p:attrName>
                                        </p:attrNameLst>
                                      </p:cBhvr>
                                      <p:to>
                                        <p:strVal val="visible"/>
                                      </p:to>
                                    </p:set>
                                    <p:anim calcmode="lin" valueType="num">
                                      <p:cBhvr additive="base">
                                        <p:cTn id="19" dur="500" fill="hold"/>
                                        <p:tgtEl>
                                          <p:spTgt spid="221195"/>
                                        </p:tgtEl>
                                        <p:attrNameLst>
                                          <p:attrName>ppt_x</p:attrName>
                                        </p:attrNameLst>
                                      </p:cBhvr>
                                      <p:tavLst>
                                        <p:tav tm="0">
                                          <p:val>
                                            <p:strVal val="#ppt_x"/>
                                          </p:val>
                                        </p:tav>
                                        <p:tav tm="100000">
                                          <p:val>
                                            <p:strVal val="#ppt_x"/>
                                          </p:val>
                                        </p:tav>
                                      </p:tavLst>
                                    </p:anim>
                                    <p:anim calcmode="lin" valueType="num">
                                      <p:cBhvr additive="base">
                                        <p:cTn id="20" dur="500" fill="hold"/>
                                        <p:tgtEl>
                                          <p:spTgt spid="221195"/>
                                        </p:tgtEl>
                                        <p:attrNameLst>
                                          <p:attrName>ppt_y</p:attrName>
                                        </p:attrNameLst>
                                      </p:cBhvr>
                                      <p:tavLst>
                                        <p:tav tm="0">
                                          <p:val>
                                            <p:strVal val="0-#ppt_h/2"/>
                                          </p:val>
                                        </p:tav>
                                        <p:tav tm="100000">
                                          <p:val>
                                            <p:strVal val="#ppt_y"/>
                                          </p:val>
                                        </p:tav>
                                      </p:tavLst>
                                    </p:anim>
                                  </p:childTnLst>
                                </p:cTn>
                              </p:par>
                              <p:par>
                                <p:cTn id="21" presetID="2" presetClass="entr" presetSubtype="1" fill="hold" nodeType="withEffect">
                                  <p:stCondLst>
                                    <p:cond delay="0"/>
                                  </p:stCondLst>
                                  <p:childTnLst>
                                    <p:set>
                                      <p:cBhvr>
                                        <p:cTn id="22" dur="1" fill="hold">
                                          <p:stCondLst>
                                            <p:cond delay="0"/>
                                          </p:stCondLst>
                                        </p:cTn>
                                        <p:tgtEl>
                                          <p:spTgt spid="221196"/>
                                        </p:tgtEl>
                                        <p:attrNameLst>
                                          <p:attrName>style.visibility</p:attrName>
                                        </p:attrNameLst>
                                      </p:cBhvr>
                                      <p:to>
                                        <p:strVal val="visible"/>
                                      </p:to>
                                    </p:set>
                                    <p:anim calcmode="lin" valueType="num">
                                      <p:cBhvr additive="base">
                                        <p:cTn id="23" dur="500" fill="hold"/>
                                        <p:tgtEl>
                                          <p:spTgt spid="221196"/>
                                        </p:tgtEl>
                                        <p:attrNameLst>
                                          <p:attrName>ppt_x</p:attrName>
                                        </p:attrNameLst>
                                      </p:cBhvr>
                                      <p:tavLst>
                                        <p:tav tm="0">
                                          <p:val>
                                            <p:strVal val="#ppt_x"/>
                                          </p:val>
                                        </p:tav>
                                        <p:tav tm="100000">
                                          <p:val>
                                            <p:strVal val="#ppt_x"/>
                                          </p:val>
                                        </p:tav>
                                      </p:tavLst>
                                    </p:anim>
                                    <p:anim calcmode="lin" valueType="num">
                                      <p:cBhvr additive="base">
                                        <p:cTn id="24" dur="500" fill="hold"/>
                                        <p:tgtEl>
                                          <p:spTgt spid="221196"/>
                                        </p:tgtEl>
                                        <p:attrNameLst>
                                          <p:attrName>ppt_y</p:attrName>
                                        </p:attrNameLst>
                                      </p:cBhvr>
                                      <p:tavLst>
                                        <p:tav tm="0">
                                          <p:val>
                                            <p:strVal val="0-#ppt_h/2"/>
                                          </p:val>
                                        </p:tav>
                                        <p:tav tm="100000">
                                          <p:val>
                                            <p:strVal val="#ppt_y"/>
                                          </p:val>
                                        </p:tav>
                                      </p:tavLst>
                                    </p:anim>
                                  </p:childTnLst>
                                </p:cTn>
                              </p:par>
                              <p:par>
                                <p:cTn id="25" presetID="2" presetClass="entr" presetSubtype="1" fill="hold" nodeType="withEffect">
                                  <p:stCondLst>
                                    <p:cond delay="0"/>
                                  </p:stCondLst>
                                  <p:childTnLst>
                                    <p:set>
                                      <p:cBhvr>
                                        <p:cTn id="26" dur="1" fill="hold">
                                          <p:stCondLst>
                                            <p:cond delay="0"/>
                                          </p:stCondLst>
                                        </p:cTn>
                                        <p:tgtEl>
                                          <p:spTgt spid="221197"/>
                                        </p:tgtEl>
                                        <p:attrNameLst>
                                          <p:attrName>style.visibility</p:attrName>
                                        </p:attrNameLst>
                                      </p:cBhvr>
                                      <p:to>
                                        <p:strVal val="visible"/>
                                      </p:to>
                                    </p:set>
                                    <p:anim calcmode="lin" valueType="num">
                                      <p:cBhvr additive="base">
                                        <p:cTn id="27" dur="500" fill="hold"/>
                                        <p:tgtEl>
                                          <p:spTgt spid="221197"/>
                                        </p:tgtEl>
                                        <p:attrNameLst>
                                          <p:attrName>ppt_x</p:attrName>
                                        </p:attrNameLst>
                                      </p:cBhvr>
                                      <p:tavLst>
                                        <p:tav tm="0">
                                          <p:val>
                                            <p:strVal val="#ppt_x"/>
                                          </p:val>
                                        </p:tav>
                                        <p:tav tm="100000">
                                          <p:val>
                                            <p:strVal val="#ppt_x"/>
                                          </p:val>
                                        </p:tav>
                                      </p:tavLst>
                                    </p:anim>
                                    <p:anim calcmode="lin" valueType="num">
                                      <p:cBhvr additive="base">
                                        <p:cTn id="28" dur="500" fill="hold"/>
                                        <p:tgtEl>
                                          <p:spTgt spid="221197"/>
                                        </p:tgtEl>
                                        <p:attrNameLst>
                                          <p:attrName>ppt_y</p:attrName>
                                        </p:attrNameLst>
                                      </p:cBhvr>
                                      <p:tavLst>
                                        <p:tav tm="0">
                                          <p:val>
                                            <p:strVal val="0-#ppt_h/2"/>
                                          </p:val>
                                        </p:tav>
                                        <p:tav tm="100000">
                                          <p:val>
                                            <p:strVal val="#ppt_y"/>
                                          </p:val>
                                        </p:tav>
                                      </p:tavLst>
                                    </p:anim>
                                  </p:childTnLst>
                                </p:cTn>
                              </p:par>
                              <p:par>
                                <p:cTn id="29" presetID="2" presetClass="entr" presetSubtype="1" fill="hold" nodeType="withEffect">
                                  <p:stCondLst>
                                    <p:cond delay="0"/>
                                  </p:stCondLst>
                                  <p:childTnLst>
                                    <p:set>
                                      <p:cBhvr>
                                        <p:cTn id="30" dur="1" fill="hold">
                                          <p:stCondLst>
                                            <p:cond delay="0"/>
                                          </p:stCondLst>
                                        </p:cTn>
                                        <p:tgtEl>
                                          <p:spTgt spid="221198"/>
                                        </p:tgtEl>
                                        <p:attrNameLst>
                                          <p:attrName>style.visibility</p:attrName>
                                        </p:attrNameLst>
                                      </p:cBhvr>
                                      <p:to>
                                        <p:strVal val="visible"/>
                                      </p:to>
                                    </p:set>
                                    <p:anim calcmode="lin" valueType="num">
                                      <p:cBhvr additive="base">
                                        <p:cTn id="31" dur="500" fill="hold"/>
                                        <p:tgtEl>
                                          <p:spTgt spid="221198"/>
                                        </p:tgtEl>
                                        <p:attrNameLst>
                                          <p:attrName>ppt_x</p:attrName>
                                        </p:attrNameLst>
                                      </p:cBhvr>
                                      <p:tavLst>
                                        <p:tav tm="0">
                                          <p:val>
                                            <p:strVal val="#ppt_x"/>
                                          </p:val>
                                        </p:tav>
                                        <p:tav tm="100000">
                                          <p:val>
                                            <p:strVal val="#ppt_x"/>
                                          </p:val>
                                        </p:tav>
                                      </p:tavLst>
                                    </p:anim>
                                    <p:anim calcmode="lin" valueType="num">
                                      <p:cBhvr additive="base">
                                        <p:cTn id="32" dur="500" fill="hold"/>
                                        <p:tgtEl>
                                          <p:spTgt spid="221198"/>
                                        </p:tgtEl>
                                        <p:attrNameLst>
                                          <p:attrName>ppt_y</p:attrName>
                                        </p:attrNameLst>
                                      </p:cBhvr>
                                      <p:tavLst>
                                        <p:tav tm="0">
                                          <p:val>
                                            <p:strVal val="0-#ppt_h/2"/>
                                          </p:val>
                                        </p:tav>
                                        <p:tav tm="100000">
                                          <p:val>
                                            <p:strVal val="#ppt_y"/>
                                          </p:val>
                                        </p:tav>
                                      </p:tavLst>
                                    </p:anim>
                                  </p:childTnLst>
                                </p:cTn>
                              </p:par>
                              <p:par>
                                <p:cTn id="33" presetID="2" presetClass="entr" presetSubtype="1" fill="hold" nodeType="withEffect">
                                  <p:stCondLst>
                                    <p:cond delay="0"/>
                                  </p:stCondLst>
                                  <p:childTnLst>
                                    <p:set>
                                      <p:cBhvr>
                                        <p:cTn id="34" dur="1" fill="hold">
                                          <p:stCondLst>
                                            <p:cond delay="0"/>
                                          </p:stCondLst>
                                        </p:cTn>
                                        <p:tgtEl>
                                          <p:spTgt spid="221199"/>
                                        </p:tgtEl>
                                        <p:attrNameLst>
                                          <p:attrName>style.visibility</p:attrName>
                                        </p:attrNameLst>
                                      </p:cBhvr>
                                      <p:to>
                                        <p:strVal val="visible"/>
                                      </p:to>
                                    </p:set>
                                    <p:anim calcmode="lin" valueType="num">
                                      <p:cBhvr additive="base">
                                        <p:cTn id="35" dur="500" fill="hold"/>
                                        <p:tgtEl>
                                          <p:spTgt spid="221199"/>
                                        </p:tgtEl>
                                        <p:attrNameLst>
                                          <p:attrName>ppt_x</p:attrName>
                                        </p:attrNameLst>
                                      </p:cBhvr>
                                      <p:tavLst>
                                        <p:tav tm="0">
                                          <p:val>
                                            <p:strVal val="#ppt_x"/>
                                          </p:val>
                                        </p:tav>
                                        <p:tav tm="100000">
                                          <p:val>
                                            <p:strVal val="#ppt_x"/>
                                          </p:val>
                                        </p:tav>
                                      </p:tavLst>
                                    </p:anim>
                                    <p:anim calcmode="lin" valueType="num">
                                      <p:cBhvr additive="base">
                                        <p:cTn id="36" dur="500" fill="hold"/>
                                        <p:tgtEl>
                                          <p:spTgt spid="221199"/>
                                        </p:tgtEl>
                                        <p:attrNameLst>
                                          <p:attrName>ppt_y</p:attrName>
                                        </p:attrNameLst>
                                      </p:cBhvr>
                                      <p:tavLst>
                                        <p:tav tm="0">
                                          <p:val>
                                            <p:strVal val="0-#ppt_h/2"/>
                                          </p:val>
                                        </p:tav>
                                        <p:tav tm="100000">
                                          <p:val>
                                            <p:strVal val="#ppt_y"/>
                                          </p:val>
                                        </p:tav>
                                      </p:tavLst>
                                    </p:anim>
                                  </p:childTnLst>
                                </p:cTn>
                              </p:par>
                              <p:par>
                                <p:cTn id="37" presetID="2" presetClass="entr" presetSubtype="1" fill="hold" nodeType="withEffect">
                                  <p:stCondLst>
                                    <p:cond delay="0"/>
                                  </p:stCondLst>
                                  <p:childTnLst>
                                    <p:set>
                                      <p:cBhvr>
                                        <p:cTn id="38" dur="1" fill="hold">
                                          <p:stCondLst>
                                            <p:cond delay="0"/>
                                          </p:stCondLst>
                                        </p:cTn>
                                        <p:tgtEl>
                                          <p:spTgt spid="221200"/>
                                        </p:tgtEl>
                                        <p:attrNameLst>
                                          <p:attrName>style.visibility</p:attrName>
                                        </p:attrNameLst>
                                      </p:cBhvr>
                                      <p:to>
                                        <p:strVal val="visible"/>
                                      </p:to>
                                    </p:set>
                                    <p:anim calcmode="lin" valueType="num">
                                      <p:cBhvr additive="base">
                                        <p:cTn id="39" dur="500" fill="hold"/>
                                        <p:tgtEl>
                                          <p:spTgt spid="221200"/>
                                        </p:tgtEl>
                                        <p:attrNameLst>
                                          <p:attrName>ppt_x</p:attrName>
                                        </p:attrNameLst>
                                      </p:cBhvr>
                                      <p:tavLst>
                                        <p:tav tm="0">
                                          <p:val>
                                            <p:strVal val="#ppt_x"/>
                                          </p:val>
                                        </p:tav>
                                        <p:tav tm="100000">
                                          <p:val>
                                            <p:strVal val="#ppt_x"/>
                                          </p:val>
                                        </p:tav>
                                      </p:tavLst>
                                    </p:anim>
                                    <p:anim calcmode="lin" valueType="num">
                                      <p:cBhvr additive="base">
                                        <p:cTn id="40" dur="500" fill="hold"/>
                                        <p:tgtEl>
                                          <p:spTgt spid="221200"/>
                                        </p:tgtEl>
                                        <p:attrNameLst>
                                          <p:attrName>ppt_y</p:attrName>
                                        </p:attrNameLst>
                                      </p:cBhvr>
                                      <p:tavLst>
                                        <p:tav tm="0">
                                          <p:val>
                                            <p:strVal val="0-#ppt_h/2"/>
                                          </p:val>
                                        </p:tav>
                                        <p:tav tm="100000">
                                          <p:val>
                                            <p:strVal val="#ppt_y"/>
                                          </p:val>
                                        </p:tav>
                                      </p:tavLst>
                                    </p:anim>
                                  </p:childTnLst>
                                </p:cTn>
                              </p:par>
                              <p:par>
                                <p:cTn id="41" presetID="2" presetClass="entr" presetSubtype="1" fill="hold" nodeType="withEffect">
                                  <p:stCondLst>
                                    <p:cond delay="0"/>
                                  </p:stCondLst>
                                  <p:childTnLst>
                                    <p:set>
                                      <p:cBhvr>
                                        <p:cTn id="42" dur="1" fill="hold">
                                          <p:stCondLst>
                                            <p:cond delay="0"/>
                                          </p:stCondLst>
                                        </p:cTn>
                                        <p:tgtEl>
                                          <p:spTgt spid="221201"/>
                                        </p:tgtEl>
                                        <p:attrNameLst>
                                          <p:attrName>style.visibility</p:attrName>
                                        </p:attrNameLst>
                                      </p:cBhvr>
                                      <p:to>
                                        <p:strVal val="visible"/>
                                      </p:to>
                                    </p:set>
                                    <p:anim calcmode="lin" valueType="num">
                                      <p:cBhvr additive="base">
                                        <p:cTn id="43" dur="500" fill="hold"/>
                                        <p:tgtEl>
                                          <p:spTgt spid="221201"/>
                                        </p:tgtEl>
                                        <p:attrNameLst>
                                          <p:attrName>ppt_x</p:attrName>
                                        </p:attrNameLst>
                                      </p:cBhvr>
                                      <p:tavLst>
                                        <p:tav tm="0">
                                          <p:val>
                                            <p:strVal val="#ppt_x"/>
                                          </p:val>
                                        </p:tav>
                                        <p:tav tm="100000">
                                          <p:val>
                                            <p:strVal val="#ppt_x"/>
                                          </p:val>
                                        </p:tav>
                                      </p:tavLst>
                                    </p:anim>
                                    <p:anim calcmode="lin" valueType="num">
                                      <p:cBhvr additive="base">
                                        <p:cTn id="44" dur="500" fill="hold"/>
                                        <p:tgtEl>
                                          <p:spTgt spid="221201"/>
                                        </p:tgtEl>
                                        <p:attrNameLst>
                                          <p:attrName>ppt_y</p:attrName>
                                        </p:attrNameLst>
                                      </p:cBhvr>
                                      <p:tavLst>
                                        <p:tav tm="0">
                                          <p:val>
                                            <p:strVal val="0-#ppt_h/2"/>
                                          </p:val>
                                        </p:tav>
                                        <p:tav tm="100000">
                                          <p:val>
                                            <p:strVal val="#ppt_y"/>
                                          </p:val>
                                        </p:tav>
                                      </p:tavLst>
                                    </p:anim>
                                  </p:childTnLst>
                                </p:cTn>
                              </p:par>
                              <p:par>
                                <p:cTn id="45" presetID="2" presetClass="entr" presetSubtype="1" fill="hold" nodeType="withEffect">
                                  <p:stCondLst>
                                    <p:cond delay="0"/>
                                  </p:stCondLst>
                                  <p:childTnLst>
                                    <p:set>
                                      <p:cBhvr>
                                        <p:cTn id="46" dur="1" fill="hold">
                                          <p:stCondLst>
                                            <p:cond delay="0"/>
                                          </p:stCondLst>
                                        </p:cTn>
                                        <p:tgtEl>
                                          <p:spTgt spid="221255"/>
                                        </p:tgtEl>
                                        <p:attrNameLst>
                                          <p:attrName>style.visibility</p:attrName>
                                        </p:attrNameLst>
                                      </p:cBhvr>
                                      <p:to>
                                        <p:strVal val="visible"/>
                                      </p:to>
                                    </p:set>
                                    <p:anim calcmode="lin" valueType="num">
                                      <p:cBhvr additive="base">
                                        <p:cTn id="47" dur="500" fill="hold"/>
                                        <p:tgtEl>
                                          <p:spTgt spid="221255"/>
                                        </p:tgtEl>
                                        <p:attrNameLst>
                                          <p:attrName>ppt_x</p:attrName>
                                        </p:attrNameLst>
                                      </p:cBhvr>
                                      <p:tavLst>
                                        <p:tav tm="0">
                                          <p:val>
                                            <p:strVal val="#ppt_x"/>
                                          </p:val>
                                        </p:tav>
                                        <p:tav tm="100000">
                                          <p:val>
                                            <p:strVal val="#ppt_x"/>
                                          </p:val>
                                        </p:tav>
                                      </p:tavLst>
                                    </p:anim>
                                    <p:anim calcmode="lin" valueType="num">
                                      <p:cBhvr additive="base">
                                        <p:cTn id="48" dur="500" fill="hold"/>
                                        <p:tgtEl>
                                          <p:spTgt spid="221255"/>
                                        </p:tgtEl>
                                        <p:attrNameLst>
                                          <p:attrName>ppt_y</p:attrName>
                                        </p:attrNameLst>
                                      </p:cBhvr>
                                      <p:tavLst>
                                        <p:tav tm="0">
                                          <p:val>
                                            <p:strVal val="0-#ppt_h/2"/>
                                          </p:val>
                                        </p:tav>
                                        <p:tav tm="100000">
                                          <p:val>
                                            <p:strVal val="#ppt_y"/>
                                          </p:val>
                                        </p:tav>
                                      </p:tavLst>
                                    </p:anim>
                                  </p:childTnLst>
                                </p:cTn>
                              </p:par>
                              <p:par>
                                <p:cTn id="49" presetID="2" presetClass="entr" presetSubtype="1" fill="hold" grpId="0" nodeType="withEffect">
                                  <p:stCondLst>
                                    <p:cond delay="0"/>
                                  </p:stCondLst>
                                  <p:childTnLst>
                                    <p:set>
                                      <p:cBhvr>
                                        <p:cTn id="50" dur="1" fill="hold">
                                          <p:stCondLst>
                                            <p:cond delay="0"/>
                                          </p:stCondLst>
                                        </p:cTn>
                                        <p:tgtEl>
                                          <p:spTgt spid="221256"/>
                                        </p:tgtEl>
                                        <p:attrNameLst>
                                          <p:attrName>style.visibility</p:attrName>
                                        </p:attrNameLst>
                                      </p:cBhvr>
                                      <p:to>
                                        <p:strVal val="visible"/>
                                      </p:to>
                                    </p:set>
                                    <p:anim calcmode="lin" valueType="num">
                                      <p:cBhvr additive="base">
                                        <p:cTn id="51" dur="500" fill="hold"/>
                                        <p:tgtEl>
                                          <p:spTgt spid="221256"/>
                                        </p:tgtEl>
                                        <p:attrNameLst>
                                          <p:attrName>ppt_x</p:attrName>
                                        </p:attrNameLst>
                                      </p:cBhvr>
                                      <p:tavLst>
                                        <p:tav tm="0">
                                          <p:val>
                                            <p:strVal val="#ppt_x"/>
                                          </p:val>
                                        </p:tav>
                                        <p:tav tm="100000">
                                          <p:val>
                                            <p:strVal val="#ppt_x"/>
                                          </p:val>
                                        </p:tav>
                                      </p:tavLst>
                                    </p:anim>
                                    <p:anim calcmode="lin" valueType="num">
                                      <p:cBhvr additive="base">
                                        <p:cTn id="52" dur="500" fill="hold"/>
                                        <p:tgtEl>
                                          <p:spTgt spid="221256"/>
                                        </p:tgtEl>
                                        <p:attrNameLst>
                                          <p:attrName>ppt_y</p:attrName>
                                        </p:attrNameLst>
                                      </p:cBhvr>
                                      <p:tavLst>
                                        <p:tav tm="0">
                                          <p:val>
                                            <p:strVal val="0-#ppt_h/2"/>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1" fill="hold" nodeType="clickEffect">
                                  <p:stCondLst>
                                    <p:cond delay="0"/>
                                  </p:stCondLst>
                                  <p:childTnLst>
                                    <p:set>
                                      <p:cBhvr>
                                        <p:cTn id="56" dur="1" fill="hold">
                                          <p:stCondLst>
                                            <p:cond delay="0"/>
                                          </p:stCondLst>
                                        </p:cTn>
                                        <p:tgtEl>
                                          <p:spTgt spid="221189"/>
                                        </p:tgtEl>
                                        <p:attrNameLst>
                                          <p:attrName>style.visibility</p:attrName>
                                        </p:attrNameLst>
                                      </p:cBhvr>
                                      <p:to>
                                        <p:strVal val="visible"/>
                                      </p:to>
                                    </p:set>
                                    <p:anim calcmode="lin" valueType="num">
                                      <p:cBhvr additive="base">
                                        <p:cTn id="57" dur="500" fill="hold"/>
                                        <p:tgtEl>
                                          <p:spTgt spid="221189"/>
                                        </p:tgtEl>
                                        <p:attrNameLst>
                                          <p:attrName>ppt_x</p:attrName>
                                        </p:attrNameLst>
                                      </p:cBhvr>
                                      <p:tavLst>
                                        <p:tav tm="0">
                                          <p:val>
                                            <p:strVal val="#ppt_x"/>
                                          </p:val>
                                        </p:tav>
                                        <p:tav tm="100000">
                                          <p:val>
                                            <p:strVal val="#ppt_x"/>
                                          </p:val>
                                        </p:tav>
                                      </p:tavLst>
                                    </p:anim>
                                    <p:anim calcmode="lin" valueType="num">
                                      <p:cBhvr additive="base">
                                        <p:cTn id="58" dur="500" fill="hold"/>
                                        <p:tgtEl>
                                          <p:spTgt spid="221189"/>
                                        </p:tgtEl>
                                        <p:attrNameLst>
                                          <p:attrName>ppt_y</p:attrName>
                                        </p:attrNameLst>
                                      </p:cBhvr>
                                      <p:tavLst>
                                        <p:tav tm="0">
                                          <p:val>
                                            <p:strVal val="0-#ppt_h/2"/>
                                          </p:val>
                                        </p:tav>
                                        <p:tav tm="100000">
                                          <p:val>
                                            <p:strVal val="#ppt_y"/>
                                          </p:val>
                                        </p:tav>
                                      </p:tavLst>
                                    </p:anim>
                                  </p:childTnLst>
                                </p:cTn>
                              </p:par>
                              <p:par>
                                <p:cTn id="59" presetID="2" presetClass="entr" presetSubtype="1" fill="hold" nodeType="withEffect">
                                  <p:stCondLst>
                                    <p:cond delay="0"/>
                                  </p:stCondLst>
                                  <p:childTnLst>
                                    <p:set>
                                      <p:cBhvr>
                                        <p:cTn id="60" dur="1" fill="hold">
                                          <p:stCondLst>
                                            <p:cond delay="0"/>
                                          </p:stCondLst>
                                        </p:cTn>
                                        <p:tgtEl>
                                          <p:spTgt spid="221190"/>
                                        </p:tgtEl>
                                        <p:attrNameLst>
                                          <p:attrName>style.visibility</p:attrName>
                                        </p:attrNameLst>
                                      </p:cBhvr>
                                      <p:to>
                                        <p:strVal val="visible"/>
                                      </p:to>
                                    </p:set>
                                    <p:anim calcmode="lin" valueType="num">
                                      <p:cBhvr additive="base">
                                        <p:cTn id="61" dur="500" fill="hold"/>
                                        <p:tgtEl>
                                          <p:spTgt spid="221190"/>
                                        </p:tgtEl>
                                        <p:attrNameLst>
                                          <p:attrName>ppt_x</p:attrName>
                                        </p:attrNameLst>
                                      </p:cBhvr>
                                      <p:tavLst>
                                        <p:tav tm="0">
                                          <p:val>
                                            <p:strVal val="#ppt_x"/>
                                          </p:val>
                                        </p:tav>
                                        <p:tav tm="100000">
                                          <p:val>
                                            <p:strVal val="#ppt_x"/>
                                          </p:val>
                                        </p:tav>
                                      </p:tavLst>
                                    </p:anim>
                                    <p:anim calcmode="lin" valueType="num">
                                      <p:cBhvr additive="base">
                                        <p:cTn id="62" dur="500" fill="hold"/>
                                        <p:tgtEl>
                                          <p:spTgt spid="221190"/>
                                        </p:tgtEl>
                                        <p:attrNameLst>
                                          <p:attrName>ppt_y</p:attrName>
                                        </p:attrNameLst>
                                      </p:cBhvr>
                                      <p:tavLst>
                                        <p:tav tm="0">
                                          <p:val>
                                            <p:strVal val="0-#ppt_h/2"/>
                                          </p:val>
                                        </p:tav>
                                        <p:tav tm="100000">
                                          <p:val>
                                            <p:strVal val="#ppt_y"/>
                                          </p:val>
                                        </p:tav>
                                      </p:tavLst>
                                    </p:anim>
                                  </p:childTnLst>
                                </p:cTn>
                              </p:par>
                              <p:par>
                                <p:cTn id="63" presetID="2" presetClass="entr" presetSubtype="1" fill="hold" nodeType="withEffect">
                                  <p:stCondLst>
                                    <p:cond delay="0"/>
                                  </p:stCondLst>
                                  <p:childTnLst>
                                    <p:set>
                                      <p:cBhvr>
                                        <p:cTn id="64" dur="1" fill="hold">
                                          <p:stCondLst>
                                            <p:cond delay="0"/>
                                          </p:stCondLst>
                                        </p:cTn>
                                        <p:tgtEl>
                                          <p:spTgt spid="221191"/>
                                        </p:tgtEl>
                                        <p:attrNameLst>
                                          <p:attrName>style.visibility</p:attrName>
                                        </p:attrNameLst>
                                      </p:cBhvr>
                                      <p:to>
                                        <p:strVal val="visible"/>
                                      </p:to>
                                    </p:set>
                                    <p:anim calcmode="lin" valueType="num">
                                      <p:cBhvr additive="base">
                                        <p:cTn id="65" dur="500" fill="hold"/>
                                        <p:tgtEl>
                                          <p:spTgt spid="221191"/>
                                        </p:tgtEl>
                                        <p:attrNameLst>
                                          <p:attrName>ppt_x</p:attrName>
                                        </p:attrNameLst>
                                      </p:cBhvr>
                                      <p:tavLst>
                                        <p:tav tm="0">
                                          <p:val>
                                            <p:strVal val="#ppt_x"/>
                                          </p:val>
                                        </p:tav>
                                        <p:tav tm="100000">
                                          <p:val>
                                            <p:strVal val="#ppt_x"/>
                                          </p:val>
                                        </p:tav>
                                      </p:tavLst>
                                    </p:anim>
                                    <p:anim calcmode="lin" valueType="num">
                                      <p:cBhvr additive="base">
                                        <p:cTn id="66" dur="500" fill="hold"/>
                                        <p:tgtEl>
                                          <p:spTgt spid="221191"/>
                                        </p:tgtEl>
                                        <p:attrNameLst>
                                          <p:attrName>ppt_y</p:attrName>
                                        </p:attrNameLst>
                                      </p:cBhvr>
                                      <p:tavLst>
                                        <p:tav tm="0">
                                          <p:val>
                                            <p:strVal val="0-#ppt_h/2"/>
                                          </p:val>
                                        </p:tav>
                                        <p:tav tm="100000">
                                          <p:val>
                                            <p:strVal val="#ppt_y"/>
                                          </p:val>
                                        </p:tav>
                                      </p:tavLst>
                                    </p:anim>
                                  </p:childTnLst>
                                </p:cTn>
                              </p:par>
                              <p:par>
                                <p:cTn id="67" presetID="2" presetClass="entr" presetSubtype="1" fill="hold" nodeType="withEffect">
                                  <p:stCondLst>
                                    <p:cond delay="0"/>
                                  </p:stCondLst>
                                  <p:childTnLst>
                                    <p:set>
                                      <p:cBhvr>
                                        <p:cTn id="68" dur="1" fill="hold">
                                          <p:stCondLst>
                                            <p:cond delay="0"/>
                                          </p:stCondLst>
                                        </p:cTn>
                                        <p:tgtEl>
                                          <p:spTgt spid="221202"/>
                                        </p:tgtEl>
                                        <p:attrNameLst>
                                          <p:attrName>style.visibility</p:attrName>
                                        </p:attrNameLst>
                                      </p:cBhvr>
                                      <p:to>
                                        <p:strVal val="visible"/>
                                      </p:to>
                                    </p:set>
                                    <p:anim calcmode="lin" valueType="num">
                                      <p:cBhvr additive="base">
                                        <p:cTn id="69" dur="500" fill="hold"/>
                                        <p:tgtEl>
                                          <p:spTgt spid="221202"/>
                                        </p:tgtEl>
                                        <p:attrNameLst>
                                          <p:attrName>ppt_x</p:attrName>
                                        </p:attrNameLst>
                                      </p:cBhvr>
                                      <p:tavLst>
                                        <p:tav tm="0">
                                          <p:val>
                                            <p:strVal val="#ppt_x"/>
                                          </p:val>
                                        </p:tav>
                                        <p:tav tm="100000">
                                          <p:val>
                                            <p:strVal val="#ppt_x"/>
                                          </p:val>
                                        </p:tav>
                                      </p:tavLst>
                                    </p:anim>
                                    <p:anim calcmode="lin" valueType="num">
                                      <p:cBhvr additive="base">
                                        <p:cTn id="70" dur="500" fill="hold"/>
                                        <p:tgtEl>
                                          <p:spTgt spid="221202"/>
                                        </p:tgtEl>
                                        <p:attrNameLst>
                                          <p:attrName>ppt_y</p:attrName>
                                        </p:attrNameLst>
                                      </p:cBhvr>
                                      <p:tavLst>
                                        <p:tav tm="0">
                                          <p:val>
                                            <p:strVal val="0-#ppt_h/2"/>
                                          </p:val>
                                        </p:tav>
                                        <p:tav tm="100000">
                                          <p:val>
                                            <p:strVal val="#ppt_y"/>
                                          </p:val>
                                        </p:tav>
                                      </p:tavLst>
                                    </p:anim>
                                  </p:childTnLst>
                                </p:cTn>
                              </p:par>
                              <p:par>
                                <p:cTn id="71" presetID="2" presetClass="entr" presetSubtype="1" fill="hold" nodeType="withEffect">
                                  <p:stCondLst>
                                    <p:cond delay="0"/>
                                  </p:stCondLst>
                                  <p:childTnLst>
                                    <p:set>
                                      <p:cBhvr>
                                        <p:cTn id="72" dur="1" fill="hold">
                                          <p:stCondLst>
                                            <p:cond delay="0"/>
                                          </p:stCondLst>
                                        </p:cTn>
                                        <p:tgtEl>
                                          <p:spTgt spid="221203"/>
                                        </p:tgtEl>
                                        <p:attrNameLst>
                                          <p:attrName>style.visibility</p:attrName>
                                        </p:attrNameLst>
                                      </p:cBhvr>
                                      <p:to>
                                        <p:strVal val="visible"/>
                                      </p:to>
                                    </p:set>
                                    <p:anim calcmode="lin" valueType="num">
                                      <p:cBhvr additive="base">
                                        <p:cTn id="73" dur="500" fill="hold"/>
                                        <p:tgtEl>
                                          <p:spTgt spid="221203"/>
                                        </p:tgtEl>
                                        <p:attrNameLst>
                                          <p:attrName>ppt_x</p:attrName>
                                        </p:attrNameLst>
                                      </p:cBhvr>
                                      <p:tavLst>
                                        <p:tav tm="0">
                                          <p:val>
                                            <p:strVal val="#ppt_x"/>
                                          </p:val>
                                        </p:tav>
                                        <p:tav tm="100000">
                                          <p:val>
                                            <p:strVal val="#ppt_x"/>
                                          </p:val>
                                        </p:tav>
                                      </p:tavLst>
                                    </p:anim>
                                    <p:anim calcmode="lin" valueType="num">
                                      <p:cBhvr additive="base">
                                        <p:cTn id="74" dur="500" fill="hold"/>
                                        <p:tgtEl>
                                          <p:spTgt spid="221203"/>
                                        </p:tgtEl>
                                        <p:attrNameLst>
                                          <p:attrName>ppt_y</p:attrName>
                                        </p:attrNameLst>
                                      </p:cBhvr>
                                      <p:tavLst>
                                        <p:tav tm="0">
                                          <p:val>
                                            <p:strVal val="0-#ppt_h/2"/>
                                          </p:val>
                                        </p:tav>
                                        <p:tav tm="100000">
                                          <p:val>
                                            <p:strVal val="#ppt_y"/>
                                          </p:val>
                                        </p:tav>
                                      </p:tavLst>
                                    </p:anim>
                                  </p:childTnLst>
                                </p:cTn>
                              </p:par>
                              <p:par>
                                <p:cTn id="75" presetID="2" presetClass="entr" presetSubtype="1" fill="hold" nodeType="withEffect">
                                  <p:stCondLst>
                                    <p:cond delay="0"/>
                                  </p:stCondLst>
                                  <p:childTnLst>
                                    <p:set>
                                      <p:cBhvr>
                                        <p:cTn id="76" dur="1" fill="hold">
                                          <p:stCondLst>
                                            <p:cond delay="0"/>
                                          </p:stCondLst>
                                        </p:cTn>
                                        <p:tgtEl>
                                          <p:spTgt spid="221204"/>
                                        </p:tgtEl>
                                        <p:attrNameLst>
                                          <p:attrName>style.visibility</p:attrName>
                                        </p:attrNameLst>
                                      </p:cBhvr>
                                      <p:to>
                                        <p:strVal val="visible"/>
                                      </p:to>
                                    </p:set>
                                    <p:anim calcmode="lin" valueType="num">
                                      <p:cBhvr additive="base">
                                        <p:cTn id="77" dur="500" fill="hold"/>
                                        <p:tgtEl>
                                          <p:spTgt spid="221204"/>
                                        </p:tgtEl>
                                        <p:attrNameLst>
                                          <p:attrName>ppt_x</p:attrName>
                                        </p:attrNameLst>
                                      </p:cBhvr>
                                      <p:tavLst>
                                        <p:tav tm="0">
                                          <p:val>
                                            <p:strVal val="#ppt_x"/>
                                          </p:val>
                                        </p:tav>
                                        <p:tav tm="100000">
                                          <p:val>
                                            <p:strVal val="#ppt_x"/>
                                          </p:val>
                                        </p:tav>
                                      </p:tavLst>
                                    </p:anim>
                                    <p:anim calcmode="lin" valueType="num">
                                      <p:cBhvr additive="base">
                                        <p:cTn id="78" dur="500" fill="hold"/>
                                        <p:tgtEl>
                                          <p:spTgt spid="221204"/>
                                        </p:tgtEl>
                                        <p:attrNameLst>
                                          <p:attrName>ppt_y</p:attrName>
                                        </p:attrNameLst>
                                      </p:cBhvr>
                                      <p:tavLst>
                                        <p:tav tm="0">
                                          <p:val>
                                            <p:strVal val="0-#ppt_h/2"/>
                                          </p:val>
                                        </p:tav>
                                        <p:tav tm="100000">
                                          <p:val>
                                            <p:strVal val="#ppt_y"/>
                                          </p:val>
                                        </p:tav>
                                      </p:tavLst>
                                    </p:anim>
                                  </p:childTnLst>
                                </p:cTn>
                              </p:par>
                              <p:par>
                                <p:cTn id="79" presetID="2" presetClass="entr" presetSubtype="1" fill="hold" nodeType="withEffect">
                                  <p:stCondLst>
                                    <p:cond delay="0"/>
                                  </p:stCondLst>
                                  <p:childTnLst>
                                    <p:set>
                                      <p:cBhvr>
                                        <p:cTn id="80" dur="1" fill="hold">
                                          <p:stCondLst>
                                            <p:cond delay="0"/>
                                          </p:stCondLst>
                                        </p:cTn>
                                        <p:tgtEl>
                                          <p:spTgt spid="221205"/>
                                        </p:tgtEl>
                                        <p:attrNameLst>
                                          <p:attrName>style.visibility</p:attrName>
                                        </p:attrNameLst>
                                      </p:cBhvr>
                                      <p:to>
                                        <p:strVal val="visible"/>
                                      </p:to>
                                    </p:set>
                                    <p:anim calcmode="lin" valueType="num">
                                      <p:cBhvr additive="base">
                                        <p:cTn id="81" dur="500" fill="hold"/>
                                        <p:tgtEl>
                                          <p:spTgt spid="221205"/>
                                        </p:tgtEl>
                                        <p:attrNameLst>
                                          <p:attrName>ppt_x</p:attrName>
                                        </p:attrNameLst>
                                      </p:cBhvr>
                                      <p:tavLst>
                                        <p:tav tm="0">
                                          <p:val>
                                            <p:strVal val="#ppt_x"/>
                                          </p:val>
                                        </p:tav>
                                        <p:tav tm="100000">
                                          <p:val>
                                            <p:strVal val="#ppt_x"/>
                                          </p:val>
                                        </p:tav>
                                      </p:tavLst>
                                    </p:anim>
                                    <p:anim calcmode="lin" valueType="num">
                                      <p:cBhvr additive="base">
                                        <p:cTn id="82" dur="500" fill="hold"/>
                                        <p:tgtEl>
                                          <p:spTgt spid="221205"/>
                                        </p:tgtEl>
                                        <p:attrNameLst>
                                          <p:attrName>ppt_y</p:attrName>
                                        </p:attrNameLst>
                                      </p:cBhvr>
                                      <p:tavLst>
                                        <p:tav tm="0">
                                          <p:val>
                                            <p:strVal val="0-#ppt_h/2"/>
                                          </p:val>
                                        </p:tav>
                                        <p:tav tm="100000">
                                          <p:val>
                                            <p:strVal val="#ppt_y"/>
                                          </p:val>
                                        </p:tav>
                                      </p:tavLst>
                                    </p:anim>
                                  </p:childTnLst>
                                </p:cTn>
                              </p:par>
                              <p:par>
                                <p:cTn id="83" presetID="2" presetClass="entr" presetSubtype="1" fill="hold" nodeType="withEffect">
                                  <p:stCondLst>
                                    <p:cond delay="0"/>
                                  </p:stCondLst>
                                  <p:childTnLst>
                                    <p:set>
                                      <p:cBhvr>
                                        <p:cTn id="84" dur="1" fill="hold">
                                          <p:stCondLst>
                                            <p:cond delay="0"/>
                                          </p:stCondLst>
                                        </p:cTn>
                                        <p:tgtEl>
                                          <p:spTgt spid="221206"/>
                                        </p:tgtEl>
                                        <p:attrNameLst>
                                          <p:attrName>style.visibility</p:attrName>
                                        </p:attrNameLst>
                                      </p:cBhvr>
                                      <p:to>
                                        <p:strVal val="visible"/>
                                      </p:to>
                                    </p:set>
                                    <p:anim calcmode="lin" valueType="num">
                                      <p:cBhvr additive="base">
                                        <p:cTn id="85" dur="500" fill="hold"/>
                                        <p:tgtEl>
                                          <p:spTgt spid="221206"/>
                                        </p:tgtEl>
                                        <p:attrNameLst>
                                          <p:attrName>ppt_x</p:attrName>
                                        </p:attrNameLst>
                                      </p:cBhvr>
                                      <p:tavLst>
                                        <p:tav tm="0">
                                          <p:val>
                                            <p:strVal val="#ppt_x"/>
                                          </p:val>
                                        </p:tav>
                                        <p:tav tm="100000">
                                          <p:val>
                                            <p:strVal val="#ppt_x"/>
                                          </p:val>
                                        </p:tav>
                                      </p:tavLst>
                                    </p:anim>
                                    <p:anim calcmode="lin" valueType="num">
                                      <p:cBhvr additive="base">
                                        <p:cTn id="86" dur="500" fill="hold"/>
                                        <p:tgtEl>
                                          <p:spTgt spid="221206"/>
                                        </p:tgtEl>
                                        <p:attrNameLst>
                                          <p:attrName>ppt_y</p:attrName>
                                        </p:attrNameLst>
                                      </p:cBhvr>
                                      <p:tavLst>
                                        <p:tav tm="0">
                                          <p:val>
                                            <p:strVal val="0-#ppt_h/2"/>
                                          </p:val>
                                        </p:tav>
                                        <p:tav tm="100000">
                                          <p:val>
                                            <p:strVal val="#ppt_y"/>
                                          </p:val>
                                        </p:tav>
                                      </p:tavLst>
                                    </p:anim>
                                  </p:childTnLst>
                                </p:cTn>
                              </p:par>
                              <p:par>
                                <p:cTn id="87" presetID="2" presetClass="entr" presetSubtype="1" fill="hold" nodeType="withEffect">
                                  <p:stCondLst>
                                    <p:cond delay="0"/>
                                  </p:stCondLst>
                                  <p:childTnLst>
                                    <p:set>
                                      <p:cBhvr>
                                        <p:cTn id="88" dur="1" fill="hold">
                                          <p:stCondLst>
                                            <p:cond delay="0"/>
                                          </p:stCondLst>
                                        </p:cTn>
                                        <p:tgtEl>
                                          <p:spTgt spid="221207"/>
                                        </p:tgtEl>
                                        <p:attrNameLst>
                                          <p:attrName>style.visibility</p:attrName>
                                        </p:attrNameLst>
                                      </p:cBhvr>
                                      <p:to>
                                        <p:strVal val="visible"/>
                                      </p:to>
                                    </p:set>
                                    <p:anim calcmode="lin" valueType="num">
                                      <p:cBhvr additive="base">
                                        <p:cTn id="89" dur="500" fill="hold"/>
                                        <p:tgtEl>
                                          <p:spTgt spid="221207"/>
                                        </p:tgtEl>
                                        <p:attrNameLst>
                                          <p:attrName>ppt_x</p:attrName>
                                        </p:attrNameLst>
                                      </p:cBhvr>
                                      <p:tavLst>
                                        <p:tav tm="0">
                                          <p:val>
                                            <p:strVal val="#ppt_x"/>
                                          </p:val>
                                        </p:tav>
                                        <p:tav tm="100000">
                                          <p:val>
                                            <p:strVal val="#ppt_x"/>
                                          </p:val>
                                        </p:tav>
                                      </p:tavLst>
                                    </p:anim>
                                    <p:anim calcmode="lin" valueType="num">
                                      <p:cBhvr additive="base">
                                        <p:cTn id="90" dur="500" fill="hold"/>
                                        <p:tgtEl>
                                          <p:spTgt spid="221207"/>
                                        </p:tgtEl>
                                        <p:attrNameLst>
                                          <p:attrName>ppt_y</p:attrName>
                                        </p:attrNameLst>
                                      </p:cBhvr>
                                      <p:tavLst>
                                        <p:tav tm="0">
                                          <p:val>
                                            <p:strVal val="0-#ppt_h/2"/>
                                          </p:val>
                                        </p:tav>
                                        <p:tav tm="100000">
                                          <p:val>
                                            <p:strVal val="#ppt_y"/>
                                          </p:val>
                                        </p:tav>
                                      </p:tavLst>
                                    </p:anim>
                                  </p:childTnLst>
                                </p:cTn>
                              </p:par>
                              <p:par>
                                <p:cTn id="91" presetID="2" presetClass="entr" presetSubtype="1" fill="hold" nodeType="withEffect">
                                  <p:stCondLst>
                                    <p:cond delay="0"/>
                                  </p:stCondLst>
                                  <p:childTnLst>
                                    <p:set>
                                      <p:cBhvr>
                                        <p:cTn id="92" dur="1" fill="hold">
                                          <p:stCondLst>
                                            <p:cond delay="0"/>
                                          </p:stCondLst>
                                        </p:cTn>
                                        <p:tgtEl>
                                          <p:spTgt spid="221208"/>
                                        </p:tgtEl>
                                        <p:attrNameLst>
                                          <p:attrName>style.visibility</p:attrName>
                                        </p:attrNameLst>
                                      </p:cBhvr>
                                      <p:to>
                                        <p:strVal val="visible"/>
                                      </p:to>
                                    </p:set>
                                    <p:anim calcmode="lin" valueType="num">
                                      <p:cBhvr additive="base">
                                        <p:cTn id="93" dur="500" fill="hold"/>
                                        <p:tgtEl>
                                          <p:spTgt spid="221208"/>
                                        </p:tgtEl>
                                        <p:attrNameLst>
                                          <p:attrName>ppt_x</p:attrName>
                                        </p:attrNameLst>
                                      </p:cBhvr>
                                      <p:tavLst>
                                        <p:tav tm="0">
                                          <p:val>
                                            <p:strVal val="#ppt_x"/>
                                          </p:val>
                                        </p:tav>
                                        <p:tav tm="100000">
                                          <p:val>
                                            <p:strVal val="#ppt_x"/>
                                          </p:val>
                                        </p:tav>
                                      </p:tavLst>
                                    </p:anim>
                                    <p:anim calcmode="lin" valueType="num">
                                      <p:cBhvr additive="base">
                                        <p:cTn id="94" dur="500" fill="hold"/>
                                        <p:tgtEl>
                                          <p:spTgt spid="221208"/>
                                        </p:tgtEl>
                                        <p:attrNameLst>
                                          <p:attrName>ppt_y</p:attrName>
                                        </p:attrNameLst>
                                      </p:cBhvr>
                                      <p:tavLst>
                                        <p:tav tm="0">
                                          <p:val>
                                            <p:strVal val="0-#ppt_h/2"/>
                                          </p:val>
                                        </p:tav>
                                        <p:tav tm="100000">
                                          <p:val>
                                            <p:strVal val="#ppt_y"/>
                                          </p:val>
                                        </p:tav>
                                      </p:tavLst>
                                    </p:anim>
                                  </p:childTnLst>
                                </p:cTn>
                              </p:par>
                              <p:par>
                                <p:cTn id="95" presetID="2" presetClass="entr" presetSubtype="1" fill="hold" nodeType="withEffect">
                                  <p:stCondLst>
                                    <p:cond delay="0"/>
                                  </p:stCondLst>
                                  <p:childTnLst>
                                    <p:set>
                                      <p:cBhvr>
                                        <p:cTn id="96" dur="1" fill="hold">
                                          <p:stCondLst>
                                            <p:cond delay="0"/>
                                          </p:stCondLst>
                                        </p:cTn>
                                        <p:tgtEl>
                                          <p:spTgt spid="221209"/>
                                        </p:tgtEl>
                                        <p:attrNameLst>
                                          <p:attrName>style.visibility</p:attrName>
                                        </p:attrNameLst>
                                      </p:cBhvr>
                                      <p:to>
                                        <p:strVal val="visible"/>
                                      </p:to>
                                    </p:set>
                                    <p:anim calcmode="lin" valueType="num">
                                      <p:cBhvr additive="base">
                                        <p:cTn id="97" dur="500" fill="hold"/>
                                        <p:tgtEl>
                                          <p:spTgt spid="221209"/>
                                        </p:tgtEl>
                                        <p:attrNameLst>
                                          <p:attrName>ppt_x</p:attrName>
                                        </p:attrNameLst>
                                      </p:cBhvr>
                                      <p:tavLst>
                                        <p:tav tm="0">
                                          <p:val>
                                            <p:strVal val="#ppt_x"/>
                                          </p:val>
                                        </p:tav>
                                        <p:tav tm="100000">
                                          <p:val>
                                            <p:strVal val="#ppt_x"/>
                                          </p:val>
                                        </p:tav>
                                      </p:tavLst>
                                    </p:anim>
                                    <p:anim calcmode="lin" valueType="num">
                                      <p:cBhvr additive="base">
                                        <p:cTn id="98" dur="500" fill="hold"/>
                                        <p:tgtEl>
                                          <p:spTgt spid="221209"/>
                                        </p:tgtEl>
                                        <p:attrNameLst>
                                          <p:attrName>ppt_y</p:attrName>
                                        </p:attrNameLst>
                                      </p:cBhvr>
                                      <p:tavLst>
                                        <p:tav tm="0">
                                          <p:val>
                                            <p:strVal val="0-#ppt_h/2"/>
                                          </p:val>
                                        </p:tav>
                                        <p:tav tm="100000">
                                          <p:val>
                                            <p:strVal val="#ppt_y"/>
                                          </p:val>
                                        </p:tav>
                                      </p:tavLst>
                                    </p:anim>
                                  </p:childTnLst>
                                </p:cTn>
                              </p:par>
                              <p:par>
                                <p:cTn id="99" presetID="2" presetClass="entr" presetSubtype="1" fill="hold" nodeType="withEffect">
                                  <p:stCondLst>
                                    <p:cond delay="0"/>
                                  </p:stCondLst>
                                  <p:childTnLst>
                                    <p:set>
                                      <p:cBhvr>
                                        <p:cTn id="100" dur="1" fill="hold">
                                          <p:stCondLst>
                                            <p:cond delay="0"/>
                                          </p:stCondLst>
                                        </p:cTn>
                                        <p:tgtEl>
                                          <p:spTgt spid="221210"/>
                                        </p:tgtEl>
                                        <p:attrNameLst>
                                          <p:attrName>style.visibility</p:attrName>
                                        </p:attrNameLst>
                                      </p:cBhvr>
                                      <p:to>
                                        <p:strVal val="visible"/>
                                      </p:to>
                                    </p:set>
                                    <p:anim calcmode="lin" valueType="num">
                                      <p:cBhvr additive="base">
                                        <p:cTn id="101" dur="500" fill="hold"/>
                                        <p:tgtEl>
                                          <p:spTgt spid="221210"/>
                                        </p:tgtEl>
                                        <p:attrNameLst>
                                          <p:attrName>ppt_x</p:attrName>
                                        </p:attrNameLst>
                                      </p:cBhvr>
                                      <p:tavLst>
                                        <p:tav tm="0">
                                          <p:val>
                                            <p:strVal val="#ppt_x"/>
                                          </p:val>
                                        </p:tav>
                                        <p:tav tm="100000">
                                          <p:val>
                                            <p:strVal val="#ppt_x"/>
                                          </p:val>
                                        </p:tav>
                                      </p:tavLst>
                                    </p:anim>
                                    <p:anim calcmode="lin" valueType="num">
                                      <p:cBhvr additive="base">
                                        <p:cTn id="102" dur="500" fill="hold"/>
                                        <p:tgtEl>
                                          <p:spTgt spid="221210"/>
                                        </p:tgtEl>
                                        <p:attrNameLst>
                                          <p:attrName>ppt_y</p:attrName>
                                        </p:attrNameLst>
                                      </p:cBhvr>
                                      <p:tavLst>
                                        <p:tav tm="0">
                                          <p:val>
                                            <p:strVal val="0-#ppt_h/2"/>
                                          </p:val>
                                        </p:tav>
                                        <p:tav tm="100000">
                                          <p:val>
                                            <p:strVal val="#ppt_y"/>
                                          </p:val>
                                        </p:tav>
                                      </p:tavLst>
                                    </p:anim>
                                  </p:childTnLst>
                                </p:cTn>
                              </p:par>
                              <p:par>
                                <p:cTn id="103" presetID="2" presetClass="entr" presetSubtype="1" fill="hold" nodeType="withEffect">
                                  <p:stCondLst>
                                    <p:cond delay="0"/>
                                  </p:stCondLst>
                                  <p:childTnLst>
                                    <p:set>
                                      <p:cBhvr>
                                        <p:cTn id="104" dur="1" fill="hold">
                                          <p:stCondLst>
                                            <p:cond delay="0"/>
                                          </p:stCondLst>
                                        </p:cTn>
                                        <p:tgtEl>
                                          <p:spTgt spid="221211"/>
                                        </p:tgtEl>
                                        <p:attrNameLst>
                                          <p:attrName>style.visibility</p:attrName>
                                        </p:attrNameLst>
                                      </p:cBhvr>
                                      <p:to>
                                        <p:strVal val="visible"/>
                                      </p:to>
                                    </p:set>
                                    <p:anim calcmode="lin" valueType="num">
                                      <p:cBhvr additive="base">
                                        <p:cTn id="105" dur="500" fill="hold"/>
                                        <p:tgtEl>
                                          <p:spTgt spid="221211"/>
                                        </p:tgtEl>
                                        <p:attrNameLst>
                                          <p:attrName>ppt_x</p:attrName>
                                        </p:attrNameLst>
                                      </p:cBhvr>
                                      <p:tavLst>
                                        <p:tav tm="0">
                                          <p:val>
                                            <p:strVal val="#ppt_x"/>
                                          </p:val>
                                        </p:tav>
                                        <p:tav tm="100000">
                                          <p:val>
                                            <p:strVal val="#ppt_x"/>
                                          </p:val>
                                        </p:tav>
                                      </p:tavLst>
                                    </p:anim>
                                    <p:anim calcmode="lin" valueType="num">
                                      <p:cBhvr additive="base">
                                        <p:cTn id="106" dur="500" fill="hold"/>
                                        <p:tgtEl>
                                          <p:spTgt spid="221211"/>
                                        </p:tgtEl>
                                        <p:attrNameLst>
                                          <p:attrName>ppt_y</p:attrName>
                                        </p:attrNameLst>
                                      </p:cBhvr>
                                      <p:tavLst>
                                        <p:tav tm="0">
                                          <p:val>
                                            <p:strVal val="0-#ppt_h/2"/>
                                          </p:val>
                                        </p:tav>
                                        <p:tav tm="100000">
                                          <p:val>
                                            <p:strVal val="#ppt_y"/>
                                          </p:val>
                                        </p:tav>
                                      </p:tavLst>
                                    </p:anim>
                                  </p:childTnLst>
                                </p:cTn>
                              </p:par>
                              <p:par>
                                <p:cTn id="107" presetID="2" presetClass="entr" presetSubtype="1" fill="hold" nodeType="withEffect">
                                  <p:stCondLst>
                                    <p:cond delay="0"/>
                                  </p:stCondLst>
                                  <p:childTnLst>
                                    <p:set>
                                      <p:cBhvr>
                                        <p:cTn id="108" dur="1" fill="hold">
                                          <p:stCondLst>
                                            <p:cond delay="0"/>
                                          </p:stCondLst>
                                        </p:cTn>
                                        <p:tgtEl>
                                          <p:spTgt spid="221212"/>
                                        </p:tgtEl>
                                        <p:attrNameLst>
                                          <p:attrName>style.visibility</p:attrName>
                                        </p:attrNameLst>
                                      </p:cBhvr>
                                      <p:to>
                                        <p:strVal val="visible"/>
                                      </p:to>
                                    </p:set>
                                    <p:anim calcmode="lin" valueType="num">
                                      <p:cBhvr additive="base">
                                        <p:cTn id="109" dur="500" fill="hold"/>
                                        <p:tgtEl>
                                          <p:spTgt spid="221212"/>
                                        </p:tgtEl>
                                        <p:attrNameLst>
                                          <p:attrName>ppt_x</p:attrName>
                                        </p:attrNameLst>
                                      </p:cBhvr>
                                      <p:tavLst>
                                        <p:tav tm="0">
                                          <p:val>
                                            <p:strVal val="#ppt_x"/>
                                          </p:val>
                                        </p:tav>
                                        <p:tav tm="100000">
                                          <p:val>
                                            <p:strVal val="#ppt_x"/>
                                          </p:val>
                                        </p:tav>
                                      </p:tavLst>
                                    </p:anim>
                                    <p:anim calcmode="lin" valueType="num">
                                      <p:cBhvr additive="base">
                                        <p:cTn id="110" dur="500" fill="hold"/>
                                        <p:tgtEl>
                                          <p:spTgt spid="221212"/>
                                        </p:tgtEl>
                                        <p:attrNameLst>
                                          <p:attrName>ppt_y</p:attrName>
                                        </p:attrNameLst>
                                      </p:cBhvr>
                                      <p:tavLst>
                                        <p:tav tm="0">
                                          <p:val>
                                            <p:strVal val="0-#ppt_h/2"/>
                                          </p:val>
                                        </p:tav>
                                        <p:tav tm="100000">
                                          <p:val>
                                            <p:strVal val="#ppt_y"/>
                                          </p:val>
                                        </p:tav>
                                      </p:tavLst>
                                    </p:anim>
                                  </p:childTnLst>
                                </p:cTn>
                              </p:par>
                              <p:par>
                                <p:cTn id="111" presetID="2" presetClass="entr" presetSubtype="1" fill="hold" nodeType="withEffect">
                                  <p:stCondLst>
                                    <p:cond delay="0"/>
                                  </p:stCondLst>
                                  <p:childTnLst>
                                    <p:set>
                                      <p:cBhvr>
                                        <p:cTn id="112" dur="1" fill="hold">
                                          <p:stCondLst>
                                            <p:cond delay="0"/>
                                          </p:stCondLst>
                                        </p:cTn>
                                        <p:tgtEl>
                                          <p:spTgt spid="221213"/>
                                        </p:tgtEl>
                                        <p:attrNameLst>
                                          <p:attrName>style.visibility</p:attrName>
                                        </p:attrNameLst>
                                      </p:cBhvr>
                                      <p:to>
                                        <p:strVal val="visible"/>
                                      </p:to>
                                    </p:set>
                                    <p:anim calcmode="lin" valueType="num">
                                      <p:cBhvr additive="base">
                                        <p:cTn id="113" dur="500" fill="hold"/>
                                        <p:tgtEl>
                                          <p:spTgt spid="221213"/>
                                        </p:tgtEl>
                                        <p:attrNameLst>
                                          <p:attrName>ppt_x</p:attrName>
                                        </p:attrNameLst>
                                      </p:cBhvr>
                                      <p:tavLst>
                                        <p:tav tm="0">
                                          <p:val>
                                            <p:strVal val="#ppt_x"/>
                                          </p:val>
                                        </p:tav>
                                        <p:tav tm="100000">
                                          <p:val>
                                            <p:strVal val="#ppt_x"/>
                                          </p:val>
                                        </p:tav>
                                      </p:tavLst>
                                    </p:anim>
                                    <p:anim calcmode="lin" valueType="num">
                                      <p:cBhvr additive="base">
                                        <p:cTn id="114" dur="500" fill="hold"/>
                                        <p:tgtEl>
                                          <p:spTgt spid="221213"/>
                                        </p:tgtEl>
                                        <p:attrNameLst>
                                          <p:attrName>ppt_y</p:attrName>
                                        </p:attrNameLst>
                                      </p:cBhvr>
                                      <p:tavLst>
                                        <p:tav tm="0">
                                          <p:val>
                                            <p:strVal val="0-#ppt_h/2"/>
                                          </p:val>
                                        </p:tav>
                                        <p:tav tm="100000">
                                          <p:val>
                                            <p:strVal val="#ppt_y"/>
                                          </p:val>
                                        </p:tav>
                                      </p:tavLst>
                                    </p:anim>
                                  </p:childTnLst>
                                </p:cTn>
                              </p:par>
                              <p:par>
                                <p:cTn id="115" presetID="2" presetClass="entr" presetSubtype="1" fill="hold" nodeType="withEffect">
                                  <p:stCondLst>
                                    <p:cond delay="0"/>
                                  </p:stCondLst>
                                  <p:childTnLst>
                                    <p:set>
                                      <p:cBhvr>
                                        <p:cTn id="116" dur="1" fill="hold">
                                          <p:stCondLst>
                                            <p:cond delay="0"/>
                                          </p:stCondLst>
                                        </p:cTn>
                                        <p:tgtEl>
                                          <p:spTgt spid="221214"/>
                                        </p:tgtEl>
                                        <p:attrNameLst>
                                          <p:attrName>style.visibility</p:attrName>
                                        </p:attrNameLst>
                                      </p:cBhvr>
                                      <p:to>
                                        <p:strVal val="visible"/>
                                      </p:to>
                                    </p:set>
                                    <p:anim calcmode="lin" valueType="num">
                                      <p:cBhvr additive="base">
                                        <p:cTn id="117" dur="500" fill="hold"/>
                                        <p:tgtEl>
                                          <p:spTgt spid="221214"/>
                                        </p:tgtEl>
                                        <p:attrNameLst>
                                          <p:attrName>ppt_x</p:attrName>
                                        </p:attrNameLst>
                                      </p:cBhvr>
                                      <p:tavLst>
                                        <p:tav tm="0">
                                          <p:val>
                                            <p:strVal val="#ppt_x"/>
                                          </p:val>
                                        </p:tav>
                                        <p:tav tm="100000">
                                          <p:val>
                                            <p:strVal val="#ppt_x"/>
                                          </p:val>
                                        </p:tav>
                                      </p:tavLst>
                                    </p:anim>
                                    <p:anim calcmode="lin" valueType="num">
                                      <p:cBhvr additive="base">
                                        <p:cTn id="118" dur="500" fill="hold"/>
                                        <p:tgtEl>
                                          <p:spTgt spid="221214"/>
                                        </p:tgtEl>
                                        <p:attrNameLst>
                                          <p:attrName>ppt_y</p:attrName>
                                        </p:attrNameLst>
                                      </p:cBhvr>
                                      <p:tavLst>
                                        <p:tav tm="0">
                                          <p:val>
                                            <p:strVal val="0-#ppt_h/2"/>
                                          </p:val>
                                        </p:tav>
                                        <p:tav tm="100000">
                                          <p:val>
                                            <p:strVal val="#ppt_y"/>
                                          </p:val>
                                        </p:tav>
                                      </p:tavLst>
                                    </p:anim>
                                  </p:childTnLst>
                                </p:cTn>
                              </p:par>
                              <p:par>
                                <p:cTn id="119" presetID="2" presetClass="entr" presetSubtype="1" fill="hold" nodeType="withEffect">
                                  <p:stCondLst>
                                    <p:cond delay="0"/>
                                  </p:stCondLst>
                                  <p:childTnLst>
                                    <p:set>
                                      <p:cBhvr>
                                        <p:cTn id="120" dur="1" fill="hold">
                                          <p:stCondLst>
                                            <p:cond delay="0"/>
                                          </p:stCondLst>
                                        </p:cTn>
                                        <p:tgtEl>
                                          <p:spTgt spid="221215"/>
                                        </p:tgtEl>
                                        <p:attrNameLst>
                                          <p:attrName>style.visibility</p:attrName>
                                        </p:attrNameLst>
                                      </p:cBhvr>
                                      <p:to>
                                        <p:strVal val="visible"/>
                                      </p:to>
                                    </p:set>
                                    <p:anim calcmode="lin" valueType="num">
                                      <p:cBhvr additive="base">
                                        <p:cTn id="121" dur="500" fill="hold"/>
                                        <p:tgtEl>
                                          <p:spTgt spid="221215"/>
                                        </p:tgtEl>
                                        <p:attrNameLst>
                                          <p:attrName>ppt_x</p:attrName>
                                        </p:attrNameLst>
                                      </p:cBhvr>
                                      <p:tavLst>
                                        <p:tav tm="0">
                                          <p:val>
                                            <p:strVal val="#ppt_x"/>
                                          </p:val>
                                        </p:tav>
                                        <p:tav tm="100000">
                                          <p:val>
                                            <p:strVal val="#ppt_x"/>
                                          </p:val>
                                        </p:tav>
                                      </p:tavLst>
                                    </p:anim>
                                    <p:anim calcmode="lin" valueType="num">
                                      <p:cBhvr additive="base">
                                        <p:cTn id="122" dur="500" fill="hold"/>
                                        <p:tgtEl>
                                          <p:spTgt spid="221215"/>
                                        </p:tgtEl>
                                        <p:attrNameLst>
                                          <p:attrName>ppt_y</p:attrName>
                                        </p:attrNameLst>
                                      </p:cBhvr>
                                      <p:tavLst>
                                        <p:tav tm="0">
                                          <p:val>
                                            <p:strVal val="0-#ppt_h/2"/>
                                          </p:val>
                                        </p:tav>
                                        <p:tav tm="100000">
                                          <p:val>
                                            <p:strVal val="#ppt_y"/>
                                          </p:val>
                                        </p:tav>
                                      </p:tavLst>
                                    </p:anim>
                                  </p:childTnLst>
                                </p:cTn>
                              </p:par>
                              <p:par>
                                <p:cTn id="123" presetID="2" presetClass="entr" presetSubtype="1" fill="hold" nodeType="withEffect">
                                  <p:stCondLst>
                                    <p:cond delay="0"/>
                                  </p:stCondLst>
                                  <p:childTnLst>
                                    <p:set>
                                      <p:cBhvr>
                                        <p:cTn id="124" dur="1" fill="hold">
                                          <p:stCondLst>
                                            <p:cond delay="0"/>
                                          </p:stCondLst>
                                        </p:cTn>
                                        <p:tgtEl>
                                          <p:spTgt spid="221216"/>
                                        </p:tgtEl>
                                        <p:attrNameLst>
                                          <p:attrName>style.visibility</p:attrName>
                                        </p:attrNameLst>
                                      </p:cBhvr>
                                      <p:to>
                                        <p:strVal val="visible"/>
                                      </p:to>
                                    </p:set>
                                    <p:anim calcmode="lin" valueType="num">
                                      <p:cBhvr additive="base">
                                        <p:cTn id="125" dur="500" fill="hold"/>
                                        <p:tgtEl>
                                          <p:spTgt spid="221216"/>
                                        </p:tgtEl>
                                        <p:attrNameLst>
                                          <p:attrName>ppt_x</p:attrName>
                                        </p:attrNameLst>
                                      </p:cBhvr>
                                      <p:tavLst>
                                        <p:tav tm="0">
                                          <p:val>
                                            <p:strVal val="#ppt_x"/>
                                          </p:val>
                                        </p:tav>
                                        <p:tav tm="100000">
                                          <p:val>
                                            <p:strVal val="#ppt_x"/>
                                          </p:val>
                                        </p:tav>
                                      </p:tavLst>
                                    </p:anim>
                                    <p:anim calcmode="lin" valueType="num">
                                      <p:cBhvr additive="base">
                                        <p:cTn id="126" dur="500" fill="hold"/>
                                        <p:tgtEl>
                                          <p:spTgt spid="221216"/>
                                        </p:tgtEl>
                                        <p:attrNameLst>
                                          <p:attrName>ppt_y</p:attrName>
                                        </p:attrNameLst>
                                      </p:cBhvr>
                                      <p:tavLst>
                                        <p:tav tm="0">
                                          <p:val>
                                            <p:strVal val="0-#ppt_h/2"/>
                                          </p:val>
                                        </p:tav>
                                        <p:tav tm="100000">
                                          <p:val>
                                            <p:strVal val="#ppt_y"/>
                                          </p:val>
                                        </p:tav>
                                      </p:tavLst>
                                    </p:anim>
                                  </p:childTnLst>
                                </p:cTn>
                              </p:par>
                              <p:par>
                                <p:cTn id="127" presetID="2" presetClass="entr" presetSubtype="1" fill="hold" nodeType="withEffect">
                                  <p:stCondLst>
                                    <p:cond delay="0"/>
                                  </p:stCondLst>
                                  <p:childTnLst>
                                    <p:set>
                                      <p:cBhvr>
                                        <p:cTn id="128" dur="1" fill="hold">
                                          <p:stCondLst>
                                            <p:cond delay="0"/>
                                          </p:stCondLst>
                                        </p:cTn>
                                        <p:tgtEl>
                                          <p:spTgt spid="221217"/>
                                        </p:tgtEl>
                                        <p:attrNameLst>
                                          <p:attrName>style.visibility</p:attrName>
                                        </p:attrNameLst>
                                      </p:cBhvr>
                                      <p:to>
                                        <p:strVal val="visible"/>
                                      </p:to>
                                    </p:set>
                                    <p:anim calcmode="lin" valueType="num">
                                      <p:cBhvr additive="base">
                                        <p:cTn id="129" dur="500" fill="hold"/>
                                        <p:tgtEl>
                                          <p:spTgt spid="221217"/>
                                        </p:tgtEl>
                                        <p:attrNameLst>
                                          <p:attrName>ppt_x</p:attrName>
                                        </p:attrNameLst>
                                      </p:cBhvr>
                                      <p:tavLst>
                                        <p:tav tm="0">
                                          <p:val>
                                            <p:strVal val="#ppt_x"/>
                                          </p:val>
                                        </p:tav>
                                        <p:tav tm="100000">
                                          <p:val>
                                            <p:strVal val="#ppt_x"/>
                                          </p:val>
                                        </p:tav>
                                      </p:tavLst>
                                    </p:anim>
                                    <p:anim calcmode="lin" valueType="num">
                                      <p:cBhvr additive="base">
                                        <p:cTn id="130" dur="500" fill="hold"/>
                                        <p:tgtEl>
                                          <p:spTgt spid="221217"/>
                                        </p:tgtEl>
                                        <p:attrNameLst>
                                          <p:attrName>ppt_y</p:attrName>
                                        </p:attrNameLst>
                                      </p:cBhvr>
                                      <p:tavLst>
                                        <p:tav tm="0">
                                          <p:val>
                                            <p:strVal val="0-#ppt_h/2"/>
                                          </p:val>
                                        </p:tav>
                                        <p:tav tm="100000">
                                          <p:val>
                                            <p:strVal val="#ppt_y"/>
                                          </p:val>
                                        </p:tav>
                                      </p:tavLst>
                                    </p:anim>
                                  </p:childTnLst>
                                </p:cTn>
                              </p:par>
                              <p:par>
                                <p:cTn id="131" presetID="2" presetClass="entr" presetSubtype="1" fill="hold" nodeType="withEffect">
                                  <p:stCondLst>
                                    <p:cond delay="0"/>
                                  </p:stCondLst>
                                  <p:childTnLst>
                                    <p:set>
                                      <p:cBhvr>
                                        <p:cTn id="132" dur="1" fill="hold">
                                          <p:stCondLst>
                                            <p:cond delay="0"/>
                                          </p:stCondLst>
                                        </p:cTn>
                                        <p:tgtEl>
                                          <p:spTgt spid="221218"/>
                                        </p:tgtEl>
                                        <p:attrNameLst>
                                          <p:attrName>style.visibility</p:attrName>
                                        </p:attrNameLst>
                                      </p:cBhvr>
                                      <p:to>
                                        <p:strVal val="visible"/>
                                      </p:to>
                                    </p:set>
                                    <p:anim calcmode="lin" valueType="num">
                                      <p:cBhvr additive="base">
                                        <p:cTn id="133" dur="500" fill="hold"/>
                                        <p:tgtEl>
                                          <p:spTgt spid="221218"/>
                                        </p:tgtEl>
                                        <p:attrNameLst>
                                          <p:attrName>ppt_x</p:attrName>
                                        </p:attrNameLst>
                                      </p:cBhvr>
                                      <p:tavLst>
                                        <p:tav tm="0">
                                          <p:val>
                                            <p:strVal val="#ppt_x"/>
                                          </p:val>
                                        </p:tav>
                                        <p:tav tm="100000">
                                          <p:val>
                                            <p:strVal val="#ppt_x"/>
                                          </p:val>
                                        </p:tav>
                                      </p:tavLst>
                                    </p:anim>
                                    <p:anim calcmode="lin" valueType="num">
                                      <p:cBhvr additive="base">
                                        <p:cTn id="134" dur="500" fill="hold"/>
                                        <p:tgtEl>
                                          <p:spTgt spid="221218"/>
                                        </p:tgtEl>
                                        <p:attrNameLst>
                                          <p:attrName>ppt_y</p:attrName>
                                        </p:attrNameLst>
                                      </p:cBhvr>
                                      <p:tavLst>
                                        <p:tav tm="0">
                                          <p:val>
                                            <p:strVal val="0-#ppt_h/2"/>
                                          </p:val>
                                        </p:tav>
                                        <p:tav tm="100000">
                                          <p:val>
                                            <p:strVal val="#ppt_y"/>
                                          </p:val>
                                        </p:tav>
                                      </p:tavLst>
                                    </p:anim>
                                  </p:childTnLst>
                                </p:cTn>
                              </p:par>
                              <p:par>
                                <p:cTn id="135" presetID="2" presetClass="entr" presetSubtype="1" fill="hold" nodeType="withEffect">
                                  <p:stCondLst>
                                    <p:cond delay="0"/>
                                  </p:stCondLst>
                                  <p:childTnLst>
                                    <p:set>
                                      <p:cBhvr>
                                        <p:cTn id="136" dur="1" fill="hold">
                                          <p:stCondLst>
                                            <p:cond delay="0"/>
                                          </p:stCondLst>
                                        </p:cTn>
                                        <p:tgtEl>
                                          <p:spTgt spid="221219"/>
                                        </p:tgtEl>
                                        <p:attrNameLst>
                                          <p:attrName>style.visibility</p:attrName>
                                        </p:attrNameLst>
                                      </p:cBhvr>
                                      <p:to>
                                        <p:strVal val="visible"/>
                                      </p:to>
                                    </p:set>
                                    <p:anim calcmode="lin" valueType="num">
                                      <p:cBhvr additive="base">
                                        <p:cTn id="137" dur="500" fill="hold"/>
                                        <p:tgtEl>
                                          <p:spTgt spid="221219"/>
                                        </p:tgtEl>
                                        <p:attrNameLst>
                                          <p:attrName>ppt_x</p:attrName>
                                        </p:attrNameLst>
                                      </p:cBhvr>
                                      <p:tavLst>
                                        <p:tav tm="0">
                                          <p:val>
                                            <p:strVal val="#ppt_x"/>
                                          </p:val>
                                        </p:tav>
                                        <p:tav tm="100000">
                                          <p:val>
                                            <p:strVal val="#ppt_x"/>
                                          </p:val>
                                        </p:tav>
                                      </p:tavLst>
                                    </p:anim>
                                    <p:anim calcmode="lin" valueType="num">
                                      <p:cBhvr additive="base">
                                        <p:cTn id="138" dur="500" fill="hold"/>
                                        <p:tgtEl>
                                          <p:spTgt spid="221219"/>
                                        </p:tgtEl>
                                        <p:attrNameLst>
                                          <p:attrName>ppt_y</p:attrName>
                                        </p:attrNameLst>
                                      </p:cBhvr>
                                      <p:tavLst>
                                        <p:tav tm="0">
                                          <p:val>
                                            <p:strVal val="0-#ppt_h/2"/>
                                          </p:val>
                                        </p:tav>
                                        <p:tav tm="100000">
                                          <p:val>
                                            <p:strVal val="#ppt_y"/>
                                          </p:val>
                                        </p:tav>
                                      </p:tavLst>
                                    </p:anim>
                                  </p:childTnLst>
                                </p:cTn>
                              </p:par>
                              <p:par>
                                <p:cTn id="139" presetID="2" presetClass="entr" presetSubtype="1" fill="hold" nodeType="withEffect">
                                  <p:stCondLst>
                                    <p:cond delay="0"/>
                                  </p:stCondLst>
                                  <p:childTnLst>
                                    <p:set>
                                      <p:cBhvr>
                                        <p:cTn id="140" dur="1" fill="hold">
                                          <p:stCondLst>
                                            <p:cond delay="0"/>
                                          </p:stCondLst>
                                        </p:cTn>
                                        <p:tgtEl>
                                          <p:spTgt spid="221220"/>
                                        </p:tgtEl>
                                        <p:attrNameLst>
                                          <p:attrName>style.visibility</p:attrName>
                                        </p:attrNameLst>
                                      </p:cBhvr>
                                      <p:to>
                                        <p:strVal val="visible"/>
                                      </p:to>
                                    </p:set>
                                    <p:anim calcmode="lin" valueType="num">
                                      <p:cBhvr additive="base">
                                        <p:cTn id="141" dur="500" fill="hold"/>
                                        <p:tgtEl>
                                          <p:spTgt spid="221220"/>
                                        </p:tgtEl>
                                        <p:attrNameLst>
                                          <p:attrName>ppt_x</p:attrName>
                                        </p:attrNameLst>
                                      </p:cBhvr>
                                      <p:tavLst>
                                        <p:tav tm="0">
                                          <p:val>
                                            <p:strVal val="#ppt_x"/>
                                          </p:val>
                                        </p:tav>
                                        <p:tav tm="100000">
                                          <p:val>
                                            <p:strVal val="#ppt_x"/>
                                          </p:val>
                                        </p:tav>
                                      </p:tavLst>
                                    </p:anim>
                                    <p:anim calcmode="lin" valueType="num">
                                      <p:cBhvr additive="base">
                                        <p:cTn id="142" dur="500" fill="hold"/>
                                        <p:tgtEl>
                                          <p:spTgt spid="221220"/>
                                        </p:tgtEl>
                                        <p:attrNameLst>
                                          <p:attrName>ppt_y</p:attrName>
                                        </p:attrNameLst>
                                      </p:cBhvr>
                                      <p:tavLst>
                                        <p:tav tm="0">
                                          <p:val>
                                            <p:strVal val="0-#ppt_h/2"/>
                                          </p:val>
                                        </p:tav>
                                        <p:tav tm="100000">
                                          <p:val>
                                            <p:strVal val="#ppt_y"/>
                                          </p:val>
                                        </p:tav>
                                      </p:tavLst>
                                    </p:anim>
                                  </p:childTnLst>
                                </p:cTn>
                              </p:par>
                              <p:par>
                                <p:cTn id="143" presetID="2" presetClass="entr" presetSubtype="1" fill="hold" nodeType="withEffect">
                                  <p:stCondLst>
                                    <p:cond delay="0"/>
                                  </p:stCondLst>
                                  <p:childTnLst>
                                    <p:set>
                                      <p:cBhvr>
                                        <p:cTn id="144" dur="1" fill="hold">
                                          <p:stCondLst>
                                            <p:cond delay="0"/>
                                          </p:stCondLst>
                                        </p:cTn>
                                        <p:tgtEl>
                                          <p:spTgt spid="221221"/>
                                        </p:tgtEl>
                                        <p:attrNameLst>
                                          <p:attrName>style.visibility</p:attrName>
                                        </p:attrNameLst>
                                      </p:cBhvr>
                                      <p:to>
                                        <p:strVal val="visible"/>
                                      </p:to>
                                    </p:set>
                                    <p:anim calcmode="lin" valueType="num">
                                      <p:cBhvr additive="base">
                                        <p:cTn id="145" dur="500" fill="hold"/>
                                        <p:tgtEl>
                                          <p:spTgt spid="221221"/>
                                        </p:tgtEl>
                                        <p:attrNameLst>
                                          <p:attrName>ppt_x</p:attrName>
                                        </p:attrNameLst>
                                      </p:cBhvr>
                                      <p:tavLst>
                                        <p:tav tm="0">
                                          <p:val>
                                            <p:strVal val="#ppt_x"/>
                                          </p:val>
                                        </p:tav>
                                        <p:tav tm="100000">
                                          <p:val>
                                            <p:strVal val="#ppt_x"/>
                                          </p:val>
                                        </p:tav>
                                      </p:tavLst>
                                    </p:anim>
                                    <p:anim calcmode="lin" valueType="num">
                                      <p:cBhvr additive="base">
                                        <p:cTn id="146" dur="500" fill="hold"/>
                                        <p:tgtEl>
                                          <p:spTgt spid="221221"/>
                                        </p:tgtEl>
                                        <p:attrNameLst>
                                          <p:attrName>ppt_y</p:attrName>
                                        </p:attrNameLst>
                                      </p:cBhvr>
                                      <p:tavLst>
                                        <p:tav tm="0">
                                          <p:val>
                                            <p:strVal val="0-#ppt_h/2"/>
                                          </p:val>
                                        </p:tav>
                                        <p:tav tm="100000">
                                          <p:val>
                                            <p:strVal val="#ppt_y"/>
                                          </p:val>
                                        </p:tav>
                                      </p:tavLst>
                                    </p:anim>
                                  </p:childTnLst>
                                </p:cTn>
                              </p:par>
                              <p:par>
                                <p:cTn id="147" presetID="2" presetClass="entr" presetSubtype="1" fill="hold" nodeType="withEffect">
                                  <p:stCondLst>
                                    <p:cond delay="0"/>
                                  </p:stCondLst>
                                  <p:childTnLst>
                                    <p:set>
                                      <p:cBhvr>
                                        <p:cTn id="148" dur="1" fill="hold">
                                          <p:stCondLst>
                                            <p:cond delay="0"/>
                                          </p:stCondLst>
                                        </p:cTn>
                                        <p:tgtEl>
                                          <p:spTgt spid="221222"/>
                                        </p:tgtEl>
                                        <p:attrNameLst>
                                          <p:attrName>style.visibility</p:attrName>
                                        </p:attrNameLst>
                                      </p:cBhvr>
                                      <p:to>
                                        <p:strVal val="visible"/>
                                      </p:to>
                                    </p:set>
                                    <p:anim calcmode="lin" valueType="num">
                                      <p:cBhvr additive="base">
                                        <p:cTn id="149" dur="500" fill="hold"/>
                                        <p:tgtEl>
                                          <p:spTgt spid="221222"/>
                                        </p:tgtEl>
                                        <p:attrNameLst>
                                          <p:attrName>ppt_x</p:attrName>
                                        </p:attrNameLst>
                                      </p:cBhvr>
                                      <p:tavLst>
                                        <p:tav tm="0">
                                          <p:val>
                                            <p:strVal val="#ppt_x"/>
                                          </p:val>
                                        </p:tav>
                                        <p:tav tm="100000">
                                          <p:val>
                                            <p:strVal val="#ppt_x"/>
                                          </p:val>
                                        </p:tav>
                                      </p:tavLst>
                                    </p:anim>
                                    <p:anim calcmode="lin" valueType="num">
                                      <p:cBhvr additive="base">
                                        <p:cTn id="150" dur="500" fill="hold"/>
                                        <p:tgtEl>
                                          <p:spTgt spid="221222"/>
                                        </p:tgtEl>
                                        <p:attrNameLst>
                                          <p:attrName>ppt_y</p:attrName>
                                        </p:attrNameLst>
                                      </p:cBhvr>
                                      <p:tavLst>
                                        <p:tav tm="0">
                                          <p:val>
                                            <p:strVal val="0-#ppt_h/2"/>
                                          </p:val>
                                        </p:tav>
                                        <p:tav tm="100000">
                                          <p:val>
                                            <p:strVal val="#ppt_y"/>
                                          </p:val>
                                        </p:tav>
                                      </p:tavLst>
                                    </p:anim>
                                  </p:childTnLst>
                                </p:cTn>
                              </p:par>
                              <p:par>
                                <p:cTn id="151" presetID="2" presetClass="entr" presetSubtype="1" fill="hold" nodeType="withEffect">
                                  <p:stCondLst>
                                    <p:cond delay="0"/>
                                  </p:stCondLst>
                                  <p:childTnLst>
                                    <p:set>
                                      <p:cBhvr>
                                        <p:cTn id="152" dur="1" fill="hold">
                                          <p:stCondLst>
                                            <p:cond delay="0"/>
                                          </p:stCondLst>
                                        </p:cTn>
                                        <p:tgtEl>
                                          <p:spTgt spid="221223"/>
                                        </p:tgtEl>
                                        <p:attrNameLst>
                                          <p:attrName>style.visibility</p:attrName>
                                        </p:attrNameLst>
                                      </p:cBhvr>
                                      <p:to>
                                        <p:strVal val="visible"/>
                                      </p:to>
                                    </p:set>
                                    <p:anim calcmode="lin" valueType="num">
                                      <p:cBhvr additive="base">
                                        <p:cTn id="153" dur="500" fill="hold"/>
                                        <p:tgtEl>
                                          <p:spTgt spid="221223"/>
                                        </p:tgtEl>
                                        <p:attrNameLst>
                                          <p:attrName>ppt_x</p:attrName>
                                        </p:attrNameLst>
                                      </p:cBhvr>
                                      <p:tavLst>
                                        <p:tav tm="0">
                                          <p:val>
                                            <p:strVal val="#ppt_x"/>
                                          </p:val>
                                        </p:tav>
                                        <p:tav tm="100000">
                                          <p:val>
                                            <p:strVal val="#ppt_x"/>
                                          </p:val>
                                        </p:tav>
                                      </p:tavLst>
                                    </p:anim>
                                    <p:anim calcmode="lin" valueType="num">
                                      <p:cBhvr additive="base">
                                        <p:cTn id="154" dur="500" fill="hold"/>
                                        <p:tgtEl>
                                          <p:spTgt spid="221223"/>
                                        </p:tgtEl>
                                        <p:attrNameLst>
                                          <p:attrName>ppt_y</p:attrName>
                                        </p:attrNameLst>
                                      </p:cBhvr>
                                      <p:tavLst>
                                        <p:tav tm="0">
                                          <p:val>
                                            <p:strVal val="0-#ppt_h/2"/>
                                          </p:val>
                                        </p:tav>
                                        <p:tav tm="100000">
                                          <p:val>
                                            <p:strVal val="#ppt_y"/>
                                          </p:val>
                                        </p:tav>
                                      </p:tavLst>
                                    </p:anim>
                                  </p:childTnLst>
                                </p:cTn>
                              </p:par>
                              <p:par>
                                <p:cTn id="155" presetID="2" presetClass="entr" presetSubtype="1" fill="hold" nodeType="withEffect">
                                  <p:stCondLst>
                                    <p:cond delay="0"/>
                                  </p:stCondLst>
                                  <p:childTnLst>
                                    <p:set>
                                      <p:cBhvr>
                                        <p:cTn id="156" dur="1" fill="hold">
                                          <p:stCondLst>
                                            <p:cond delay="0"/>
                                          </p:stCondLst>
                                        </p:cTn>
                                        <p:tgtEl>
                                          <p:spTgt spid="221224"/>
                                        </p:tgtEl>
                                        <p:attrNameLst>
                                          <p:attrName>style.visibility</p:attrName>
                                        </p:attrNameLst>
                                      </p:cBhvr>
                                      <p:to>
                                        <p:strVal val="visible"/>
                                      </p:to>
                                    </p:set>
                                    <p:anim calcmode="lin" valueType="num">
                                      <p:cBhvr additive="base">
                                        <p:cTn id="157" dur="500" fill="hold"/>
                                        <p:tgtEl>
                                          <p:spTgt spid="221224"/>
                                        </p:tgtEl>
                                        <p:attrNameLst>
                                          <p:attrName>ppt_x</p:attrName>
                                        </p:attrNameLst>
                                      </p:cBhvr>
                                      <p:tavLst>
                                        <p:tav tm="0">
                                          <p:val>
                                            <p:strVal val="#ppt_x"/>
                                          </p:val>
                                        </p:tav>
                                        <p:tav tm="100000">
                                          <p:val>
                                            <p:strVal val="#ppt_x"/>
                                          </p:val>
                                        </p:tav>
                                      </p:tavLst>
                                    </p:anim>
                                    <p:anim calcmode="lin" valueType="num">
                                      <p:cBhvr additive="base">
                                        <p:cTn id="158" dur="500" fill="hold"/>
                                        <p:tgtEl>
                                          <p:spTgt spid="221224"/>
                                        </p:tgtEl>
                                        <p:attrNameLst>
                                          <p:attrName>ppt_y</p:attrName>
                                        </p:attrNameLst>
                                      </p:cBhvr>
                                      <p:tavLst>
                                        <p:tav tm="0">
                                          <p:val>
                                            <p:strVal val="0-#ppt_h/2"/>
                                          </p:val>
                                        </p:tav>
                                        <p:tav tm="100000">
                                          <p:val>
                                            <p:strVal val="#ppt_y"/>
                                          </p:val>
                                        </p:tav>
                                      </p:tavLst>
                                    </p:anim>
                                  </p:childTnLst>
                                </p:cTn>
                              </p:par>
                              <p:par>
                                <p:cTn id="159" presetID="2" presetClass="entr" presetSubtype="1" fill="hold" nodeType="withEffect">
                                  <p:stCondLst>
                                    <p:cond delay="0"/>
                                  </p:stCondLst>
                                  <p:childTnLst>
                                    <p:set>
                                      <p:cBhvr>
                                        <p:cTn id="160" dur="1" fill="hold">
                                          <p:stCondLst>
                                            <p:cond delay="0"/>
                                          </p:stCondLst>
                                        </p:cTn>
                                        <p:tgtEl>
                                          <p:spTgt spid="221225"/>
                                        </p:tgtEl>
                                        <p:attrNameLst>
                                          <p:attrName>style.visibility</p:attrName>
                                        </p:attrNameLst>
                                      </p:cBhvr>
                                      <p:to>
                                        <p:strVal val="visible"/>
                                      </p:to>
                                    </p:set>
                                    <p:anim calcmode="lin" valueType="num">
                                      <p:cBhvr additive="base">
                                        <p:cTn id="161" dur="500" fill="hold"/>
                                        <p:tgtEl>
                                          <p:spTgt spid="221225"/>
                                        </p:tgtEl>
                                        <p:attrNameLst>
                                          <p:attrName>ppt_x</p:attrName>
                                        </p:attrNameLst>
                                      </p:cBhvr>
                                      <p:tavLst>
                                        <p:tav tm="0">
                                          <p:val>
                                            <p:strVal val="#ppt_x"/>
                                          </p:val>
                                        </p:tav>
                                        <p:tav tm="100000">
                                          <p:val>
                                            <p:strVal val="#ppt_x"/>
                                          </p:val>
                                        </p:tav>
                                      </p:tavLst>
                                    </p:anim>
                                    <p:anim calcmode="lin" valueType="num">
                                      <p:cBhvr additive="base">
                                        <p:cTn id="162" dur="500" fill="hold"/>
                                        <p:tgtEl>
                                          <p:spTgt spid="221225"/>
                                        </p:tgtEl>
                                        <p:attrNameLst>
                                          <p:attrName>ppt_y</p:attrName>
                                        </p:attrNameLst>
                                      </p:cBhvr>
                                      <p:tavLst>
                                        <p:tav tm="0">
                                          <p:val>
                                            <p:strVal val="0-#ppt_h/2"/>
                                          </p:val>
                                        </p:tav>
                                        <p:tav tm="100000">
                                          <p:val>
                                            <p:strVal val="#ppt_y"/>
                                          </p:val>
                                        </p:tav>
                                      </p:tavLst>
                                    </p:anim>
                                  </p:childTnLst>
                                </p:cTn>
                              </p:par>
                              <p:par>
                                <p:cTn id="163" presetID="2" presetClass="entr" presetSubtype="1" fill="hold" nodeType="withEffect">
                                  <p:stCondLst>
                                    <p:cond delay="0"/>
                                  </p:stCondLst>
                                  <p:childTnLst>
                                    <p:set>
                                      <p:cBhvr>
                                        <p:cTn id="164" dur="1" fill="hold">
                                          <p:stCondLst>
                                            <p:cond delay="0"/>
                                          </p:stCondLst>
                                        </p:cTn>
                                        <p:tgtEl>
                                          <p:spTgt spid="221226"/>
                                        </p:tgtEl>
                                        <p:attrNameLst>
                                          <p:attrName>style.visibility</p:attrName>
                                        </p:attrNameLst>
                                      </p:cBhvr>
                                      <p:to>
                                        <p:strVal val="visible"/>
                                      </p:to>
                                    </p:set>
                                    <p:anim calcmode="lin" valueType="num">
                                      <p:cBhvr additive="base">
                                        <p:cTn id="165" dur="500" fill="hold"/>
                                        <p:tgtEl>
                                          <p:spTgt spid="221226"/>
                                        </p:tgtEl>
                                        <p:attrNameLst>
                                          <p:attrName>ppt_x</p:attrName>
                                        </p:attrNameLst>
                                      </p:cBhvr>
                                      <p:tavLst>
                                        <p:tav tm="0">
                                          <p:val>
                                            <p:strVal val="#ppt_x"/>
                                          </p:val>
                                        </p:tav>
                                        <p:tav tm="100000">
                                          <p:val>
                                            <p:strVal val="#ppt_x"/>
                                          </p:val>
                                        </p:tav>
                                      </p:tavLst>
                                    </p:anim>
                                    <p:anim calcmode="lin" valueType="num">
                                      <p:cBhvr additive="base">
                                        <p:cTn id="166" dur="500" fill="hold"/>
                                        <p:tgtEl>
                                          <p:spTgt spid="221226"/>
                                        </p:tgtEl>
                                        <p:attrNameLst>
                                          <p:attrName>ppt_y</p:attrName>
                                        </p:attrNameLst>
                                      </p:cBhvr>
                                      <p:tavLst>
                                        <p:tav tm="0">
                                          <p:val>
                                            <p:strVal val="0-#ppt_h/2"/>
                                          </p:val>
                                        </p:tav>
                                        <p:tav tm="100000">
                                          <p:val>
                                            <p:strVal val="#ppt_y"/>
                                          </p:val>
                                        </p:tav>
                                      </p:tavLst>
                                    </p:anim>
                                  </p:childTnLst>
                                </p:cTn>
                              </p:par>
                              <p:par>
                                <p:cTn id="167" presetID="2" presetClass="entr" presetSubtype="1" fill="hold" nodeType="withEffect">
                                  <p:stCondLst>
                                    <p:cond delay="0"/>
                                  </p:stCondLst>
                                  <p:childTnLst>
                                    <p:set>
                                      <p:cBhvr>
                                        <p:cTn id="168" dur="1" fill="hold">
                                          <p:stCondLst>
                                            <p:cond delay="0"/>
                                          </p:stCondLst>
                                        </p:cTn>
                                        <p:tgtEl>
                                          <p:spTgt spid="221227"/>
                                        </p:tgtEl>
                                        <p:attrNameLst>
                                          <p:attrName>style.visibility</p:attrName>
                                        </p:attrNameLst>
                                      </p:cBhvr>
                                      <p:to>
                                        <p:strVal val="visible"/>
                                      </p:to>
                                    </p:set>
                                    <p:anim calcmode="lin" valueType="num">
                                      <p:cBhvr additive="base">
                                        <p:cTn id="169" dur="500" fill="hold"/>
                                        <p:tgtEl>
                                          <p:spTgt spid="221227"/>
                                        </p:tgtEl>
                                        <p:attrNameLst>
                                          <p:attrName>ppt_x</p:attrName>
                                        </p:attrNameLst>
                                      </p:cBhvr>
                                      <p:tavLst>
                                        <p:tav tm="0">
                                          <p:val>
                                            <p:strVal val="#ppt_x"/>
                                          </p:val>
                                        </p:tav>
                                        <p:tav tm="100000">
                                          <p:val>
                                            <p:strVal val="#ppt_x"/>
                                          </p:val>
                                        </p:tav>
                                      </p:tavLst>
                                    </p:anim>
                                    <p:anim calcmode="lin" valueType="num">
                                      <p:cBhvr additive="base">
                                        <p:cTn id="170" dur="500" fill="hold"/>
                                        <p:tgtEl>
                                          <p:spTgt spid="221227"/>
                                        </p:tgtEl>
                                        <p:attrNameLst>
                                          <p:attrName>ppt_y</p:attrName>
                                        </p:attrNameLst>
                                      </p:cBhvr>
                                      <p:tavLst>
                                        <p:tav tm="0">
                                          <p:val>
                                            <p:strVal val="0-#ppt_h/2"/>
                                          </p:val>
                                        </p:tav>
                                        <p:tav tm="100000">
                                          <p:val>
                                            <p:strVal val="#ppt_y"/>
                                          </p:val>
                                        </p:tav>
                                      </p:tavLst>
                                    </p:anim>
                                  </p:childTnLst>
                                </p:cTn>
                              </p:par>
                              <p:par>
                                <p:cTn id="171" presetID="2" presetClass="entr" presetSubtype="1" fill="hold" nodeType="withEffect">
                                  <p:stCondLst>
                                    <p:cond delay="0"/>
                                  </p:stCondLst>
                                  <p:childTnLst>
                                    <p:set>
                                      <p:cBhvr>
                                        <p:cTn id="172" dur="1" fill="hold">
                                          <p:stCondLst>
                                            <p:cond delay="0"/>
                                          </p:stCondLst>
                                        </p:cTn>
                                        <p:tgtEl>
                                          <p:spTgt spid="221228"/>
                                        </p:tgtEl>
                                        <p:attrNameLst>
                                          <p:attrName>style.visibility</p:attrName>
                                        </p:attrNameLst>
                                      </p:cBhvr>
                                      <p:to>
                                        <p:strVal val="visible"/>
                                      </p:to>
                                    </p:set>
                                    <p:anim calcmode="lin" valueType="num">
                                      <p:cBhvr additive="base">
                                        <p:cTn id="173" dur="500" fill="hold"/>
                                        <p:tgtEl>
                                          <p:spTgt spid="221228"/>
                                        </p:tgtEl>
                                        <p:attrNameLst>
                                          <p:attrName>ppt_x</p:attrName>
                                        </p:attrNameLst>
                                      </p:cBhvr>
                                      <p:tavLst>
                                        <p:tav tm="0">
                                          <p:val>
                                            <p:strVal val="#ppt_x"/>
                                          </p:val>
                                        </p:tav>
                                        <p:tav tm="100000">
                                          <p:val>
                                            <p:strVal val="#ppt_x"/>
                                          </p:val>
                                        </p:tav>
                                      </p:tavLst>
                                    </p:anim>
                                    <p:anim calcmode="lin" valueType="num">
                                      <p:cBhvr additive="base">
                                        <p:cTn id="174" dur="500" fill="hold"/>
                                        <p:tgtEl>
                                          <p:spTgt spid="221228"/>
                                        </p:tgtEl>
                                        <p:attrNameLst>
                                          <p:attrName>ppt_y</p:attrName>
                                        </p:attrNameLst>
                                      </p:cBhvr>
                                      <p:tavLst>
                                        <p:tav tm="0">
                                          <p:val>
                                            <p:strVal val="0-#ppt_h/2"/>
                                          </p:val>
                                        </p:tav>
                                        <p:tav tm="100000">
                                          <p:val>
                                            <p:strVal val="#ppt_y"/>
                                          </p:val>
                                        </p:tav>
                                      </p:tavLst>
                                    </p:anim>
                                  </p:childTnLst>
                                </p:cTn>
                              </p:par>
                              <p:par>
                                <p:cTn id="175" presetID="2" presetClass="entr" presetSubtype="1" fill="hold" nodeType="withEffect">
                                  <p:stCondLst>
                                    <p:cond delay="0"/>
                                  </p:stCondLst>
                                  <p:childTnLst>
                                    <p:set>
                                      <p:cBhvr>
                                        <p:cTn id="176" dur="1" fill="hold">
                                          <p:stCondLst>
                                            <p:cond delay="0"/>
                                          </p:stCondLst>
                                        </p:cTn>
                                        <p:tgtEl>
                                          <p:spTgt spid="221229"/>
                                        </p:tgtEl>
                                        <p:attrNameLst>
                                          <p:attrName>style.visibility</p:attrName>
                                        </p:attrNameLst>
                                      </p:cBhvr>
                                      <p:to>
                                        <p:strVal val="visible"/>
                                      </p:to>
                                    </p:set>
                                    <p:anim calcmode="lin" valueType="num">
                                      <p:cBhvr additive="base">
                                        <p:cTn id="177" dur="500" fill="hold"/>
                                        <p:tgtEl>
                                          <p:spTgt spid="221229"/>
                                        </p:tgtEl>
                                        <p:attrNameLst>
                                          <p:attrName>ppt_x</p:attrName>
                                        </p:attrNameLst>
                                      </p:cBhvr>
                                      <p:tavLst>
                                        <p:tav tm="0">
                                          <p:val>
                                            <p:strVal val="#ppt_x"/>
                                          </p:val>
                                        </p:tav>
                                        <p:tav tm="100000">
                                          <p:val>
                                            <p:strVal val="#ppt_x"/>
                                          </p:val>
                                        </p:tav>
                                      </p:tavLst>
                                    </p:anim>
                                    <p:anim calcmode="lin" valueType="num">
                                      <p:cBhvr additive="base">
                                        <p:cTn id="178" dur="500" fill="hold"/>
                                        <p:tgtEl>
                                          <p:spTgt spid="221229"/>
                                        </p:tgtEl>
                                        <p:attrNameLst>
                                          <p:attrName>ppt_y</p:attrName>
                                        </p:attrNameLst>
                                      </p:cBhvr>
                                      <p:tavLst>
                                        <p:tav tm="0">
                                          <p:val>
                                            <p:strVal val="0-#ppt_h/2"/>
                                          </p:val>
                                        </p:tav>
                                        <p:tav tm="100000">
                                          <p:val>
                                            <p:strVal val="#ppt_y"/>
                                          </p:val>
                                        </p:tav>
                                      </p:tavLst>
                                    </p:anim>
                                  </p:childTnLst>
                                </p:cTn>
                              </p:par>
                              <p:par>
                                <p:cTn id="179" presetID="2" presetClass="entr" presetSubtype="1" fill="hold" nodeType="withEffect">
                                  <p:stCondLst>
                                    <p:cond delay="0"/>
                                  </p:stCondLst>
                                  <p:childTnLst>
                                    <p:set>
                                      <p:cBhvr>
                                        <p:cTn id="180" dur="1" fill="hold">
                                          <p:stCondLst>
                                            <p:cond delay="0"/>
                                          </p:stCondLst>
                                        </p:cTn>
                                        <p:tgtEl>
                                          <p:spTgt spid="221230"/>
                                        </p:tgtEl>
                                        <p:attrNameLst>
                                          <p:attrName>style.visibility</p:attrName>
                                        </p:attrNameLst>
                                      </p:cBhvr>
                                      <p:to>
                                        <p:strVal val="visible"/>
                                      </p:to>
                                    </p:set>
                                    <p:anim calcmode="lin" valueType="num">
                                      <p:cBhvr additive="base">
                                        <p:cTn id="181" dur="500" fill="hold"/>
                                        <p:tgtEl>
                                          <p:spTgt spid="221230"/>
                                        </p:tgtEl>
                                        <p:attrNameLst>
                                          <p:attrName>ppt_x</p:attrName>
                                        </p:attrNameLst>
                                      </p:cBhvr>
                                      <p:tavLst>
                                        <p:tav tm="0">
                                          <p:val>
                                            <p:strVal val="#ppt_x"/>
                                          </p:val>
                                        </p:tav>
                                        <p:tav tm="100000">
                                          <p:val>
                                            <p:strVal val="#ppt_x"/>
                                          </p:val>
                                        </p:tav>
                                      </p:tavLst>
                                    </p:anim>
                                    <p:anim calcmode="lin" valueType="num">
                                      <p:cBhvr additive="base">
                                        <p:cTn id="182" dur="500" fill="hold"/>
                                        <p:tgtEl>
                                          <p:spTgt spid="221230"/>
                                        </p:tgtEl>
                                        <p:attrNameLst>
                                          <p:attrName>ppt_y</p:attrName>
                                        </p:attrNameLst>
                                      </p:cBhvr>
                                      <p:tavLst>
                                        <p:tav tm="0">
                                          <p:val>
                                            <p:strVal val="0-#ppt_h/2"/>
                                          </p:val>
                                        </p:tav>
                                        <p:tav tm="100000">
                                          <p:val>
                                            <p:strVal val="#ppt_y"/>
                                          </p:val>
                                        </p:tav>
                                      </p:tavLst>
                                    </p:anim>
                                  </p:childTnLst>
                                </p:cTn>
                              </p:par>
                              <p:par>
                                <p:cTn id="183" presetID="2" presetClass="entr" presetSubtype="1" fill="hold" nodeType="withEffect">
                                  <p:stCondLst>
                                    <p:cond delay="0"/>
                                  </p:stCondLst>
                                  <p:childTnLst>
                                    <p:set>
                                      <p:cBhvr>
                                        <p:cTn id="184" dur="1" fill="hold">
                                          <p:stCondLst>
                                            <p:cond delay="0"/>
                                          </p:stCondLst>
                                        </p:cTn>
                                        <p:tgtEl>
                                          <p:spTgt spid="221231"/>
                                        </p:tgtEl>
                                        <p:attrNameLst>
                                          <p:attrName>style.visibility</p:attrName>
                                        </p:attrNameLst>
                                      </p:cBhvr>
                                      <p:to>
                                        <p:strVal val="visible"/>
                                      </p:to>
                                    </p:set>
                                    <p:anim calcmode="lin" valueType="num">
                                      <p:cBhvr additive="base">
                                        <p:cTn id="185" dur="500" fill="hold"/>
                                        <p:tgtEl>
                                          <p:spTgt spid="221231"/>
                                        </p:tgtEl>
                                        <p:attrNameLst>
                                          <p:attrName>ppt_x</p:attrName>
                                        </p:attrNameLst>
                                      </p:cBhvr>
                                      <p:tavLst>
                                        <p:tav tm="0">
                                          <p:val>
                                            <p:strVal val="#ppt_x"/>
                                          </p:val>
                                        </p:tav>
                                        <p:tav tm="100000">
                                          <p:val>
                                            <p:strVal val="#ppt_x"/>
                                          </p:val>
                                        </p:tav>
                                      </p:tavLst>
                                    </p:anim>
                                    <p:anim calcmode="lin" valueType="num">
                                      <p:cBhvr additive="base">
                                        <p:cTn id="186" dur="500" fill="hold"/>
                                        <p:tgtEl>
                                          <p:spTgt spid="221231"/>
                                        </p:tgtEl>
                                        <p:attrNameLst>
                                          <p:attrName>ppt_y</p:attrName>
                                        </p:attrNameLst>
                                      </p:cBhvr>
                                      <p:tavLst>
                                        <p:tav tm="0">
                                          <p:val>
                                            <p:strVal val="0-#ppt_h/2"/>
                                          </p:val>
                                        </p:tav>
                                        <p:tav tm="100000">
                                          <p:val>
                                            <p:strVal val="#ppt_y"/>
                                          </p:val>
                                        </p:tav>
                                      </p:tavLst>
                                    </p:anim>
                                  </p:childTnLst>
                                </p:cTn>
                              </p:par>
                              <p:par>
                                <p:cTn id="187" presetID="2" presetClass="entr" presetSubtype="1" fill="hold" nodeType="withEffect">
                                  <p:stCondLst>
                                    <p:cond delay="0"/>
                                  </p:stCondLst>
                                  <p:childTnLst>
                                    <p:set>
                                      <p:cBhvr>
                                        <p:cTn id="188" dur="1" fill="hold">
                                          <p:stCondLst>
                                            <p:cond delay="0"/>
                                          </p:stCondLst>
                                        </p:cTn>
                                        <p:tgtEl>
                                          <p:spTgt spid="221232"/>
                                        </p:tgtEl>
                                        <p:attrNameLst>
                                          <p:attrName>style.visibility</p:attrName>
                                        </p:attrNameLst>
                                      </p:cBhvr>
                                      <p:to>
                                        <p:strVal val="visible"/>
                                      </p:to>
                                    </p:set>
                                    <p:anim calcmode="lin" valueType="num">
                                      <p:cBhvr additive="base">
                                        <p:cTn id="189" dur="500" fill="hold"/>
                                        <p:tgtEl>
                                          <p:spTgt spid="221232"/>
                                        </p:tgtEl>
                                        <p:attrNameLst>
                                          <p:attrName>ppt_x</p:attrName>
                                        </p:attrNameLst>
                                      </p:cBhvr>
                                      <p:tavLst>
                                        <p:tav tm="0">
                                          <p:val>
                                            <p:strVal val="#ppt_x"/>
                                          </p:val>
                                        </p:tav>
                                        <p:tav tm="100000">
                                          <p:val>
                                            <p:strVal val="#ppt_x"/>
                                          </p:val>
                                        </p:tav>
                                      </p:tavLst>
                                    </p:anim>
                                    <p:anim calcmode="lin" valueType="num">
                                      <p:cBhvr additive="base">
                                        <p:cTn id="190" dur="500" fill="hold"/>
                                        <p:tgtEl>
                                          <p:spTgt spid="221232"/>
                                        </p:tgtEl>
                                        <p:attrNameLst>
                                          <p:attrName>ppt_y</p:attrName>
                                        </p:attrNameLst>
                                      </p:cBhvr>
                                      <p:tavLst>
                                        <p:tav tm="0">
                                          <p:val>
                                            <p:strVal val="0-#ppt_h/2"/>
                                          </p:val>
                                        </p:tav>
                                        <p:tav tm="100000">
                                          <p:val>
                                            <p:strVal val="#ppt_y"/>
                                          </p:val>
                                        </p:tav>
                                      </p:tavLst>
                                    </p:anim>
                                  </p:childTnLst>
                                </p:cTn>
                              </p:par>
                              <p:par>
                                <p:cTn id="191" presetID="2" presetClass="entr" presetSubtype="1" fill="hold" nodeType="withEffect">
                                  <p:stCondLst>
                                    <p:cond delay="0"/>
                                  </p:stCondLst>
                                  <p:childTnLst>
                                    <p:set>
                                      <p:cBhvr>
                                        <p:cTn id="192" dur="1" fill="hold">
                                          <p:stCondLst>
                                            <p:cond delay="0"/>
                                          </p:stCondLst>
                                        </p:cTn>
                                        <p:tgtEl>
                                          <p:spTgt spid="221233"/>
                                        </p:tgtEl>
                                        <p:attrNameLst>
                                          <p:attrName>style.visibility</p:attrName>
                                        </p:attrNameLst>
                                      </p:cBhvr>
                                      <p:to>
                                        <p:strVal val="visible"/>
                                      </p:to>
                                    </p:set>
                                    <p:anim calcmode="lin" valueType="num">
                                      <p:cBhvr additive="base">
                                        <p:cTn id="193" dur="500" fill="hold"/>
                                        <p:tgtEl>
                                          <p:spTgt spid="221233"/>
                                        </p:tgtEl>
                                        <p:attrNameLst>
                                          <p:attrName>ppt_x</p:attrName>
                                        </p:attrNameLst>
                                      </p:cBhvr>
                                      <p:tavLst>
                                        <p:tav tm="0">
                                          <p:val>
                                            <p:strVal val="#ppt_x"/>
                                          </p:val>
                                        </p:tav>
                                        <p:tav tm="100000">
                                          <p:val>
                                            <p:strVal val="#ppt_x"/>
                                          </p:val>
                                        </p:tav>
                                      </p:tavLst>
                                    </p:anim>
                                    <p:anim calcmode="lin" valueType="num">
                                      <p:cBhvr additive="base">
                                        <p:cTn id="194" dur="500" fill="hold"/>
                                        <p:tgtEl>
                                          <p:spTgt spid="221233"/>
                                        </p:tgtEl>
                                        <p:attrNameLst>
                                          <p:attrName>ppt_y</p:attrName>
                                        </p:attrNameLst>
                                      </p:cBhvr>
                                      <p:tavLst>
                                        <p:tav tm="0">
                                          <p:val>
                                            <p:strVal val="0-#ppt_h/2"/>
                                          </p:val>
                                        </p:tav>
                                        <p:tav tm="100000">
                                          <p:val>
                                            <p:strVal val="#ppt_y"/>
                                          </p:val>
                                        </p:tav>
                                      </p:tavLst>
                                    </p:anim>
                                  </p:childTnLst>
                                </p:cTn>
                              </p:par>
                              <p:par>
                                <p:cTn id="195" presetID="2" presetClass="entr" presetSubtype="1" fill="hold" nodeType="withEffect">
                                  <p:stCondLst>
                                    <p:cond delay="0"/>
                                  </p:stCondLst>
                                  <p:childTnLst>
                                    <p:set>
                                      <p:cBhvr>
                                        <p:cTn id="196" dur="1" fill="hold">
                                          <p:stCondLst>
                                            <p:cond delay="0"/>
                                          </p:stCondLst>
                                        </p:cTn>
                                        <p:tgtEl>
                                          <p:spTgt spid="221234"/>
                                        </p:tgtEl>
                                        <p:attrNameLst>
                                          <p:attrName>style.visibility</p:attrName>
                                        </p:attrNameLst>
                                      </p:cBhvr>
                                      <p:to>
                                        <p:strVal val="visible"/>
                                      </p:to>
                                    </p:set>
                                    <p:anim calcmode="lin" valueType="num">
                                      <p:cBhvr additive="base">
                                        <p:cTn id="197" dur="500" fill="hold"/>
                                        <p:tgtEl>
                                          <p:spTgt spid="221234"/>
                                        </p:tgtEl>
                                        <p:attrNameLst>
                                          <p:attrName>ppt_x</p:attrName>
                                        </p:attrNameLst>
                                      </p:cBhvr>
                                      <p:tavLst>
                                        <p:tav tm="0">
                                          <p:val>
                                            <p:strVal val="#ppt_x"/>
                                          </p:val>
                                        </p:tav>
                                        <p:tav tm="100000">
                                          <p:val>
                                            <p:strVal val="#ppt_x"/>
                                          </p:val>
                                        </p:tav>
                                      </p:tavLst>
                                    </p:anim>
                                    <p:anim calcmode="lin" valueType="num">
                                      <p:cBhvr additive="base">
                                        <p:cTn id="198" dur="500" fill="hold"/>
                                        <p:tgtEl>
                                          <p:spTgt spid="221234"/>
                                        </p:tgtEl>
                                        <p:attrNameLst>
                                          <p:attrName>ppt_y</p:attrName>
                                        </p:attrNameLst>
                                      </p:cBhvr>
                                      <p:tavLst>
                                        <p:tav tm="0">
                                          <p:val>
                                            <p:strVal val="0-#ppt_h/2"/>
                                          </p:val>
                                        </p:tav>
                                        <p:tav tm="100000">
                                          <p:val>
                                            <p:strVal val="#ppt_y"/>
                                          </p:val>
                                        </p:tav>
                                      </p:tavLst>
                                    </p:anim>
                                  </p:childTnLst>
                                </p:cTn>
                              </p:par>
                              <p:par>
                                <p:cTn id="199" presetID="2" presetClass="entr" presetSubtype="1" fill="hold" nodeType="withEffect">
                                  <p:stCondLst>
                                    <p:cond delay="0"/>
                                  </p:stCondLst>
                                  <p:childTnLst>
                                    <p:set>
                                      <p:cBhvr>
                                        <p:cTn id="200" dur="1" fill="hold">
                                          <p:stCondLst>
                                            <p:cond delay="0"/>
                                          </p:stCondLst>
                                        </p:cTn>
                                        <p:tgtEl>
                                          <p:spTgt spid="221235"/>
                                        </p:tgtEl>
                                        <p:attrNameLst>
                                          <p:attrName>style.visibility</p:attrName>
                                        </p:attrNameLst>
                                      </p:cBhvr>
                                      <p:to>
                                        <p:strVal val="visible"/>
                                      </p:to>
                                    </p:set>
                                    <p:anim calcmode="lin" valueType="num">
                                      <p:cBhvr additive="base">
                                        <p:cTn id="201" dur="500" fill="hold"/>
                                        <p:tgtEl>
                                          <p:spTgt spid="221235"/>
                                        </p:tgtEl>
                                        <p:attrNameLst>
                                          <p:attrName>ppt_x</p:attrName>
                                        </p:attrNameLst>
                                      </p:cBhvr>
                                      <p:tavLst>
                                        <p:tav tm="0">
                                          <p:val>
                                            <p:strVal val="#ppt_x"/>
                                          </p:val>
                                        </p:tav>
                                        <p:tav tm="100000">
                                          <p:val>
                                            <p:strVal val="#ppt_x"/>
                                          </p:val>
                                        </p:tav>
                                      </p:tavLst>
                                    </p:anim>
                                    <p:anim calcmode="lin" valueType="num">
                                      <p:cBhvr additive="base">
                                        <p:cTn id="202" dur="500" fill="hold"/>
                                        <p:tgtEl>
                                          <p:spTgt spid="221235"/>
                                        </p:tgtEl>
                                        <p:attrNameLst>
                                          <p:attrName>ppt_y</p:attrName>
                                        </p:attrNameLst>
                                      </p:cBhvr>
                                      <p:tavLst>
                                        <p:tav tm="0">
                                          <p:val>
                                            <p:strVal val="0-#ppt_h/2"/>
                                          </p:val>
                                        </p:tav>
                                        <p:tav tm="100000">
                                          <p:val>
                                            <p:strVal val="#ppt_y"/>
                                          </p:val>
                                        </p:tav>
                                      </p:tavLst>
                                    </p:anim>
                                  </p:childTnLst>
                                </p:cTn>
                              </p:par>
                              <p:par>
                                <p:cTn id="203" presetID="2" presetClass="entr" presetSubtype="1" fill="hold" nodeType="withEffect">
                                  <p:stCondLst>
                                    <p:cond delay="0"/>
                                  </p:stCondLst>
                                  <p:childTnLst>
                                    <p:set>
                                      <p:cBhvr>
                                        <p:cTn id="204" dur="1" fill="hold">
                                          <p:stCondLst>
                                            <p:cond delay="0"/>
                                          </p:stCondLst>
                                        </p:cTn>
                                        <p:tgtEl>
                                          <p:spTgt spid="221236"/>
                                        </p:tgtEl>
                                        <p:attrNameLst>
                                          <p:attrName>style.visibility</p:attrName>
                                        </p:attrNameLst>
                                      </p:cBhvr>
                                      <p:to>
                                        <p:strVal val="visible"/>
                                      </p:to>
                                    </p:set>
                                    <p:anim calcmode="lin" valueType="num">
                                      <p:cBhvr additive="base">
                                        <p:cTn id="205" dur="500" fill="hold"/>
                                        <p:tgtEl>
                                          <p:spTgt spid="221236"/>
                                        </p:tgtEl>
                                        <p:attrNameLst>
                                          <p:attrName>ppt_x</p:attrName>
                                        </p:attrNameLst>
                                      </p:cBhvr>
                                      <p:tavLst>
                                        <p:tav tm="0">
                                          <p:val>
                                            <p:strVal val="#ppt_x"/>
                                          </p:val>
                                        </p:tav>
                                        <p:tav tm="100000">
                                          <p:val>
                                            <p:strVal val="#ppt_x"/>
                                          </p:val>
                                        </p:tav>
                                      </p:tavLst>
                                    </p:anim>
                                    <p:anim calcmode="lin" valueType="num">
                                      <p:cBhvr additive="base">
                                        <p:cTn id="206" dur="500" fill="hold"/>
                                        <p:tgtEl>
                                          <p:spTgt spid="221236"/>
                                        </p:tgtEl>
                                        <p:attrNameLst>
                                          <p:attrName>ppt_y</p:attrName>
                                        </p:attrNameLst>
                                      </p:cBhvr>
                                      <p:tavLst>
                                        <p:tav tm="0">
                                          <p:val>
                                            <p:strVal val="0-#ppt_h/2"/>
                                          </p:val>
                                        </p:tav>
                                        <p:tav tm="100000">
                                          <p:val>
                                            <p:strVal val="#ppt_y"/>
                                          </p:val>
                                        </p:tav>
                                      </p:tavLst>
                                    </p:anim>
                                  </p:childTnLst>
                                </p:cTn>
                              </p:par>
                              <p:par>
                                <p:cTn id="207" presetID="2" presetClass="entr" presetSubtype="1" fill="hold" nodeType="withEffect">
                                  <p:stCondLst>
                                    <p:cond delay="0"/>
                                  </p:stCondLst>
                                  <p:childTnLst>
                                    <p:set>
                                      <p:cBhvr>
                                        <p:cTn id="208" dur="1" fill="hold">
                                          <p:stCondLst>
                                            <p:cond delay="0"/>
                                          </p:stCondLst>
                                        </p:cTn>
                                        <p:tgtEl>
                                          <p:spTgt spid="221237"/>
                                        </p:tgtEl>
                                        <p:attrNameLst>
                                          <p:attrName>style.visibility</p:attrName>
                                        </p:attrNameLst>
                                      </p:cBhvr>
                                      <p:to>
                                        <p:strVal val="visible"/>
                                      </p:to>
                                    </p:set>
                                    <p:anim calcmode="lin" valueType="num">
                                      <p:cBhvr additive="base">
                                        <p:cTn id="209" dur="500" fill="hold"/>
                                        <p:tgtEl>
                                          <p:spTgt spid="221237"/>
                                        </p:tgtEl>
                                        <p:attrNameLst>
                                          <p:attrName>ppt_x</p:attrName>
                                        </p:attrNameLst>
                                      </p:cBhvr>
                                      <p:tavLst>
                                        <p:tav tm="0">
                                          <p:val>
                                            <p:strVal val="#ppt_x"/>
                                          </p:val>
                                        </p:tav>
                                        <p:tav tm="100000">
                                          <p:val>
                                            <p:strVal val="#ppt_x"/>
                                          </p:val>
                                        </p:tav>
                                      </p:tavLst>
                                    </p:anim>
                                    <p:anim calcmode="lin" valueType="num">
                                      <p:cBhvr additive="base">
                                        <p:cTn id="210" dur="500" fill="hold"/>
                                        <p:tgtEl>
                                          <p:spTgt spid="221237"/>
                                        </p:tgtEl>
                                        <p:attrNameLst>
                                          <p:attrName>ppt_y</p:attrName>
                                        </p:attrNameLst>
                                      </p:cBhvr>
                                      <p:tavLst>
                                        <p:tav tm="0">
                                          <p:val>
                                            <p:strVal val="0-#ppt_h/2"/>
                                          </p:val>
                                        </p:tav>
                                        <p:tav tm="100000">
                                          <p:val>
                                            <p:strVal val="#ppt_y"/>
                                          </p:val>
                                        </p:tav>
                                      </p:tavLst>
                                    </p:anim>
                                  </p:childTnLst>
                                </p:cTn>
                              </p:par>
                              <p:par>
                                <p:cTn id="211" presetID="2" presetClass="entr" presetSubtype="1" fill="hold" nodeType="withEffect">
                                  <p:stCondLst>
                                    <p:cond delay="0"/>
                                  </p:stCondLst>
                                  <p:childTnLst>
                                    <p:set>
                                      <p:cBhvr>
                                        <p:cTn id="212" dur="1" fill="hold">
                                          <p:stCondLst>
                                            <p:cond delay="0"/>
                                          </p:stCondLst>
                                        </p:cTn>
                                        <p:tgtEl>
                                          <p:spTgt spid="221238"/>
                                        </p:tgtEl>
                                        <p:attrNameLst>
                                          <p:attrName>style.visibility</p:attrName>
                                        </p:attrNameLst>
                                      </p:cBhvr>
                                      <p:to>
                                        <p:strVal val="visible"/>
                                      </p:to>
                                    </p:set>
                                    <p:anim calcmode="lin" valueType="num">
                                      <p:cBhvr additive="base">
                                        <p:cTn id="213" dur="500" fill="hold"/>
                                        <p:tgtEl>
                                          <p:spTgt spid="221238"/>
                                        </p:tgtEl>
                                        <p:attrNameLst>
                                          <p:attrName>ppt_x</p:attrName>
                                        </p:attrNameLst>
                                      </p:cBhvr>
                                      <p:tavLst>
                                        <p:tav tm="0">
                                          <p:val>
                                            <p:strVal val="#ppt_x"/>
                                          </p:val>
                                        </p:tav>
                                        <p:tav tm="100000">
                                          <p:val>
                                            <p:strVal val="#ppt_x"/>
                                          </p:val>
                                        </p:tav>
                                      </p:tavLst>
                                    </p:anim>
                                    <p:anim calcmode="lin" valueType="num">
                                      <p:cBhvr additive="base">
                                        <p:cTn id="214" dur="500" fill="hold"/>
                                        <p:tgtEl>
                                          <p:spTgt spid="221238"/>
                                        </p:tgtEl>
                                        <p:attrNameLst>
                                          <p:attrName>ppt_y</p:attrName>
                                        </p:attrNameLst>
                                      </p:cBhvr>
                                      <p:tavLst>
                                        <p:tav tm="0">
                                          <p:val>
                                            <p:strVal val="0-#ppt_h/2"/>
                                          </p:val>
                                        </p:tav>
                                        <p:tav tm="100000">
                                          <p:val>
                                            <p:strVal val="#ppt_y"/>
                                          </p:val>
                                        </p:tav>
                                      </p:tavLst>
                                    </p:anim>
                                  </p:childTnLst>
                                </p:cTn>
                              </p:par>
                              <p:par>
                                <p:cTn id="215" presetID="2" presetClass="entr" presetSubtype="1" fill="hold" nodeType="withEffect">
                                  <p:stCondLst>
                                    <p:cond delay="0"/>
                                  </p:stCondLst>
                                  <p:childTnLst>
                                    <p:set>
                                      <p:cBhvr>
                                        <p:cTn id="216" dur="1" fill="hold">
                                          <p:stCondLst>
                                            <p:cond delay="0"/>
                                          </p:stCondLst>
                                        </p:cTn>
                                        <p:tgtEl>
                                          <p:spTgt spid="221239"/>
                                        </p:tgtEl>
                                        <p:attrNameLst>
                                          <p:attrName>style.visibility</p:attrName>
                                        </p:attrNameLst>
                                      </p:cBhvr>
                                      <p:to>
                                        <p:strVal val="visible"/>
                                      </p:to>
                                    </p:set>
                                    <p:anim calcmode="lin" valueType="num">
                                      <p:cBhvr additive="base">
                                        <p:cTn id="217" dur="500" fill="hold"/>
                                        <p:tgtEl>
                                          <p:spTgt spid="221239"/>
                                        </p:tgtEl>
                                        <p:attrNameLst>
                                          <p:attrName>ppt_x</p:attrName>
                                        </p:attrNameLst>
                                      </p:cBhvr>
                                      <p:tavLst>
                                        <p:tav tm="0">
                                          <p:val>
                                            <p:strVal val="#ppt_x"/>
                                          </p:val>
                                        </p:tav>
                                        <p:tav tm="100000">
                                          <p:val>
                                            <p:strVal val="#ppt_x"/>
                                          </p:val>
                                        </p:tav>
                                      </p:tavLst>
                                    </p:anim>
                                    <p:anim calcmode="lin" valueType="num">
                                      <p:cBhvr additive="base">
                                        <p:cTn id="218" dur="500" fill="hold"/>
                                        <p:tgtEl>
                                          <p:spTgt spid="221239"/>
                                        </p:tgtEl>
                                        <p:attrNameLst>
                                          <p:attrName>ppt_y</p:attrName>
                                        </p:attrNameLst>
                                      </p:cBhvr>
                                      <p:tavLst>
                                        <p:tav tm="0">
                                          <p:val>
                                            <p:strVal val="0-#ppt_h/2"/>
                                          </p:val>
                                        </p:tav>
                                        <p:tav tm="100000">
                                          <p:val>
                                            <p:strVal val="#ppt_y"/>
                                          </p:val>
                                        </p:tav>
                                      </p:tavLst>
                                    </p:anim>
                                  </p:childTnLst>
                                </p:cTn>
                              </p:par>
                              <p:par>
                                <p:cTn id="219" presetID="2" presetClass="entr" presetSubtype="1" fill="hold" nodeType="withEffect">
                                  <p:stCondLst>
                                    <p:cond delay="0"/>
                                  </p:stCondLst>
                                  <p:childTnLst>
                                    <p:set>
                                      <p:cBhvr>
                                        <p:cTn id="220" dur="1" fill="hold">
                                          <p:stCondLst>
                                            <p:cond delay="0"/>
                                          </p:stCondLst>
                                        </p:cTn>
                                        <p:tgtEl>
                                          <p:spTgt spid="221240"/>
                                        </p:tgtEl>
                                        <p:attrNameLst>
                                          <p:attrName>style.visibility</p:attrName>
                                        </p:attrNameLst>
                                      </p:cBhvr>
                                      <p:to>
                                        <p:strVal val="visible"/>
                                      </p:to>
                                    </p:set>
                                    <p:anim calcmode="lin" valueType="num">
                                      <p:cBhvr additive="base">
                                        <p:cTn id="221" dur="500" fill="hold"/>
                                        <p:tgtEl>
                                          <p:spTgt spid="221240"/>
                                        </p:tgtEl>
                                        <p:attrNameLst>
                                          <p:attrName>ppt_x</p:attrName>
                                        </p:attrNameLst>
                                      </p:cBhvr>
                                      <p:tavLst>
                                        <p:tav tm="0">
                                          <p:val>
                                            <p:strVal val="#ppt_x"/>
                                          </p:val>
                                        </p:tav>
                                        <p:tav tm="100000">
                                          <p:val>
                                            <p:strVal val="#ppt_x"/>
                                          </p:val>
                                        </p:tav>
                                      </p:tavLst>
                                    </p:anim>
                                    <p:anim calcmode="lin" valueType="num">
                                      <p:cBhvr additive="base">
                                        <p:cTn id="222" dur="500" fill="hold"/>
                                        <p:tgtEl>
                                          <p:spTgt spid="221240"/>
                                        </p:tgtEl>
                                        <p:attrNameLst>
                                          <p:attrName>ppt_y</p:attrName>
                                        </p:attrNameLst>
                                      </p:cBhvr>
                                      <p:tavLst>
                                        <p:tav tm="0">
                                          <p:val>
                                            <p:strVal val="0-#ppt_h/2"/>
                                          </p:val>
                                        </p:tav>
                                        <p:tav tm="100000">
                                          <p:val>
                                            <p:strVal val="#ppt_y"/>
                                          </p:val>
                                        </p:tav>
                                      </p:tavLst>
                                    </p:anim>
                                  </p:childTnLst>
                                </p:cTn>
                              </p:par>
                              <p:par>
                                <p:cTn id="223" presetID="2" presetClass="entr" presetSubtype="1" fill="hold" nodeType="withEffect">
                                  <p:stCondLst>
                                    <p:cond delay="0"/>
                                  </p:stCondLst>
                                  <p:childTnLst>
                                    <p:set>
                                      <p:cBhvr>
                                        <p:cTn id="224" dur="1" fill="hold">
                                          <p:stCondLst>
                                            <p:cond delay="0"/>
                                          </p:stCondLst>
                                        </p:cTn>
                                        <p:tgtEl>
                                          <p:spTgt spid="221241"/>
                                        </p:tgtEl>
                                        <p:attrNameLst>
                                          <p:attrName>style.visibility</p:attrName>
                                        </p:attrNameLst>
                                      </p:cBhvr>
                                      <p:to>
                                        <p:strVal val="visible"/>
                                      </p:to>
                                    </p:set>
                                    <p:anim calcmode="lin" valueType="num">
                                      <p:cBhvr additive="base">
                                        <p:cTn id="225" dur="500" fill="hold"/>
                                        <p:tgtEl>
                                          <p:spTgt spid="221241"/>
                                        </p:tgtEl>
                                        <p:attrNameLst>
                                          <p:attrName>ppt_x</p:attrName>
                                        </p:attrNameLst>
                                      </p:cBhvr>
                                      <p:tavLst>
                                        <p:tav tm="0">
                                          <p:val>
                                            <p:strVal val="#ppt_x"/>
                                          </p:val>
                                        </p:tav>
                                        <p:tav tm="100000">
                                          <p:val>
                                            <p:strVal val="#ppt_x"/>
                                          </p:val>
                                        </p:tav>
                                      </p:tavLst>
                                    </p:anim>
                                    <p:anim calcmode="lin" valueType="num">
                                      <p:cBhvr additive="base">
                                        <p:cTn id="226" dur="500" fill="hold"/>
                                        <p:tgtEl>
                                          <p:spTgt spid="221241"/>
                                        </p:tgtEl>
                                        <p:attrNameLst>
                                          <p:attrName>ppt_y</p:attrName>
                                        </p:attrNameLst>
                                      </p:cBhvr>
                                      <p:tavLst>
                                        <p:tav tm="0">
                                          <p:val>
                                            <p:strVal val="0-#ppt_h/2"/>
                                          </p:val>
                                        </p:tav>
                                        <p:tav tm="100000">
                                          <p:val>
                                            <p:strVal val="#ppt_y"/>
                                          </p:val>
                                        </p:tav>
                                      </p:tavLst>
                                    </p:anim>
                                  </p:childTnLst>
                                </p:cTn>
                              </p:par>
                              <p:par>
                                <p:cTn id="227" presetID="2" presetClass="entr" presetSubtype="1" fill="hold" nodeType="withEffect">
                                  <p:stCondLst>
                                    <p:cond delay="0"/>
                                  </p:stCondLst>
                                  <p:childTnLst>
                                    <p:set>
                                      <p:cBhvr>
                                        <p:cTn id="228" dur="1" fill="hold">
                                          <p:stCondLst>
                                            <p:cond delay="0"/>
                                          </p:stCondLst>
                                        </p:cTn>
                                        <p:tgtEl>
                                          <p:spTgt spid="221242"/>
                                        </p:tgtEl>
                                        <p:attrNameLst>
                                          <p:attrName>style.visibility</p:attrName>
                                        </p:attrNameLst>
                                      </p:cBhvr>
                                      <p:to>
                                        <p:strVal val="visible"/>
                                      </p:to>
                                    </p:set>
                                    <p:anim calcmode="lin" valueType="num">
                                      <p:cBhvr additive="base">
                                        <p:cTn id="229" dur="500" fill="hold"/>
                                        <p:tgtEl>
                                          <p:spTgt spid="221242"/>
                                        </p:tgtEl>
                                        <p:attrNameLst>
                                          <p:attrName>ppt_x</p:attrName>
                                        </p:attrNameLst>
                                      </p:cBhvr>
                                      <p:tavLst>
                                        <p:tav tm="0">
                                          <p:val>
                                            <p:strVal val="#ppt_x"/>
                                          </p:val>
                                        </p:tav>
                                        <p:tav tm="100000">
                                          <p:val>
                                            <p:strVal val="#ppt_x"/>
                                          </p:val>
                                        </p:tav>
                                      </p:tavLst>
                                    </p:anim>
                                    <p:anim calcmode="lin" valueType="num">
                                      <p:cBhvr additive="base">
                                        <p:cTn id="230" dur="500" fill="hold"/>
                                        <p:tgtEl>
                                          <p:spTgt spid="221242"/>
                                        </p:tgtEl>
                                        <p:attrNameLst>
                                          <p:attrName>ppt_y</p:attrName>
                                        </p:attrNameLst>
                                      </p:cBhvr>
                                      <p:tavLst>
                                        <p:tav tm="0">
                                          <p:val>
                                            <p:strVal val="0-#ppt_h/2"/>
                                          </p:val>
                                        </p:tav>
                                        <p:tav tm="100000">
                                          <p:val>
                                            <p:strVal val="#ppt_y"/>
                                          </p:val>
                                        </p:tav>
                                      </p:tavLst>
                                    </p:anim>
                                  </p:childTnLst>
                                </p:cTn>
                              </p:par>
                              <p:par>
                                <p:cTn id="231" presetID="2" presetClass="entr" presetSubtype="1" fill="hold" nodeType="withEffect">
                                  <p:stCondLst>
                                    <p:cond delay="0"/>
                                  </p:stCondLst>
                                  <p:childTnLst>
                                    <p:set>
                                      <p:cBhvr>
                                        <p:cTn id="232" dur="1" fill="hold">
                                          <p:stCondLst>
                                            <p:cond delay="0"/>
                                          </p:stCondLst>
                                        </p:cTn>
                                        <p:tgtEl>
                                          <p:spTgt spid="221243"/>
                                        </p:tgtEl>
                                        <p:attrNameLst>
                                          <p:attrName>style.visibility</p:attrName>
                                        </p:attrNameLst>
                                      </p:cBhvr>
                                      <p:to>
                                        <p:strVal val="visible"/>
                                      </p:to>
                                    </p:set>
                                    <p:anim calcmode="lin" valueType="num">
                                      <p:cBhvr additive="base">
                                        <p:cTn id="233" dur="500" fill="hold"/>
                                        <p:tgtEl>
                                          <p:spTgt spid="221243"/>
                                        </p:tgtEl>
                                        <p:attrNameLst>
                                          <p:attrName>ppt_x</p:attrName>
                                        </p:attrNameLst>
                                      </p:cBhvr>
                                      <p:tavLst>
                                        <p:tav tm="0">
                                          <p:val>
                                            <p:strVal val="#ppt_x"/>
                                          </p:val>
                                        </p:tav>
                                        <p:tav tm="100000">
                                          <p:val>
                                            <p:strVal val="#ppt_x"/>
                                          </p:val>
                                        </p:tav>
                                      </p:tavLst>
                                    </p:anim>
                                    <p:anim calcmode="lin" valueType="num">
                                      <p:cBhvr additive="base">
                                        <p:cTn id="234" dur="500" fill="hold"/>
                                        <p:tgtEl>
                                          <p:spTgt spid="221243"/>
                                        </p:tgtEl>
                                        <p:attrNameLst>
                                          <p:attrName>ppt_y</p:attrName>
                                        </p:attrNameLst>
                                      </p:cBhvr>
                                      <p:tavLst>
                                        <p:tav tm="0">
                                          <p:val>
                                            <p:strVal val="0-#ppt_h/2"/>
                                          </p:val>
                                        </p:tav>
                                        <p:tav tm="100000">
                                          <p:val>
                                            <p:strVal val="#ppt_y"/>
                                          </p:val>
                                        </p:tav>
                                      </p:tavLst>
                                    </p:anim>
                                  </p:childTnLst>
                                </p:cTn>
                              </p:par>
                              <p:par>
                                <p:cTn id="235" presetID="2" presetClass="entr" presetSubtype="1" fill="hold" nodeType="withEffect">
                                  <p:stCondLst>
                                    <p:cond delay="0"/>
                                  </p:stCondLst>
                                  <p:childTnLst>
                                    <p:set>
                                      <p:cBhvr>
                                        <p:cTn id="236" dur="1" fill="hold">
                                          <p:stCondLst>
                                            <p:cond delay="0"/>
                                          </p:stCondLst>
                                        </p:cTn>
                                        <p:tgtEl>
                                          <p:spTgt spid="221244"/>
                                        </p:tgtEl>
                                        <p:attrNameLst>
                                          <p:attrName>style.visibility</p:attrName>
                                        </p:attrNameLst>
                                      </p:cBhvr>
                                      <p:to>
                                        <p:strVal val="visible"/>
                                      </p:to>
                                    </p:set>
                                    <p:anim calcmode="lin" valueType="num">
                                      <p:cBhvr additive="base">
                                        <p:cTn id="237" dur="500" fill="hold"/>
                                        <p:tgtEl>
                                          <p:spTgt spid="221244"/>
                                        </p:tgtEl>
                                        <p:attrNameLst>
                                          <p:attrName>ppt_x</p:attrName>
                                        </p:attrNameLst>
                                      </p:cBhvr>
                                      <p:tavLst>
                                        <p:tav tm="0">
                                          <p:val>
                                            <p:strVal val="#ppt_x"/>
                                          </p:val>
                                        </p:tav>
                                        <p:tav tm="100000">
                                          <p:val>
                                            <p:strVal val="#ppt_x"/>
                                          </p:val>
                                        </p:tav>
                                      </p:tavLst>
                                    </p:anim>
                                    <p:anim calcmode="lin" valueType="num">
                                      <p:cBhvr additive="base">
                                        <p:cTn id="238" dur="500" fill="hold"/>
                                        <p:tgtEl>
                                          <p:spTgt spid="221244"/>
                                        </p:tgtEl>
                                        <p:attrNameLst>
                                          <p:attrName>ppt_y</p:attrName>
                                        </p:attrNameLst>
                                      </p:cBhvr>
                                      <p:tavLst>
                                        <p:tav tm="0">
                                          <p:val>
                                            <p:strVal val="0-#ppt_h/2"/>
                                          </p:val>
                                        </p:tav>
                                        <p:tav tm="100000">
                                          <p:val>
                                            <p:strVal val="#ppt_y"/>
                                          </p:val>
                                        </p:tav>
                                      </p:tavLst>
                                    </p:anim>
                                  </p:childTnLst>
                                </p:cTn>
                              </p:par>
                              <p:par>
                                <p:cTn id="239" presetID="2" presetClass="entr" presetSubtype="1" fill="hold" nodeType="withEffect">
                                  <p:stCondLst>
                                    <p:cond delay="0"/>
                                  </p:stCondLst>
                                  <p:childTnLst>
                                    <p:set>
                                      <p:cBhvr>
                                        <p:cTn id="240" dur="1" fill="hold">
                                          <p:stCondLst>
                                            <p:cond delay="0"/>
                                          </p:stCondLst>
                                        </p:cTn>
                                        <p:tgtEl>
                                          <p:spTgt spid="221245"/>
                                        </p:tgtEl>
                                        <p:attrNameLst>
                                          <p:attrName>style.visibility</p:attrName>
                                        </p:attrNameLst>
                                      </p:cBhvr>
                                      <p:to>
                                        <p:strVal val="visible"/>
                                      </p:to>
                                    </p:set>
                                    <p:anim calcmode="lin" valueType="num">
                                      <p:cBhvr additive="base">
                                        <p:cTn id="241" dur="500" fill="hold"/>
                                        <p:tgtEl>
                                          <p:spTgt spid="221245"/>
                                        </p:tgtEl>
                                        <p:attrNameLst>
                                          <p:attrName>ppt_x</p:attrName>
                                        </p:attrNameLst>
                                      </p:cBhvr>
                                      <p:tavLst>
                                        <p:tav tm="0">
                                          <p:val>
                                            <p:strVal val="#ppt_x"/>
                                          </p:val>
                                        </p:tav>
                                        <p:tav tm="100000">
                                          <p:val>
                                            <p:strVal val="#ppt_x"/>
                                          </p:val>
                                        </p:tav>
                                      </p:tavLst>
                                    </p:anim>
                                    <p:anim calcmode="lin" valueType="num">
                                      <p:cBhvr additive="base">
                                        <p:cTn id="242" dur="500" fill="hold"/>
                                        <p:tgtEl>
                                          <p:spTgt spid="221245"/>
                                        </p:tgtEl>
                                        <p:attrNameLst>
                                          <p:attrName>ppt_y</p:attrName>
                                        </p:attrNameLst>
                                      </p:cBhvr>
                                      <p:tavLst>
                                        <p:tav tm="0">
                                          <p:val>
                                            <p:strVal val="0-#ppt_h/2"/>
                                          </p:val>
                                        </p:tav>
                                        <p:tav tm="100000">
                                          <p:val>
                                            <p:strVal val="#ppt_y"/>
                                          </p:val>
                                        </p:tav>
                                      </p:tavLst>
                                    </p:anim>
                                  </p:childTnLst>
                                </p:cTn>
                              </p:par>
                              <p:par>
                                <p:cTn id="243" presetID="2" presetClass="entr" presetSubtype="1" fill="hold" nodeType="withEffect">
                                  <p:stCondLst>
                                    <p:cond delay="0"/>
                                  </p:stCondLst>
                                  <p:childTnLst>
                                    <p:set>
                                      <p:cBhvr>
                                        <p:cTn id="244" dur="1" fill="hold">
                                          <p:stCondLst>
                                            <p:cond delay="0"/>
                                          </p:stCondLst>
                                        </p:cTn>
                                        <p:tgtEl>
                                          <p:spTgt spid="221246"/>
                                        </p:tgtEl>
                                        <p:attrNameLst>
                                          <p:attrName>style.visibility</p:attrName>
                                        </p:attrNameLst>
                                      </p:cBhvr>
                                      <p:to>
                                        <p:strVal val="visible"/>
                                      </p:to>
                                    </p:set>
                                    <p:anim calcmode="lin" valueType="num">
                                      <p:cBhvr additive="base">
                                        <p:cTn id="245" dur="500" fill="hold"/>
                                        <p:tgtEl>
                                          <p:spTgt spid="221246"/>
                                        </p:tgtEl>
                                        <p:attrNameLst>
                                          <p:attrName>ppt_x</p:attrName>
                                        </p:attrNameLst>
                                      </p:cBhvr>
                                      <p:tavLst>
                                        <p:tav tm="0">
                                          <p:val>
                                            <p:strVal val="#ppt_x"/>
                                          </p:val>
                                        </p:tav>
                                        <p:tav tm="100000">
                                          <p:val>
                                            <p:strVal val="#ppt_x"/>
                                          </p:val>
                                        </p:tav>
                                      </p:tavLst>
                                    </p:anim>
                                    <p:anim calcmode="lin" valueType="num">
                                      <p:cBhvr additive="base">
                                        <p:cTn id="246" dur="500" fill="hold"/>
                                        <p:tgtEl>
                                          <p:spTgt spid="221246"/>
                                        </p:tgtEl>
                                        <p:attrNameLst>
                                          <p:attrName>ppt_y</p:attrName>
                                        </p:attrNameLst>
                                      </p:cBhvr>
                                      <p:tavLst>
                                        <p:tav tm="0">
                                          <p:val>
                                            <p:strVal val="0-#ppt_h/2"/>
                                          </p:val>
                                        </p:tav>
                                        <p:tav tm="100000">
                                          <p:val>
                                            <p:strVal val="#ppt_y"/>
                                          </p:val>
                                        </p:tav>
                                      </p:tavLst>
                                    </p:anim>
                                  </p:childTnLst>
                                </p:cTn>
                              </p:par>
                              <p:par>
                                <p:cTn id="247" presetID="2" presetClass="entr" presetSubtype="1" fill="hold" nodeType="withEffect">
                                  <p:stCondLst>
                                    <p:cond delay="0"/>
                                  </p:stCondLst>
                                  <p:childTnLst>
                                    <p:set>
                                      <p:cBhvr>
                                        <p:cTn id="248" dur="1" fill="hold">
                                          <p:stCondLst>
                                            <p:cond delay="0"/>
                                          </p:stCondLst>
                                        </p:cTn>
                                        <p:tgtEl>
                                          <p:spTgt spid="221247"/>
                                        </p:tgtEl>
                                        <p:attrNameLst>
                                          <p:attrName>style.visibility</p:attrName>
                                        </p:attrNameLst>
                                      </p:cBhvr>
                                      <p:to>
                                        <p:strVal val="visible"/>
                                      </p:to>
                                    </p:set>
                                    <p:anim calcmode="lin" valueType="num">
                                      <p:cBhvr additive="base">
                                        <p:cTn id="249" dur="500" fill="hold"/>
                                        <p:tgtEl>
                                          <p:spTgt spid="221247"/>
                                        </p:tgtEl>
                                        <p:attrNameLst>
                                          <p:attrName>ppt_x</p:attrName>
                                        </p:attrNameLst>
                                      </p:cBhvr>
                                      <p:tavLst>
                                        <p:tav tm="0">
                                          <p:val>
                                            <p:strVal val="#ppt_x"/>
                                          </p:val>
                                        </p:tav>
                                        <p:tav tm="100000">
                                          <p:val>
                                            <p:strVal val="#ppt_x"/>
                                          </p:val>
                                        </p:tav>
                                      </p:tavLst>
                                    </p:anim>
                                    <p:anim calcmode="lin" valueType="num">
                                      <p:cBhvr additive="base">
                                        <p:cTn id="250" dur="500" fill="hold"/>
                                        <p:tgtEl>
                                          <p:spTgt spid="221247"/>
                                        </p:tgtEl>
                                        <p:attrNameLst>
                                          <p:attrName>ppt_y</p:attrName>
                                        </p:attrNameLst>
                                      </p:cBhvr>
                                      <p:tavLst>
                                        <p:tav tm="0">
                                          <p:val>
                                            <p:strVal val="0-#ppt_h/2"/>
                                          </p:val>
                                        </p:tav>
                                        <p:tav tm="100000">
                                          <p:val>
                                            <p:strVal val="#ppt_y"/>
                                          </p:val>
                                        </p:tav>
                                      </p:tavLst>
                                    </p:anim>
                                  </p:childTnLst>
                                </p:cTn>
                              </p:par>
                              <p:par>
                                <p:cTn id="251" presetID="2" presetClass="entr" presetSubtype="1" fill="hold" nodeType="withEffect">
                                  <p:stCondLst>
                                    <p:cond delay="0"/>
                                  </p:stCondLst>
                                  <p:childTnLst>
                                    <p:set>
                                      <p:cBhvr>
                                        <p:cTn id="252" dur="1" fill="hold">
                                          <p:stCondLst>
                                            <p:cond delay="0"/>
                                          </p:stCondLst>
                                        </p:cTn>
                                        <p:tgtEl>
                                          <p:spTgt spid="221248"/>
                                        </p:tgtEl>
                                        <p:attrNameLst>
                                          <p:attrName>style.visibility</p:attrName>
                                        </p:attrNameLst>
                                      </p:cBhvr>
                                      <p:to>
                                        <p:strVal val="visible"/>
                                      </p:to>
                                    </p:set>
                                    <p:anim calcmode="lin" valueType="num">
                                      <p:cBhvr additive="base">
                                        <p:cTn id="253" dur="500" fill="hold"/>
                                        <p:tgtEl>
                                          <p:spTgt spid="221248"/>
                                        </p:tgtEl>
                                        <p:attrNameLst>
                                          <p:attrName>ppt_x</p:attrName>
                                        </p:attrNameLst>
                                      </p:cBhvr>
                                      <p:tavLst>
                                        <p:tav tm="0">
                                          <p:val>
                                            <p:strVal val="#ppt_x"/>
                                          </p:val>
                                        </p:tav>
                                        <p:tav tm="100000">
                                          <p:val>
                                            <p:strVal val="#ppt_x"/>
                                          </p:val>
                                        </p:tav>
                                      </p:tavLst>
                                    </p:anim>
                                    <p:anim calcmode="lin" valueType="num">
                                      <p:cBhvr additive="base">
                                        <p:cTn id="254" dur="500" fill="hold"/>
                                        <p:tgtEl>
                                          <p:spTgt spid="221248"/>
                                        </p:tgtEl>
                                        <p:attrNameLst>
                                          <p:attrName>ppt_y</p:attrName>
                                        </p:attrNameLst>
                                      </p:cBhvr>
                                      <p:tavLst>
                                        <p:tav tm="0">
                                          <p:val>
                                            <p:strVal val="0-#ppt_h/2"/>
                                          </p:val>
                                        </p:tav>
                                        <p:tav tm="100000">
                                          <p:val>
                                            <p:strVal val="#ppt_y"/>
                                          </p:val>
                                        </p:tav>
                                      </p:tavLst>
                                    </p:anim>
                                  </p:childTnLst>
                                </p:cTn>
                              </p:par>
                              <p:par>
                                <p:cTn id="255" presetID="2" presetClass="entr" presetSubtype="1" fill="hold" nodeType="withEffect">
                                  <p:stCondLst>
                                    <p:cond delay="0"/>
                                  </p:stCondLst>
                                  <p:childTnLst>
                                    <p:set>
                                      <p:cBhvr>
                                        <p:cTn id="256" dur="1" fill="hold">
                                          <p:stCondLst>
                                            <p:cond delay="0"/>
                                          </p:stCondLst>
                                        </p:cTn>
                                        <p:tgtEl>
                                          <p:spTgt spid="221249"/>
                                        </p:tgtEl>
                                        <p:attrNameLst>
                                          <p:attrName>style.visibility</p:attrName>
                                        </p:attrNameLst>
                                      </p:cBhvr>
                                      <p:to>
                                        <p:strVal val="visible"/>
                                      </p:to>
                                    </p:set>
                                    <p:anim calcmode="lin" valueType="num">
                                      <p:cBhvr additive="base">
                                        <p:cTn id="257" dur="500" fill="hold"/>
                                        <p:tgtEl>
                                          <p:spTgt spid="221249"/>
                                        </p:tgtEl>
                                        <p:attrNameLst>
                                          <p:attrName>ppt_x</p:attrName>
                                        </p:attrNameLst>
                                      </p:cBhvr>
                                      <p:tavLst>
                                        <p:tav tm="0">
                                          <p:val>
                                            <p:strVal val="#ppt_x"/>
                                          </p:val>
                                        </p:tav>
                                        <p:tav tm="100000">
                                          <p:val>
                                            <p:strVal val="#ppt_x"/>
                                          </p:val>
                                        </p:tav>
                                      </p:tavLst>
                                    </p:anim>
                                    <p:anim calcmode="lin" valueType="num">
                                      <p:cBhvr additive="base">
                                        <p:cTn id="258" dur="500" fill="hold"/>
                                        <p:tgtEl>
                                          <p:spTgt spid="221249"/>
                                        </p:tgtEl>
                                        <p:attrNameLst>
                                          <p:attrName>ppt_y</p:attrName>
                                        </p:attrNameLst>
                                      </p:cBhvr>
                                      <p:tavLst>
                                        <p:tav tm="0">
                                          <p:val>
                                            <p:strVal val="0-#ppt_h/2"/>
                                          </p:val>
                                        </p:tav>
                                        <p:tav tm="100000">
                                          <p:val>
                                            <p:strVal val="#ppt_y"/>
                                          </p:val>
                                        </p:tav>
                                      </p:tavLst>
                                    </p:anim>
                                  </p:childTnLst>
                                </p:cTn>
                              </p:par>
                              <p:par>
                                <p:cTn id="259" presetID="2" presetClass="entr" presetSubtype="1" fill="hold" nodeType="withEffect">
                                  <p:stCondLst>
                                    <p:cond delay="0"/>
                                  </p:stCondLst>
                                  <p:childTnLst>
                                    <p:set>
                                      <p:cBhvr>
                                        <p:cTn id="260" dur="1" fill="hold">
                                          <p:stCondLst>
                                            <p:cond delay="0"/>
                                          </p:stCondLst>
                                        </p:cTn>
                                        <p:tgtEl>
                                          <p:spTgt spid="221250"/>
                                        </p:tgtEl>
                                        <p:attrNameLst>
                                          <p:attrName>style.visibility</p:attrName>
                                        </p:attrNameLst>
                                      </p:cBhvr>
                                      <p:to>
                                        <p:strVal val="visible"/>
                                      </p:to>
                                    </p:set>
                                    <p:anim calcmode="lin" valueType="num">
                                      <p:cBhvr additive="base">
                                        <p:cTn id="261" dur="500" fill="hold"/>
                                        <p:tgtEl>
                                          <p:spTgt spid="221250"/>
                                        </p:tgtEl>
                                        <p:attrNameLst>
                                          <p:attrName>ppt_x</p:attrName>
                                        </p:attrNameLst>
                                      </p:cBhvr>
                                      <p:tavLst>
                                        <p:tav tm="0">
                                          <p:val>
                                            <p:strVal val="#ppt_x"/>
                                          </p:val>
                                        </p:tav>
                                        <p:tav tm="100000">
                                          <p:val>
                                            <p:strVal val="#ppt_x"/>
                                          </p:val>
                                        </p:tav>
                                      </p:tavLst>
                                    </p:anim>
                                    <p:anim calcmode="lin" valueType="num">
                                      <p:cBhvr additive="base">
                                        <p:cTn id="262" dur="500" fill="hold"/>
                                        <p:tgtEl>
                                          <p:spTgt spid="221250"/>
                                        </p:tgtEl>
                                        <p:attrNameLst>
                                          <p:attrName>ppt_y</p:attrName>
                                        </p:attrNameLst>
                                      </p:cBhvr>
                                      <p:tavLst>
                                        <p:tav tm="0">
                                          <p:val>
                                            <p:strVal val="0-#ppt_h/2"/>
                                          </p:val>
                                        </p:tav>
                                        <p:tav tm="100000">
                                          <p:val>
                                            <p:strVal val="#ppt_y"/>
                                          </p:val>
                                        </p:tav>
                                      </p:tavLst>
                                    </p:anim>
                                  </p:childTnLst>
                                </p:cTn>
                              </p:par>
                              <p:par>
                                <p:cTn id="263" presetID="2" presetClass="entr" presetSubtype="1" fill="hold" nodeType="withEffect">
                                  <p:stCondLst>
                                    <p:cond delay="0"/>
                                  </p:stCondLst>
                                  <p:childTnLst>
                                    <p:set>
                                      <p:cBhvr>
                                        <p:cTn id="264" dur="1" fill="hold">
                                          <p:stCondLst>
                                            <p:cond delay="0"/>
                                          </p:stCondLst>
                                        </p:cTn>
                                        <p:tgtEl>
                                          <p:spTgt spid="221251"/>
                                        </p:tgtEl>
                                        <p:attrNameLst>
                                          <p:attrName>style.visibility</p:attrName>
                                        </p:attrNameLst>
                                      </p:cBhvr>
                                      <p:to>
                                        <p:strVal val="visible"/>
                                      </p:to>
                                    </p:set>
                                    <p:anim calcmode="lin" valueType="num">
                                      <p:cBhvr additive="base">
                                        <p:cTn id="265" dur="500" fill="hold"/>
                                        <p:tgtEl>
                                          <p:spTgt spid="221251"/>
                                        </p:tgtEl>
                                        <p:attrNameLst>
                                          <p:attrName>ppt_x</p:attrName>
                                        </p:attrNameLst>
                                      </p:cBhvr>
                                      <p:tavLst>
                                        <p:tav tm="0">
                                          <p:val>
                                            <p:strVal val="#ppt_x"/>
                                          </p:val>
                                        </p:tav>
                                        <p:tav tm="100000">
                                          <p:val>
                                            <p:strVal val="#ppt_x"/>
                                          </p:val>
                                        </p:tav>
                                      </p:tavLst>
                                    </p:anim>
                                    <p:anim calcmode="lin" valueType="num">
                                      <p:cBhvr additive="base">
                                        <p:cTn id="266" dur="500" fill="hold"/>
                                        <p:tgtEl>
                                          <p:spTgt spid="221251"/>
                                        </p:tgtEl>
                                        <p:attrNameLst>
                                          <p:attrName>ppt_y</p:attrName>
                                        </p:attrNameLst>
                                      </p:cBhvr>
                                      <p:tavLst>
                                        <p:tav tm="0">
                                          <p:val>
                                            <p:strVal val="0-#ppt_h/2"/>
                                          </p:val>
                                        </p:tav>
                                        <p:tav tm="100000">
                                          <p:val>
                                            <p:strVal val="#ppt_y"/>
                                          </p:val>
                                        </p:tav>
                                      </p:tavLst>
                                    </p:anim>
                                  </p:childTnLst>
                                </p:cTn>
                              </p:par>
                              <p:par>
                                <p:cTn id="267" presetID="2" presetClass="entr" presetSubtype="1" fill="hold" nodeType="withEffect">
                                  <p:stCondLst>
                                    <p:cond delay="0"/>
                                  </p:stCondLst>
                                  <p:childTnLst>
                                    <p:set>
                                      <p:cBhvr>
                                        <p:cTn id="268" dur="1" fill="hold">
                                          <p:stCondLst>
                                            <p:cond delay="0"/>
                                          </p:stCondLst>
                                        </p:cTn>
                                        <p:tgtEl>
                                          <p:spTgt spid="221252"/>
                                        </p:tgtEl>
                                        <p:attrNameLst>
                                          <p:attrName>style.visibility</p:attrName>
                                        </p:attrNameLst>
                                      </p:cBhvr>
                                      <p:to>
                                        <p:strVal val="visible"/>
                                      </p:to>
                                    </p:set>
                                    <p:anim calcmode="lin" valueType="num">
                                      <p:cBhvr additive="base">
                                        <p:cTn id="269" dur="500" fill="hold"/>
                                        <p:tgtEl>
                                          <p:spTgt spid="221252"/>
                                        </p:tgtEl>
                                        <p:attrNameLst>
                                          <p:attrName>ppt_x</p:attrName>
                                        </p:attrNameLst>
                                      </p:cBhvr>
                                      <p:tavLst>
                                        <p:tav tm="0">
                                          <p:val>
                                            <p:strVal val="#ppt_x"/>
                                          </p:val>
                                        </p:tav>
                                        <p:tav tm="100000">
                                          <p:val>
                                            <p:strVal val="#ppt_x"/>
                                          </p:val>
                                        </p:tav>
                                      </p:tavLst>
                                    </p:anim>
                                    <p:anim calcmode="lin" valueType="num">
                                      <p:cBhvr additive="base">
                                        <p:cTn id="270" dur="500" fill="hold"/>
                                        <p:tgtEl>
                                          <p:spTgt spid="221252"/>
                                        </p:tgtEl>
                                        <p:attrNameLst>
                                          <p:attrName>ppt_y</p:attrName>
                                        </p:attrNameLst>
                                      </p:cBhvr>
                                      <p:tavLst>
                                        <p:tav tm="0">
                                          <p:val>
                                            <p:strVal val="0-#ppt_h/2"/>
                                          </p:val>
                                        </p:tav>
                                        <p:tav tm="100000">
                                          <p:val>
                                            <p:strVal val="#ppt_y"/>
                                          </p:val>
                                        </p:tav>
                                      </p:tavLst>
                                    </p:anim>
                                  </p:childTnLst>
                                </p:cTn>
                              </p:par>
                              <p:par>
                                <p:cTn id="271" presetID="2" presetClass="entr" presetSubtype="8" fill="hold" nodeType="withEffect">
                                  <p:stCondLst>
                                    <p:cond delay="0"/>
                                  </p:stCondLst>
                                  <p:childTnLst>
                                    <p:set>
                                      <p:cBhvr>
                                        <p:cTn id="272" dur="1" fill="hold">
                                          <p:stCondLst>
                                            <p:cond delay="0"/>
                                          </p:stCondLst>
                                        </p:cTn>
                                        <p:tgtEl>
                                          <p:spTgt spid="221257"/>
                                        </p:tgtEl>
                                        <p:attrNameLst>
                                          <p:attrName>style.visibility</p:attrName>
                                        </p:attrNameLst>
                                      </p:cBhvr>
                                      <p:to>
                                        <p:strVal val="visible"/>
                                      </p:to>
                                    </p:set>
                                    <p:anim calcmode="lin" valueType="num">
                                      <p:cBhvr additive="base">
                                        <p:cTn id="273" dur="500" fill="hold"/>
                                        <p:tgtEl>
                                          <p:spTgt spid="221257"/>
                                        </p:tgtEl>
                                        <p:attrNameLst>
                                          <p:attrName>ppt_x</p:attrName>
                                        </p:attrNameLst>
                                      </p:cBhvr>
                                      <p:tavLst>
                                        <p:tav tm="0">
                                          <p:val>
                                            <p:strVal val="0-#ppt_w/2"/>
                                          </p:val>
                                        </p:tav>
                                        <p:tav tm="100000">
                                          <p:val>
                                            <p:strVal val="#ppt_x"/>
                                          </p:val>
                                        </p:tav>
                                      </p:tavLst>
                                    </p:anim>
                                    <p:anim calcmode="lin" valueType="num">
                                      <p:cBhvr additive="base">
                                        <p:cTn id="274" dur="500" fill="hold"/>
                                        <p:tgtEl>
                                          <p:spTgt spid="221257"/>
                                        </p:tgtEl>
                                        <p:attrNameLst>
                                          <p:attrName>ppt_y</p:attrName>
                                        </p:attrNameLst>
                                      </p:cBhvr>
                                      <p:tavLst>
                                        <p:tav tm="0">
                                          <p:val>
                                            <p:strVal val="#ppt_y"/>
                                          </p:val>
                                        </p:tav>
                                        <p:tav tm="100000">
                                          <p:val>
                                            <p:strVal val="#ppt_y"/>
                                          </p:val>
                                        </p:tav>
                                      </p:tavLst>
                                    </p:anim>
                                  </p:childTnLst>
                                </p:cTn>
                              </p:par>
                              <p:par>
                                <p:cTn id="275" presetID="2" presetClass="entr" presetSubtype="8" fill="hold" grpId="0" nodeType="withEffect">
                                  <p:stCondLst>
                                    <p:cond delay="0"/>
                                  </p:stCondLst>
                                  <p:childTnLst>
                                    <p:set>
                                      <p:cBhvr>
                                        <p:cTn id="276" dur="1" fill="hold">
                                          <p:stCondLst>
                                            <p:cond delay="0"/>
                                          </p:stCondLst>
                                        </p:cTn>
                                        <p:tgtEl>
                                          <p:spTgt spid="221258"/>
                                        </p:tgtEl>
                                        <p:attrNameLst>
                                          <p:attrName>style.visibility</p:attrName>
                                        </p:attrNameLst>
                                      </p:cBhvr>
                                      <p:to>
                                        <p:strVal val="visible"/>
                                      </p:to>
                                    </p:set>
                                    <p:anim calcmode="lin" valueType="num">
                                      <p:cBhvr additive="base">
                                        <p:cTn id="277" dur="500" fill="hold"/>
                                        <p:tgtEl>
                                          <p:spTgt spid="221258"/>
                                        </p:tgtEl>
                                        <p:attrNameLst>
                                          <p:attrName>ppt_x</p:attrName>
                                        </p:attrNameLst>
                                      </p:cBhvr>
                                      <p:tavLst>
                                        <p:tav tm="0">
                                          <p:val>
                                            <p:strVal val="0-#ppt_w/2"/>
                                          </p:val>
                                        </p:tav>
                                        <p:tav tm="100000">
                                          <p:val>
                                            <p:strVal val="#ppt_x"/>
                                          </p:val>
                                        </p:tav>
                                      </p:tavLst>
                                    </p:anim>
                                    <p:anim calcmode="lin" valueType="num">
                                      <p:cBhvr additive="base">
                                        <p:cTn id="278" dur="500" fill="hold"/>
                                        <p:tgtEl>
                                          <p:spTgt spid="221258"/>
                                        </p:tgtEl>
                                        <p:attrNameLst>
                                          <p:attrName>ppt_y</p:attrName>
                                        </p:attrNameLst>
                                      </p:cBhvr>
                                      <p:tavLst>
                                        <p:tav tm="0">
                                          <p:val>
                                            <p:strVal val="#ppt_y"/>
                                          </p:val>
                                        </p:tav>
                                        <p:tav tm="100000">
                                          <p:val>
                                            <p:strVal val="#ppt_y"/>
                                          </p:val>
                                        </p:tav>
                                      </p:tavLst>
                                    </p:anim>
                                  </p:childTnLst>
                                </p:cTn>
                              </p:par>
                            </p:childTnLst>
                          </p:cTn>
                        </p:par>
                      </p:childTnLst>
                    </p:cTn>
                  </p:par>
                  <p:par>
                    <p:cTn id="279" fill="hold" nodeType="clickPar">
                      <p:stCondLst>
                        <p:cond delay="indefinite"/>
                      </p:stCondLst>
                      <p:childTnLst>
                        <p:par>
                          <p:cTn id="280" fill="hold" nodeType="withGroup">
                            <p:stCondLst>
                              <p:cond delay="0"/>
                            </p:stCondLst>
                            <p:childTnLst>
                              <p:par>
                                <p:cTn id="281" presetID="2" presetClass="entr" presetSubtype="8" fill="hold" nodeType="clickEffect">
                                  <p:stCondLst>
                                    <p:cond delay="0"/>
                                  </p:stCondLst>
                                  <p:childTnLst>
                                    <p:set>
                                      <p:cBhvr>
                                        <p:cTn id="282" dur="1" fill="hold">
                                          <p:stCondLst>
                                            <p:cond delay="0"/>
                                          </p:stCondLst>
                                        </p:cTn>
                                        <p:tgtEl>
                                          <p:spTgt spid="221269"/>
                                        </p:tgtEl>
                                        <p:attrNameLst>
                                          <p:attrName>style.visibility</p:attrName>
                                        </p:attrNameLst>
                                      </p:cBhvr>
                                      <p:to>
                                        <p:strVal val="visible"/>
                                      </p:to>
                                    </p:set>
                                    <p:anim calcmode="lin" valueType="num">
                                      <p:cBhvr additive="base">
                                        <p:cTn id="283" dur="500" fill="hold"/>
                                        <p:tgtEl>
                                          <p:spTgt spid="221269"/>
                                        </p:tgtEl>
                                        <p:attrNameLst>
                                          <p:attrName>ppt_x</p:attrName>
                                        </p:attrNameLst>
                                      </p:cBhvr>
                                      <p:tavLst>
                                        <p:tav tm="0">
                                          <p:val>
                                            <p:strVal val="0-#ppt_w/2"/>
                                          </p:val>
                                        </p:tav>
                                        <p:tav tm="100000">
                                          <p:val>
                                            <p:strVal val="#ppt_x"/>
                                          </p:val>
                                        </p:tav>
                                      </p:tavLst>
                                    </p:anim>
                                    <p:anim calcmode="lin" valueType="num">
                                      <p:cBhvr additive="base">
                                        <p:cTn id="284" dur="500" fill="hold"/>
                                        <p:tgtEl>
                                          <p:spTgt spid="2212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256" grpId="0"/>
      <p:bldP spid="22125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DA19D-21D1-EC9D-01FC-CAE23A411E08}"/>
              </a:ext>
            </a:extLst>
          </p:cNvPr>
          <p:cNvSpPr>
            <a:spLocks noGrp="1"/>
          </p:cNvSpPr>
          <p:nvPr>
            <p:ph type="title"/>
          </p:nvPr>
        </p:nvSpPr>
        <p:spPr/>
        <p:txBody>
          <a:bodyPr>
            <a:normAutofit fontScale="90000"/>
          </a:bodyPr>
          <a:lstStyle/>
          <a:p>
            <a:r>
              <a:rPr lang="en-US" dirty="0"/>
              <a:t>Temperature-Programmed Desorption</a:t>
            </a:r>
          </a:p>
        </p:txBody>
      </p:sp>
      <p:sp>
        <p:nvSpPr>
          <p:cNvPr id="3" name="Content Placeholder 2">
            <a:extLst>
              <a:ext uri="{FF2B5EF4-FFF2-40B4-BE49-F238E27FC236}">
                <a16:creationId xmlns:a16="http://schemas.microsoft.com/office/drawing/2014/main" id="{B4E0816C-3365-F30C-FE31-C10122D3A576}"/>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08A92053-C08D-DC64-3785-0A743E81965E}"/>
              </a:ext>
            </a:extLst>
          </p:cNvPr>
          <p:cNvSpPr>
            <a:spLocks noGrp="1"/>
          </p:cNvSpPr>
          <p:nvPr>
            <p:ph type="dt" sz="half" idx="10"/>
          </p:nvPr>
        </p:nvSpPr>
        <p:spPr/>
        <p:txBody>
          <a:bodyPr/>
          <a:lstStyle/>
          <a:p>
            <a:r>
              <a:rPr lang="en-US" altLang="en-US"/>
              <a:t>W. F. Schneider</a:t>
            </a:r>
          </a:p>
        </p:txBody>
      </p:sp>
      <p:sp>
        <p:nvSpPr>
          <p:cNvPr id="5" name="Footer Placeholder 4">
            <a:extLst>
              <a:ext uri="{FF2B5EF4-FFF2-40B4-BE49-F238E27FC236}">
                <a16:creationId xmlns:a16="http://schemas.microsoft.com/office/drawing/2014/main" id="{8F75272C-FAA0-B090-E46D-86CCCC48D498}"/>
              </a:ext>
            </a:extLst>
          </p:cNvPr>
          <p:cNvSpPr>
            <a:spLocks noGrp="1"/>
          </p:cNvSpPr>
          <p:nvPr>
            <p:ph type="ftr" sz="quarter" idx="11"/>
          </p:nvPr>
        </p:nvSpPr>
        <p:spPr/>
        <p:txBody>
          <a:bodyPr/>
          <a:lstStyle/>
          <a:p>
            <a:r>
              <a:rPr lang="en-US" altLang="en-US"/>
              <a:t>CBE 60546</a:t>
            </a:r>
          </a:p>
        </p:txBody>
      </p:sp>
    </p:spTree>
    <p:extLst>
      <p:ext uri="{BB962C8B-B14F-4D97-AF65-F5344CB8AC3E}">
        <p14:creationId xmlns:p14="http://schemas.microsoft.com/office/powerpoint/2010/main" val="31602161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C5BFE-EC74-8354-312C-B9F4E05B2F29}"/>
              </a:ext>
            </a:extLst>
          </p:cNvPr>
          <p:cNvSpPr>
            <a:spLocks noGrp="1"/>
          </p:cNvSpPr>
          <p:nvPr>
            <p:ph type="title"/>
          </p:nvPr>
        </p:nvSpPr>
        <p:spPr/>
        <p:txBody>
          <a:bodyPr>
            <a:normAutofit fontScale="90000"/>
          </a:bodyPr>
          <a:lstStyle/>
          <a:p>
            <a:r>
              <a:rPr lang="en-US" dirty="0"/>
              <a:t>Competitive Adsorption</a:t>
            </a:r>
          </a:p>
        </p:txBody>
      </p:sp>
      <p:sp>
        <p:nvSpPr>
          <p:cNvPr id="3" name="Content Placeholder 2">
            <a:extLst>
              <a:ext uri="{FF2B5EF4-FFF2-40B4-BE49-F238E27FC236}">
                <a16:creationId xmlns:a16="http://schemas.microsoft.com/office/drawing/2014/main" id="{80898016-B086-4157-5CC7-EF2E9313E916}"/>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CCB07155-CC65-55B5-6FA4-8719FD60DD3B}"/>
              </a:ext>
            </a:extLst>
          </p:cNvPr>
          <p:cNvSpPr>
            <a:spLocks noGrp="1"/>
          </p:cNvSpPr>
          <p:nvPr>
            <p:ph type="dt" sz="half" idx="10"/>
          </p:nvPr>
        </p:nvSpPr>
        <p:spPr/>
        <p:txBody>
          <a:bodyPr/>
          <a:lstStyle/>
          <a:p>
            <a:r>
              <a:rPr lang="en-US" altLang="en-US"/>
              <a:t>W. F. Schneider</a:t>
            </a:r>
          </a:p>
        </p:txBody>
      </p:sp>
      <p:sp>
        <p:nvSpPr>
          <p:cNvPr id="5" name="Footer Placeholder 4">
            <a:extLst>
              <a:ext uri="{FF2B5EF4-FFF2-40B4-BE49-F238E27FC236}">
                <a16:creationId xmlns:a16="http://schemas.microsoft.com/office/drawing/2014/main" id="{E799845F-F728-8D89-AE8F-BA67CE5A7119}"/>
              </a:ext>
            </a:extLst>
          </p:cNvPr>
          <p:cNvSpPr>
            <a:spLocks noGrp="1"/>
          </p:cNvSpPr>
          <p:nvPr>
            <p:ph type="ftr" sz="quarter" idx="11"/>
          </p:nvPr>
        </p:nvSpPr>
        <p:spPr/>
        <p:txBody>
          <a:bodyPr/>
          <a:lstStyle/>
          <a:p>
            <a:r>
              <a:rPr lang="en-US" altLang="en-US"/>
              <a:t>CBE 60546</a:t>
            </a:r>
          </a:p>
        </p:txBody>
      </p:sp>
    </p:spTree>
    <p:extLst>
      <p:ext uri="{BB962C8B-B14F-4D97-AF65-F5344CB8AC3E}">
        <p14:creationId xmlns:p14="http://schemas.microsoft.com/office/powerpoint/2010/main" val="32893524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a:extLst>
              <a:ext uri="{FF2B5EF4-FFF2-40B4-BE49-F238E27FC236}">
                <a16:creationId xmlns:a16="http://schemas.microsoft.com/office/drawing/2014/main" id="{86295B45-46E3-72B2-380D-956A94FBE2FB}"/>
              </a:ext>
            </a:extLst>
          </p:cNvPr>
          <p:cNvSpPr>
            <a:spLocks noGrp="1" noChangeArrowheads="1"/>
          </p:cNvSpPr>
          <p:nvPr>
            <p:ph type="title"/>
          </p:nvPr>
        </p:nvSpPr>
        <p:spPr/>
        <p:txBody>
          <a:bodyPr>
            <a:normAutofit fontScale="90000"/>
          </a:bodyPr>
          <a:lstStyle/>
          <a:p>
            <a:r>
              <a:rPr lang="en-US" altLang="en-US"/>
              <a:t>Rates of Catalytic Reactions</a:t>
            </a:r>
          </a:p>
        </p:txBody>
      </p:sp>
      <p:sp>
        <p:nvSpPr>
          <p:cNvPr id="202755" name="Rectangle 3">
            <a:extLst>
              <a:ext uri="{FF2B5EF4-FFF2-40B4-BE49-F238E27FC236}">
                <a16:creationId xmlns:a16="http://schemas.microsoft.com/office/drawing/2014/main" id="{BB8BE63E-2353-773F-21A3-A7DB390AB30F}"/>
              </a:ext>
            </a:extLst>
          </p:cNvPr>
          <p:cNvSpPr>
            <a:spLocks noGrp="1" noChangeArrowheads="1"/>
          </p:cNvSpPr>
          <p:nvPr>
            <p:ph idx="1"/>
          </p:nvPr>
        </p:nvSpPr>
        <p:spPr/>
        <p:txBody>
          <a:bodyPr>
            <a:normAutofit fontScale="85000" lnSpcReduction="20000"/>
          </a:bodyPr>
          <a:lstStyle/>
          <a:p>
            <a:pPr>
              <a:lnSpc>
                <a:spcPct val="80000"/>
              </a:lnSpc>
            </a:pPr>
            <a:r>
              <a:rPr lang="en-US" altLang="en-US" sz="2000"/>
              <a:t>Pseudo-homogeneous reaction rate</a:t>
            </a:r>
          </a:p>
          <a:p>
            <a:pPr lvl="1">
              <a:lnSpc>
                <a:spcPct val="80000"/>
              </a:lnSpc>
            </a:pPr>
            <a:r>
              <a:rPr lang="en-US" altLang="en-US" sz="1800" i="1"/>
              <a:t>r</a:t>
            </a:r>
            <a:r>
              <a:rPr lang="en-US" altLang="en-US" sz="1800"/>
              <a:t> = moles / volume </a:t>
            </a:r>
            <a:r>
              <a:rPr lang="en-US" altLang="en-US" sz="1800">
                <a:cs typeface="Arial" panose="020B0604020202020204" pitchFamily="34" charset="0"/>
              </a:rPr>
              <a:t>· time</a:t>
            </a:r>
          </a:p>
          <a:p>
            <a:pPr lvl="1">
              <a:lnSpc>
                <a:spcPct val="80000"/>
              </a:lnSpc>
            </a:pPr>
            <a:endParaRPr lang="en-US" altLang="en-US" sz="1800">
              <a:cs typeface="Arial" panose="020B0604020202020204" pitchFamily="34" charset="0"/>
            </a:endParaRPr>
          </a:p>
          <a:p>
            <a:pPr>
              <a:lnSpc>
                <a:spcPct val="80000"/>
              </a:lnSpc>
            </a:pPr>
            <a:r>
              <a:rPr lang="en-US" altLang="en-US" sz="2000"/>
              <a:t>Mass-based rate</a:t>
            </a:r>
          </a:p>
          <a:p>
            <a:pPr lvl="1">
              <a:lnSpc>
                <a:spcPct val="80000"/>
              </a:lnSpc>
            </a:pPr>
            <a:r>
              <a:rPr lang="en-US" altLang="en-US" sz="1800" i="1"/>
              <a:t>r</a:t>
            </a:r>
            <a:r>
              <a:rPr lang="en-US" altLang="en-US" sz="1800" i="1">
                <a:cs typeface="Arial" panose="020B0604020202020204" pitchFamily="34" charset="0"/>
              </a:rPr>
              <a:t>′</a:t>
            </a:r>
            <a:r>
              <a:rPr lang="en-US" altLang="en-US" sz="1800"/>
              <a:t> = moles / mass</a:t>
            </a:r>
            <a:r>
              <a:rPr lang="en-US" altLang="en-US" sz="1800" baseline="-25000"/>
              <a:t>cat</a:t>
            </a:r>
            <a:r>
              <a:rPr lang="en-US" altLang="en-US" sz="1800"/>
              <a:t> </a:t>
            </a:r>
            <a:r>
              <a:rPr lang="en-US" altLang="en-US" sz="1800">
                <a:cs typeface="Arial" panose="020B0604020202020204" pitchFamily="34" charset="0"/>
              </a:rPr>
              <a:t>· time</a:t>
            </a:r>
          </a:p>
          <a:p>
            <a:pPr lvl="1">
              <a:lnSpc>
                <a:spcPct val="80000"/>
              </a:lnSpc>
            </a:pPr>
            <a:r>
              <a:rPr lang="en-US" altLang="en-US" sz="1800" i="1"/>
              <a:t>r</a:t>
            </a:r>
            <a:r>
              <a:rPr lang="en-US" altLang="en-US" sz="1800" i="1">
                <a:cs typeface="Arial" panose="020B0604020202020204" pitchFamily="34" charset="0"/>
              </a:rPr>
              <a:t>′</a:t>
            </a:r>
            <a:r>
              <a:rPr lang="en-US" altLang="en-US" sz="1800"/>
              <a:t> = </a:t>
            </a:r>
            <a:r>
              <a:rPr lang="en-US" altLang="en-US" sz="1800" i="1"/>
              <a:t>r</a:t>
            </a:r>
            <a:r>
              <a:rPr lang="en-US" altLang="en-US" sz="1800"/>
              <a:t>  / </a:t>
            </a:r>
            <a:r>
              <a:rPr lang="el-GR" altLang="en-US" sz="1800" i="1">
                <a:cs typeface="Arial" panose="020B0604020202020204" pitchFamily="34" charset="0"/>
              </a:rPr>
              <a:t>ρ</a:t>
            </a:r>
            <a:r>
              <a:rPr lang="en-US" altLang="en-US" sz="1800" baseline="-25000">
                <a:cs typeface="Arial" panose="020B0604020202020204" pitchFamily="34" charset="0"/>
              </a:rPr>
              <a:t>cat</a:t>
            </a:r>
            <a:endParaRPr lang="el-GR" altLang="en-US" sz="1800" baseline="-25000">
              <a:cs typeface="Arial" panose="020B0604020202020204" pitchFamily="34" charset="0"/>
            </a:endParaRPr>
          </a:p>
          <a:p>
            <a:pPr>
              <a:lnSpc>
                <a:spcPct val="80000"/>
              </a:lnSpc>
            </a:pPr>
            <a:endParaRPr lang="en-US" altLang="en-US" sz="2000"/>
          </a:p>
          <a:p>
            <a:pPr>
              <a:lnSpc>
                <a:spcPct val="80000"/>
              </a:lnSpc>
            </a:pPr>
            <a:r>
              <a:rPr lang="en-US" altLang="en-US" sz="2000" i="1"/>
              <a:t>Heterogeneous reactions happen at </a:t>
            </a:r>
            <a:r>
              <a:rPr lang="en-US" altLang="en-US" sz="2000" i="1" u="sng"/>
              <a:t>surfaces</a:t>
            </a:r>
          </a:p>
          <a:p>
            <a:pPr>
              <a:lnSpc>
                <a:spcPct val="80000"/>
              </a:lnSpc>
            </a:pPr>
            <a:r>
              <a:rPr lang="en-US" altLang="en-US" sz="2000"/>
              <a:t>Area-based rate</a:t>
            </a:r>
          </a:p>
          <a:p>
            <a:pPr lvl="1">
              <a:lnSpc>
                <a:spcPct val="80000"/>
              </a:lnSpc>
            </a:pPr>
            <a:r>
              <a:rPr lang="en-US" altLang="en-US" sz="1800" i="1"/>
              <a:t>r</a:t>
            </a:r>
            <a:r>
              <a:rPr lang="en-US" altLang="en-US" sz="1800" i="1">
                <a:cs typeface="Arial" panose="020B0604020202020204" pitchFamily="34" charset="0"/>
              </a:rPr>
              <a:t>′′</a:t>
            </a:r>
            <a:r>
              <a:rPr lang="en-US" altLang="en-US" sz="1800"/>
              <a:t> = moles / area</a:t>
            </a:r>
            <a:r>
              <a:rPr lang="en-US" altLang="en-US" sz="1800" baseline="-25000"/>
              <a:t>cat</a:t>
            </a:r>
            <a:r>
              <a:rPr lang="en-US" altLang="en-US" sz="1800"/>
              <a:t> </a:t>
            </a:r>
            <a:r>
              <a:rPr lang="en-US" altLang="en-US" sz="1800">
                <a:cs typeface="Arial" panose="020B0604020202020204" pitchFamily="34" charset="0"/>
              </a:rPr>
              <a:t>· time</a:t>
            </a:r>
          </a:p>
          <a:p>
            <a:pPr lvl="1">
              <a:lnSpc>
                <a:spcPct val="80000"/>
              </a:lnSpc>
            </a:pPr>
            <a:r>
              <a:rPr lang="en-US" altLang="en-US" sz="1800" i="1"/>
              <a:t>r</a:t>
            </a:r>
            <a:r>
              <a:rPr lang="en-US" altLang="en-US" sz="1800" i="1">
                <a:cs typeface="Arial" panose="020B0604020202020204" pitchFamily="34" charset="0"/>
              </a:rPr>
              <a:t>′′</a:t>
            </a:r>
            <a:r>
              <a:rPr lang="en-US" altLang="en-US" sz="1800"/>
              <a:t> = </a:t>
            </a:r>
            <a:r>
              <a:rPr lang="en-US" altLang="en-US" sz="1800" i="1"/>
              <a:t>r</a:t>
            </a:r>
            <a:r>
              <a:rPr lang="en-US" altLang="en-US" sz="1800" i="1">
                <a:cs typeface="Arial" panose="020B0604020202020204" pitchFamily="34" charset="0"/>
              </a:rPr>
              <a:t>′</a:t>
            </a:r>
            <a:r>
              <a:rPr lang="en-US" altLang="en-US" sz="1800"/>
              <a:t> / </a:t>
            </a:r>
            <a:r>
              <a:rPr lang="en-US" altLang="en-US" sz="1800" i="1"/>
              <a:t>SA,		SA</a:t>
            </a:r>
            <a:r>
              <a:rPr lang="en-US" altLang="en-US" sz="1800"/>
              <a:t> = area / mass</a:t>
            </a:r>
          </a:p>
          <a:p>
            <a:pPr lvl="1">
              <a:lnSpc>
                <a:spcPct val="80000"/>
              </a:lnSpc>
            </a:pPr>
            <a:endParaRPr lang="en-US" altLang="en-US" sz="1800">
              <a:cs typeface="Arial" panose="020B0604020202020204" pitchFamily="34" charset="0"/>
            </a:endParaRPr>
          </a:p>
          <a:p>
            <a:pPr>
              <a:lnSpc>
                <a:spcPct val="80000"/>
              </a:lnSpc>
            </a:pPr>
            <a:r>
              <a:rPr lang="en-US" altLang="en-US" sz="2000" i="1">
                <a:cs typeface="Arial" panose="020B0604020202020204" pitchFamily="34" charset="0"/>
              </a:rPr>
              <a:t>Heterogeneous reactions happen at </a:t>
            </a:r>
            <a:r>
              <a:rPr lang="en-US" altLang="en-US" sz="2000" i="1" u="sng">
                <a:cs typeface="Arial" panose="020B0604020202020204" pitchFamily="34" charset="0"/>
              </a:rPr>
              <a:t>active sites</a:t>
            </a:r>
          </a:p>
          <a:p>
            <a:pPr>
              <a:lnSpc>
                <a:spcPct val="80000"/>
              </a:lnSpc>
            </a:pPr>
            <a:r>
              <a:rPr lang="en-US" altLang="en-US" sz="2000">
                <a:cs typeface="Arial" panose="020B0604020202020204" pitchFamily="34" charset="0"/>
              </a:rPr>
              <a:t>Active site-based rate</a:t>
            </a:r>
          </a:p>
          <a:p>
            <a:pPr lvl="1">
              <a:lnSpc>
                <a:spcPct val="80000"/>
              </a:lnSpc>
            </a:pPr>
            <a:r>
              <a:rPr lang="en-US" altLang="en-US" sz="1800">
                <a:cs typeface="Arial" panose="020B0604020202020204" pitchFamily="34" charset="0"/>
              </a:rPr>
              <a:t>Turn-over frequency </a:t>
            </a:r>
            <a:r>
              <a:rPr lang="en-US" altLang="en-US" sz="1800" i="1">
                <a:cs typeface="Arial" panose="020B0604020202020204" pitchFamily="34" charset="0"/>
              </a:rPr>
              <a:t>TOF</a:t>
            </a:r>
            <a:r>
              <a:rPr lang="en-US" altLang="en-US" sz="1800">
                <a:cs typeface="Arial" panose="020B0604020202020204" pitchFamily="34" charset="0"/>
              </a:rPr>
              <a:t> = moles / site · time</a:t>
            </a:r>
          </a:p>
          <a:p>
            <a:pPr lvl="1">
              <a:lnSpc>
                <a:spcPct val="80000"/>
              </a:lnSpc>
            </a:pPr>
            <a:r>
              <a:rPr lang="en-US" altLang="en-US" sz="1800" i="1">
                <a:cs typeface="Arial" panose="020B0604020202020204" pitchFamily="34" charset="0"/>
              </a:rPr>
              <a:t>TOF</a:t>
            </a:r>
            <a:r>
              <a:rPr lang="en-US" altLang="en-US" sz="1800">
                <a:cs typeface="Arial" panose="020B0604020202020204" pitchFamily="34" charset="0"/>
              </a:rPr>
              <a:t> = </a:t>
            </a:r>
            <a:r>
              <a:rPr lang="en-US" altLang="en-US" sz="1800" i="1"/>
              <a:t>r</a:t>
            </a:r>
            <a:r>
              <a:rPr lang="en-US" altLang="en-US" sz="1800" i="1">
                <a:cs typeface="Arial" panose="020B0604020202020204" pitchFamily="34" charset="0"/>
              </a:rPr>
              <a:t>′′</a:t>
            </a:r>
            <a:r>
              <a:rPr lang="en-US" altLang="en-US" sz="1800"/>
              <a:t> / </a:t>
            </a:r>
            <a:r>
              <a:rPr lang="el-GR" altLang="en-US" sz="1800" i="1">
                <a:cs typeface="Arial" panose="020B0604020202020204" pitchFamily="34" charset="0"/>
              </a:rPr>
              <a:t>ρ</a:t>
            </a:r>
            <a:r>
              <a:rPr lang="en-US" altLang="en-US" sz="1800" baseline="-25000">
                <a:cs typeface="Arial" panose="020B0604020202020204" pitchFamily="34" charset="0"/>
              </a:rPr>
              <a:t>site</a:t>
            </a:r>
            <a:endParaRPr lang="el-GR" altLang="en-US" sz="1800" i="1" baseline="-25000">
              <a:cs typeface="Arial" panose="020B0604020202020204" pitchFamily="34" charset="0"/>
            </a:endParaRPr>
          </a:p>
          <a:p>
            <a:pPr lvl="1">
              <a:lnSpc>
                <a:spcPct val="80000"/>
              </a:lnSpc>
            </a:pPr>
            <a:endParaRPr lang="en-US" altLang="en-US" sz="1800"/>
          </a:p>
        </p:txBody>
      </p:sp>
      <p:sp>
        <p:nvSpPr>
          <p:cNvPr id="2" name="Date Placeholder 3">
            <a:extLst>
              <a:ext uri="{FF2B5EF4-FFF2-40B4-BE49-F238E27FC236}">
                <a16:creationId xmlns:a16="http://schemas.microsoft.com/office/drawing/2014/main" id="{CDE4F18B-5BE2-6388-7237-C74AB4FBEA45}"/>
              </a:ext>
            </a:extLst>
          </p:cNvPr>
          <p:cNvSpPr>
            <a:spLocks noGrp="1"/>
          </p:cNvSpPr>
          <p:nvPr>
            <p:ph type="dt" sz="half" idx="10"/>
          </p:nvPr>
        </p:nvSpPr>
        <p:spPr/>
        <p:txBody>
          <a:bodyPr/>
          <a:lstStyle/>
          <a:p>
            <a:r>
              <a:rPr lang="en-US" altLang="en-US"/>
              <a:t>W. F. Schneider</a:t>
            </a:r>
          </a:p>
        </p:txBody>
      </p:sp>
      <p:sp>
        <p:nvSpPr>
          <p:cNvPr id="3" name="Footer Placeholder 4">
            <a:extLst>
              <a:ext uri="{FF2B5EF4-FFF2-40B4-BE49-F238E27FC236}">
                <a16:creationId xmlns:a16="http://schemas.microsoft.com/office/drawing/2014/main" id="{F61978D9-6260-05A8-D613-1944B7496BB6}"/>
              </a:ext>
            </a:extLst>
          </p:cNvPr>
          <p:cNvSpPr>
            <a:spLocks noGrp="1"/>
          </p:cNvSpPr>
          <p:nvPr>
            <p:ph type="ftr" sz="quarter" idx="11"/>
          </p:nvPr>
        </p:nvSpPr>
        <p:spPr/>
        <p:txBody>
          <a:bodyPr/>
          <a:lstStyle/>
          <a:p>
            <a:r>
              <a:rPr lang="en-US" altLang="en-US"/>
              <a:t>CBE 60546</a:t>
            </a:r>
          </a:p>
        </p:txBody>
      </p:sp>
      <p:pic>
        <p:nvPicPr>
          <p:cNvPr id="202756" name="Picture 4">
            <a:extLst>
              <a:ext uri="{FF2B5EF4-FFF2-40B4-BE49-F238E27FC236}">
                <a16:creationId xmlns:a16="http://schemas.microsoft.com/office/drawing/2014/main" id="{FA37D1EB-F4A2-61D6-60A9-2B927492F7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801" y="666751"/>
            <a:ext cx="1336675" cy="1336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2757" name="Text Box 5">
            <a:extLst>
              <a:ext uri="{FF2B5EF4-FFF2-40B4-BE49-F238E27FC236}">
                <a16:creationId xmlns:a16="http://schemas.microsoft.com/office/drawing/2014/main" id="{232F7251-9C1B-1610-48EC-88FCA8039C54}"/>
              </a:ext>
            </a:extLst>
          </p:cNvPr>
          <p:cNvSpPr txBox="1">
            <a:spLocks noChangeArrowheads="1"/>
          </p:cNvSpPr>
          <p:nvPr/>
        </p:nvSpPr>
        <p:spPr bwMode="auto">
          <a:xfrm>
            <a:off x="6781801" y="3562351"/>
            <a:ext cx="1941513" cy="835025"/>
          </a:xfrm>
          <a:prstGeom prst="rect">
            <a:avLst/>
          </a:prstGeom>
          <a:solidFill>
            <a:schemeClr val="bg1"/>
          </a:solidFill>
          <a:ln w="9525">
            <a:solidFill>
              <a:schemeClr val="tx1"/>
            </a:solidFill>
            <a:miter lim="800000"/>
            <a:headEnd/>
            <a:tailEnd/>
          </a:ln>
          <a:effectLst>
            <a:outerShdw dist="107763" dir="2700000" algn="ctr" rotWithShape="0">
              <a:schemeClr val="bg2">
                <a:alpha val="50000"/>
              </a:schemeClr>
            </a:outerShdw>
          </a:effectLst>
        </p:spPr>
        <p:txBody>
          <a:bodyPr wrap="none">
            <a:spAutoFit/>
          </a:bodyPr>
          <a:lstStyle/>
          <a:p>
            <a:pPr algn="r"/>
            <a:r>
              <a:rPr lang="en-US" altLang="en-US" sz="1600" i="1"/>
              <a:t>           </a:t>
            </a:r>
            <a:r>
              <a:rPr lang="en-US" altLang="en-US" sz="1600" i="1" u="sng"/>
              <a:t>TOF </a:t>
            </a:r>
            <a:r>
              <a:rPr lang="en-US" altLang="en-US" sz="1600" u="sng"/>
              <a:t>(s</a:t>
            </a:r>
            <a:r>
              <a:rPr lang="en-US" altLang="en-US" sz="1600" u="sng" baseline="30000">
                <a:cs typeface="Arial" panose="020B0604020202020204" pitchFamily="34" charset="0"/>
              </a:rPr>
              <a:t>−1</a:t>
            </a:r>
            <a:r>
              <a:rPr lang="en-US" altLang="en-US" sz="1600" u="sng">
                <a:cs typeface="Arial" panose="020B0604020202020204" pitchFamily="34" charset="0"/>
              </a:rPr>
              <a:t>)</a:t>
            </a:r>
          </a:p>
          <a:p>
            <a:pPr algn="r"/>
            <a:r>
              <a:rPr lang="en-US" altLang="en-US" sz="1600">
                <a:cs typeface="Arial" panose="020B0604020202020204" pitchFamily="34" charset="0"/>
              </a:rPr>
              <a:t>Hetero. cats.   ~10</a:t>
            </a:r>
            <a:r>
              <a:rPr lang="en-US" altLang="en-US" sz="1600" baseline="30000">
                <a:cs typeface="Arial" panose="020B0604020202020204" pitchFamily="34" charset="0"/>
              </a:rPr>
              <a:t>1</a:t>
            </a:r>
            <a:endParaRPr lang="en-US" altLang="en-US" sz="1600" i="1" baseline="30000">
              <a:cs typeface="Arial" panose="020B0604020202020204" pitchFamily="34" charset="0"/>
            </a:endParaRPr>
          </a:p>
          <a:p>
            <a:pPr algn="r"/>
            <a:r>
              <a:rPr lang="en-US" altLang="en-US" sz="1600"/>
              <a:t>Enzymes    ~10</a:t>
            </a:r>
            <a:r>
              <a:rPr lang="en-US" altLang="en-US" sz="1600" baseline="30000"/>
              <a:t>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D5B94-37C6-314B-D0EE-E3000761CCB3}"/>
              </a:ext>
            </a:extLst>
          </p:cNvPr>
          <p:cNvSpPr>
            <a:spLocks noGrp="1"/>
          </p:cNvSpPr>
          <p:nvPr>
            <p:ph type="title"/>
          </p:nvPr>
        </p:nvSpPr>
        <p:spPr/>
        <p:txBody>
          <a:bodyPr>
            <a:normAutofit fontScale="90000"/>
          </a:bodyPr>
          <a:lstStyle/>
          <a:p>
            <a:r>
              <a:rPr lang="en-US" dirty="0"/>
              <a:t>Surface Reaction Kinetics</a:t>
            </a:r>
          </a:p>
        </p:txBody>
      </p:sp>
      <p:sp>
        <p:nvSpPr>
          <p:cNvPr id="3" name="Content Placeholder 2">
            <a:extLst>
              <a:ext uri="{FF2B5EF4-FFF2-40B4-BE49-F238E27FC236}">
                <a16:creationId xmlns:a16="http://schemas.microsoft.com/office/drawing/2014/main" id="{A091D22C-935B-74FF-9447-2CFBF05E3C1D}"/>
              </a:ext>
            </a:extLst>
          </p:cNvPr>
          <p:cNvSpPr>
            <a:spLocks noGrp="1"/>
          </p:cNvSpPr>
          <p:nvPr>
            <p:ph idx="1"/>
          </p:nvPr>
        </p:nvSpPr>
        <p:spPr/>
        <p:txBody>
          <a:bodyPr/>
          <a:lstStyle/>
          <a:p>
            <a:r>
              <a:rPr lang="en-US" dirty="0"/>
              <a:t>Full kinetics</a:t>
            </a:r>
          </a:p>
          <a:p>
            <a:pPr lvl="1"/>
            <a:r>
              <a:rPr lang="en-US" dirty="0"/>
              <a:t>Site conservation</a:t>
            </a:r>
          </a:p>
          <a:p>
            <a:r>
              <a:rPr lang="en-US" dirty="0"/>
              <a:t>Langmuir-Hinshelwood kinetics</a:t>
            </a:r>
          </a:p>
          <a:p>
            <a:pPr lvl="1"/>
            <a:r>
              <a:rPr lang="en-US" dirty="0"/>
              <a:t>Steady-state approximation</a:t>
            </a:r>
          </a:p>
          <a:p>
            <a:pPr lvl="1"/>
            <a:r>
              <a:rPr lang="en-US" dirty="0"/>
              <a:t>Rate-limiting step approximation</a:t>
            </a:r>
          </a:p>
          <a:p>
            <a:pPr lvl="1"/>
            <a:r>
              <a:rPr lang="en-US" dirty="0"/>
              <a:t>Pre-equilibrium approximation</a:t>
            </a:r>
          </a:p>
        </p:txBody>
      </p:sp>
      <p:sp>
        <p:nvSpPr>
          <p:cNvPr id="4" name="Date Placeholder 3">
            <a:extLst>
              <a:ext uri="{FF2B5EF4-FFF2-40B4-BE49-F238E27FC236}">
                <a16:creationId xmlns:a16="http://schemas.microsoft.com/office/drawing/2014/main" id="{E45A97E3-A322-1C90-D369-09002D9E0C13}"/>
              </a:ext>
            </a:extLst>
          </p:cNvPr>
          <p:cNvSpPr>
            <a:spLocks noGrp="1"/>
          </p:cNvSpPr>
          <p:nvPr>
            <p:ph type="dt" sz="half" idx="10"/>
          </p:nvPr>
        </p:nvSpPr>
        <p:spPr/>
        <p:txBody>
          <a:bodyPr/>
          <a:lstStyle/>
          <a:p>
            <a:r>
              <a:rPr lang="en-US" altLang="en-US"/>
              <a:t>W. F. Schneider</a:t>
            </a:r>
          </a:p>
        </p:txBody>
      </p:sp>
      <p:sp>
        <p:nvSpPr>
          <p:cNvPr id="5" name="Footer Placeholder 4">
            <a:extLst>
              <a:ext uri="{FF2B5EF4-FFF2-40B4-BE49-F238E27FC236}">
                <a16:creationId xmlns:a16="http://schemas.microsoft.com/office/drawing/2014/main" id="{2F9C5B43-84CD-9C67-82A8-4C116440E498}"/>
              </a:ext>
            </a:extLst>
          </p:cNvPr>
          <p:cNvSpPr>
            <a:spLocks noGrp="1"/>
          </p:cNvSpPr>
          <p:nvPr>
            <p:ph type="ftr" sz="quarter" idx="11"/>
          </p:nvPr>
        </p:nvSpPr>
        <p:spPr/>
        <p:txBody>
          <a:bodyPr/>
          <a:lstStyle/>
          <a:p>
            <a:r>
              <a:rPr lang="en-US" altLang="en-US"/>
              <a:t>CBE 60546</a:t>
            </a:r>
          </a:p>
        </p:txBody>
      </p:sp>
    </p:spTree>
    <p:extLst>
      <p:ext uri="{BB962C8B-B14F-4D97-AF65-F5344CB8AC3E}">
        <p14:creationId xmlns:p14="http://schemas.microsoft.com/office/powerpoint/2010/main" val="8925589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27597-2383-6942-81AF-499A0128722D}"/>
              </a:ext>
            </a:extLst>
          </p:cNvPr>
          <p:cNvSpPr>
            <a:spLocks noGrp="1"/>
          </p:cNvSpPr>
          <p:nvPr>
            <p:ph type="title"/>
          </p:nvPr>
        </p:nvSpPr>
        <p:spPr/>
        <p:txBody>
          <a:bodyPr>
            <a:normAutofit fontScale="90000"/>
          </a:bodyPr>
          <a:lstStyle/>
          <a:p>
            <a:r>
              <a:rPr lang="en-US" dirty="0"/>
              <a:t>NH3 Oxidation</a:t>
            </a:r>
          </a:p>
        </p:txBody>
      </p:sp>
      <p:sp>
        <p:nvSpPr>
          <p:cNvPr id="5" name="Footer Placeholder 4">
            <a:extLst>
              <a:ext uri="{FF2B5EF4-FFF2-40B4-BE49-F238E27FC236}">
                <a16:creationId xmlns:a16="http://schemas.microsoft.com/office/drawing/2014/main" id="{A49E2917-E788-4F4B-BE50-89A721C5FFEC}"/>
              </a:ext>
            </a:extLst>
          </p:cNvPr>
          <p:cNvSpPr>
            <a:spLocks noGrp="1"/>
          </p:cNvSpPr>
          <p:nvPr>
            <p:ph type="ftr" sz="quarter" idx="11"/>
          </p:nvPr>
        </p:nvSpPr>
        <p:spPr/>
        <p:txBody>
          <a:bodyPr/>
          <a:lstStyle/>
          <a:p>
            <a:pPr>
              <a:defRPr/>
            </a:pPr>
            <a:r>
              <a:rPr lang="de-DE"/>
              <a:t>CBE 60546</a:t>
            </a:r>
            <a:endParaRPr lang="en-US"/>
          </a:p>
        </p:txBody>
      </p:sp>
      <p:pic>
        <p:nvPicPr>
          <p:cNvPr id="14" name="Picture 13">
            <a:extLst>
              <a:ext uri="{FF2B5EF4-FFF2-40B4-BE49-F238E27FC236}">
                <a16:creationId xmlns:a16="http://schemas.microsoft.com/office/drawing/2014/main" id="{2A2A57F5-F013-1F40-AA61-C15CB2F777B3}"/>
              </a:ext>
            </a:extLst>
          </p:cNvPr>
          <p:cNvPicPr>
            <a:picLocks noChangeAspect="1"/>
          </p:cNvPicPr>
          <p:nvPr/>
        </p:nvPicPr>
        <p:blipFill>
          <a:blip r:embed="rId3"/>
          <a:stretch>
            <a:fillRect/>
          </a:stretch>
        </p:blipFill>
        <p:spPr>
          <a:xfrm>
            <a:off x="457201" y="1019994"/>
            <a:ext cx="2151982" cy="1452587"/>
          </a:xfrm>
          <a:prstGeom prst="rect">
            <a:avLst/>
          </a:prstGeom>
        </p:spPr>
      </p:pic>
      <p:pic>
        <p:nvPicPr>
          <p:cNvPr id="16" name="Picture 15">
            <a:extLst>
              <a:ext uri="{FF2B5EF4-FFF2-40B4-BE49-F238E27FC236}">
                <a16:creationId xmlns:a16="http://schemas.microsoft.com/office/drawing/2014/main" id="{3867555B-1B45-B34C-AEC9-7E4AAF910E3A}"/>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2895600" y="1266149"/>
            <a:ext cx="668633" cy="890497"/>
          </a:xfrm>
          <a:prstGeom prst="rect">
            <a:avLst/>
          </a:prstGeom>
        </p:spPr>
      </p:pic>
      <p:sp>
        <p:nvSpPr>
          <p:cNvPr id="17" name="TextBox 16">
            <a:extLst>
              <a:ext uri="{FF2B5EF4-FFF2-40B4-BE49-F238E27FC236}">
                <a16:creationId xmlns:a16="http://schemas.microsoft.com/office/drawing/2014/main" id="{7D9AD24B-BF7D-0A4F-8D01-EAEB0D555235}"/>
              </a:ext>
            </a:extLst>
          </p:cNvPr>
          <p:cNvSpPr txBox="1"/>
          <p:nvPr/>
        </p:nvSpPr>
        <p:spPr>
          <a:xfrm>
            <a:off x="1295400" y="2503189"/>
            <a:ext cx="1847109" cy="461665"/>
          </a:xfrm>
          <a:prstGeom prst="rect">
            <a:avLst/>
          </a:prstGeom>
          <a:noFill/>
        </p:spPr>
        <p:txBody>
          <a:bodyPr wrap="none" rtlCol="0">
            <a:spAutoFit/>
          </a:bodyPr>
          <a:lstStyle/>
          <a:p>
            <a:r>
              <a:rPr lang="en-US" sz="1200" dirty="0">
                <a:latin typeface="Corbel" panose="020B0503020204020204" pitchFamily="34" charset="0"/>
              </a:rPr>
              <a:t>Friedrich Wilhelm Ostwald</a:t>
            </a:r>
          </a:p>
          <a:p>
            <a:r>
              <a:rPr lang="en-US" sz="1200" dirty="0">
                <a:latin typeface="Corbel" panose="020B0503020204020204" pitchFamily="34" charset="0"/>
              </a:rPr>
              <a:t>1908 Nobel Prize</a:t>
            </a:r>
          </a:p>
        </p:txBody>
      </p:sp>
      <p:pic>
        <p:nvPicPr>
          <p:cNvPr id="22" name="Picture 21">
            <a:extLst>
              <a:ext uri="{FF2B5EF4-FFF2-40B4-BE49-F238E27FC236}">
                <a16:creationId xmlns:a16="http://schemas.microsoft.com/office/drawing/2014/main" id="{D40E026D-0725-5444-88B9-BBDD261C39FE}"/>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533400" y="3051596"/>
            <a:ext cx="3189710" cy="1501354"/>
          </a:xfrm>
          <a:prstGeom prst="rect">
            <a:avLst/>
          </a:prstGeom>
        </p:spPr>
      </p:pic>
      <p:sp>
        <p:nvSpPr>
          <p:cNvPr id="3" name="TextBox 2">
            <a:extLst>
              <a:ext uri="{FF2B5EF4-FFF2-40B4-BE49-F238E27FC236}">
                <a16:creationId xmlns:a16="http://schemas.microsoft.com/office/drawing/2014/main" id="{15DA6832-C9C8-5914-288C-5B2EBB1B0FCC}"/>
              </a:ext>
            </a:extLst>
          </p:cNvPr>
          <p:cNvSpPr txBox="1"/>
          <p:nvPr/>
        </p:nvSpPr>
        <p:spPr>
          <a:xfrm>
            <a:off x="624129" y="3051596"/>
            <a:ext cx="1818126" cy="307777"/>
          </a:xfrm>
          <a:prstGeom prst="rect">
            <a:avLst/>
          </a:prstGeom>
          <a:solidFill>
            <a:schemeClr val="bg1"/>
          </a:solidFill>
        </p:spPr>
        <p:txBody>
          <a:bodyPr wrap="none" rtlCol="0">
            <a:spAutoFit/>
          </a:bodyPr>
          <a:lstStyle/>
          <a:p>
            <a:r>
              <a:rPr lang="en-US" sz="1400" dirty="0">
                <a:latin typeface="Corbel" panose="020B0503020204020204" pitchFamily="34" charset="0"/>
              </a:rPr>
              <a:t>Ammonia slip catalyst</a:t>
            </a:r>
          </a:p>
        </p:txBody>
      </p:sp>
      <p:pic>
        <p:nvPicPr>
          <p:cNvPr id="9" name="Content Placeholder 5">
            <a:extLst>
              <a:ext uri="{FF2B5EF4-FFF2-40B4-BE49-F238E27FC236}">
                <a16:creationId xmlns:a16="http://schemas.microsoft.com/office/drawing/2014/main" id="{47495922-686F-8E89-390B-EA0F8F75C54D}"/>
              </a:ext>
            </a:extLst>
          </p:cNvPr>
          <p:cNvPicPr>
            <a:picLocks noGrp="1" noChangeAspect="1"/>
          </p:cNvPicPr>
          <p:nvPr>
            <p:ph idx="1"/>
          </p:nvPr>
        </p:nvPicPr>
        <p:blipFill>
          <a:blip r:embed="rId6"/>
          <a:stretch>
            <a:fillRect/>
          </a:stretch>
        </p:blipFill>
        <p:spPr>
          <a:xfrm>
            <a:off x="4114800" y="1184869"/>
            <a:ext cx="4260282" cy="2999981"/>
          </a:xfrm>
          <a:prstGeom prst="rect">
            <a:avLst/>
          </a:prstGeom>
        </p:spPr>
      </p:pic>
      <p:sp>
        <p:nvSpPr>
          <p:cNvPr id="4" name="Date Placeholder 3">
            <a:extLst>
              <a:ext uri="{FF2B5EF4-FFF2-40B4-BE49-F238E27FC236}">
                <a16:creationId xmlns:a16="http://schemas.microsoft.com/office/drawing/2014/main" id="{03C593AE-17B7-FA3B-D258-9E590DA3C857}"/>
              </a:ext>
            </a:extLst>
          </p:cNvPr>
          <p:cNvSpPr>
            <a:spLocks noGrp="1"/>
          </p:cNvSpPr>
          <p:nvPr>
            <p:ph type="dt" sz="half" idx="10"/>
          </p:nvPr>
        </p:nvSpPr>
        <p:spPr/>
        <p:txBody>
          <a:bodyPr/>
          <a:lstStyle/>
          <a:p>
            <a:r>
              <a:rPr lang="en-US" altLang="en-US"/>
              <a:t>W. F. Schneider</a:t>
            </a:r>
          </a:p>
        </p:txBody>
      </p:sp>
    </p:spTree>
    <p:extLst>
      <p:ext uri="{BB962C8B-B14F-4D97-AF65-F5344CB8AC3E}">
        <p14:creationId xmlns:p14="http://schemas.microsoft.com/office/powerpoint/2010/main" val="2037079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7B64BCF-BD54-0B4A-8E59-2AF15AB49DA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7150" y="1291969"/>
            <a:ext cx="6000750" cy="2803460"/>
          </a:xfrm>
          <a:prstGeom prst="rect">
            <a:avLst/>
          </a:prstGeom>
        </p:spPr>
      </p:pic>
      <p:grpSp>
        <p:nvGrpSpPr>
          <p:cNvPr id="29" name="Group 28">
            <a:extLst>
              <a:ext uri="{FF2B5EF4-FFF2-40B4-BE49-F238E27FC236}">
                <a16:creationId xmlns:a16="http://schemas.microsoft.com/office/drawing/2014/main" id="{28EA76D5-7E59-DA48-A5A9-DE064DDF9AAC}"/>
              </a:ext>
            </a:extLst>
          </p:cNvPr>
          <p:cNvGrpSpPr/>
          <p:nvPr/>
        </p:nvGrpSpPr>
        <p:grpSpPr>
          <a:xfrm>
            <a:off x="6435511" y="1280746"/>
            <a:ext cx="936839" cy="3126353"/>
            <a:chOff x="8378363" y="2120351"/>
            <a:chExt cx="1249118" cy="4168471"/>
          </a:xfrm>
        </p:grpSpPr>
        <p:grpSp>
          <p:nvGrpSpPr>
            <p:cNvPr id="6" name="Group 5">
              <a:extLst>
                <a:ext uri="{FF2B5EF4-FFF2-40B4-BE49-F238E27FC236}">
                  <a16:creationId xmlns:a16="http://schemas.microsoft.com/office/drawing/2014/main" id="{150CDE2E-8E24-4648-8BA1-960C18E3DF88}"/>
                </a:ext>
              </a:extLst>
            </p:cNvPr>
            <p:cNvGrpSpPr/>
            <p:nvPr/>
          </p:nvGrpSpPr>
          <p:grpSpPr>
            <a:xfrm>
              <a:off x="8382000" y="2120351"/>
              <a:ext cx="1234019" cy="1243212"/>
              <a:chOff x="2708253" y="6301375"/>
              <a:chExt cx="1845746" cy="1859497"/>
            </a:xfrm>
          </p:grpSpPr>
          <p:pic>
            <p:nvPicPr>
              <p:cNvPr id="7" name="Picture 6">
                <a:extLst>
                  <a:ext uri="{FF2B5EF4-FFF2-40B4-BE49-F238E27FC236}">
                    <a16:creationId xmlns:a16="http://schemas.microsoft.com/office/drawing/2014/main" id="{6231AD37-EA32-1A4D-9968-57D1FC172E0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708253" y="6905279"/>
                <a:ext cx="1828800" cy="1255593"/>
              </a:xfrm>
              <a:prstGeom prst="rect">
                <a:avLst/>
              </a:prstGeom>
            </p:spPr>
          </p:pic>
          <p:sp>
            <p:nvSpPr>
              <p:cNvPr id="9" name="TextBox 8">
                <a:extLst>
                  <a:ext uri="{FF2B5EF4-FFF2-40B4-BE49-F238E27FC236}">
                    <a16:creationId xmlns:a16="http://schemas.microsoft.com/office/drawing/2014/main" id="{0CFBC29C-5E5E-7749-8A69-0B475A029007}"/>
                  </a:ext>
                </a:extLst>
              </p:cNvPr>
              <p:cNvSpPr txBox="1"/>
              <p:nvPr/>
            </p:nvSpPr>
            <p:spPr>
              <a:xfrm>
                <a:off x="2708255" y="6301375"/>
                <a:ext cx="1845744" cy="644486"/>
              </a:xfrm>
              <a:prstGeom prst="rect">
                <a:avLst/>
              </a:prstGeom>
              <a:noFill/>
            </p:spPr>
            <p:txBody>
              <a:bodyPr wrap="square" rtlCol="0">
                <a:spAutoFit/>
              </a:bodyPr>
              <a:lstStyle/>
              <a:p>
                <a:pPr algn="ctr"/>
                <a:r>
                  <a:rPr lang="en-US" sz="1500" dirty="0">
                    <a:latin typeface="Corbel" panose="020B0503020204020204" pitchFamily="34" charset="0"/>
                    <a:cs typeface="Arial" panose="020B0604020202020204" pitchFamily="34" charset="0"/>
                  </a:rPr>
                  <a:t>N-N*</a:t>
                </a:r>
              </a:p>
            </p:txBody>
          </p:sp>
        </p:grpSp>
        <p:grpSp>
          <p:nvGrpSpPr>
            <p:cNvPr id="10" name="Group 9">
              <a:extLst>
                <a:ext uri="{FF2B5EF4-FFF2-40B4-BE49-F238E27FC236}">
                  <a16:creationId xmlns:a16="http://schemas.microsoft.com/office/drawing/2014/main" id="{0C226F2E-9541-6B44-BCFD-EEEC8A64041D}"/>
                </a:ext>
              </a:extLst>
            </p:cNvPr>
            <p:cNvGrpSpPr/>
            <p:nvPr/>
          </p:nvGrpSpPr>
          <p:grpSpPr>
            <a:xfrm>
              <a:off x="8382131" y="3568151"/>
              <a:ext cx="1245349" cy="1262932"/>
              <a:chOff x="6803262" y="6496677"/>
              <a:chExt cx="1862692" cy="1888991"/>
            </a:xfrm>
          </p:grpSpPr>
          <p:pic>
            <p:nvPicPr>
              <p:cNvPr id="11" name="Picture 10">
                <a:extLst>
                  <a:ext uri="{FF2B5EF4-FFF2-40B4-BE49-F238E27FC236}">
                    <a16:creationId xmlns:a16="http://schemas.microsoft.com/office/drawing/2014/main" id="{10AC8D43-DCDE-EF47-B760-DE8288BC5E1E}"/>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6803262" y="7197802"/>
                <a:ext cx="1828800" cy="1187866"/>
              </a:xfrm>
              <a:prstGeom prst="rect">
                <a:avLst/>
              </a:prstGeom>
            </p:spPr>
          </p:pic>
          <p:sp>
            <p:nvSpPr>
              <p:cNvPr id="13" name="TextBox 12">
                <a:extLst>
                  <a:ext uri="{FF2B5EF4-FFF2-40B4-BE49-F238E27FC236}">
                    <a16:creationId xmlns:a16="http://schemas.microsoft.com/office/drawing/2014/main" id="{8D902855-5E3C-E042-A610-B9FF45D6E813}"/>
                  </a:ext>
                </a:extLst>
              </p:cNvPr>
              <p:cNvSpPr txBox="1"/>
              <p:nvPr/>
            </p:nvSpPr>
            <p:spPr>
              <a:xfrm>
                <a:off x="6820207" y="6496677"/>
                <a:ext cx="1845747" cy="644485"/>
              </a:xfrm>
              <a:prstGeom prst="rect">
                <a:avLst/>
              </a:prstGeom>
              <a:noFill/>
            </p:spPr>
            <p:txBody>
              <a:bodyPr wrap="square" rtlCol="0">
                <a:spAutoFit/>
              </a:bodyPr>
              <a:lstStyle/>
              <a:p>
                <a:pPr algn="ctr"/>
                <a:r>
                  <a:rPr lang="en-US" sz="1500" dirty="0">
                    <a:latin typeface="Corbel" panose="020B0503020204020204" pitchFamily="34" charset="0"/>
                    <a:cs typeface="Arial" panose="020B0604020202020204" pitchFamily="34" charset="0"/>
                  </a:rPr>
                  <a:t>N-O*</a:t>
                </a:r>
              </a:p>
            </p:txBody>
          </p:sp>
        </p:grpSp>
        <p:grpSp>
          <p:nvGrpSpPr>
            <p:cNvPr id="14" name="Group 13">
              <a:extLst>
                <a:ext uri="{FF2B5EF4-FFF2-40B4-BE49-F238E27FC236}">
                  <a16:creationId xmlns:a16="http://schemas.microsoft.com/office/drawing/2014/main" id="{76889F5B-A750-1A46-8B78-7825B7CB1E9C}"/>
                </a:ext>
              </a:extLst>
            </p:cNvPr>
            <p:cNvGrpSpPr/>
            <p:nvPr/>
          </p:nvGrpSpPr>
          <p:grpSpPr>
            <a:xfrm>
              <a:off x="8378363" y="4898403"/>
              <a:ext cx="1249118" cy="1390419"/>
              <a:chOff x="2698728" y="8442130"/>
              <a:chExt cx="1868329" cy="2079678"/>
            </a:xfrm>
          </p:grpSpPr>
          <p:pic>
            <p:nvPicPr>
              <p:cNvPr id="15" name="Picture 14">
                <a:extLst>
                  <a:ext uri="{FF2B5EF4-FFF2-40B4-BE49-F238E27FC236}">
                    <a16:creationId xmlns:a16="http://schemas.microsoft.com/office/drawing/2014/main" id="{CD858396-F781-A44C-A162-FBFCB9C0BDFD}"/>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2698728" y="9012343"/>
                <a:ext cx="1828800" cy="1509465"/>
              </a:xfrm>
              <a:prstGeom prst="rect">
                <a:avLst/>
              </a:prstGeom>
            </p:spPr>
          </p:pic>
          <p:sp>
            <p:nvSpPr>
              <p:cNvPr id="17" name="TextBox 16">
                <a:extLst>
                  <a:ext uri="{FF2B5EF4-FFF2-40B4-BE49-F238E27FC236}">
                    <a16:creationId xmlns:a16="http://schemas.microsoft.com/office/drawing/2014/main" id="{A2840B44-53A3-9047-AE53-FE8D7E7474A4}"/>
                  </a:ext>
                </a:extLst>
              </p:cNvPr>
              <p:cNvSpPr txBox="1"/>
              <p:nvPr/>
            </p:nvSpPr>
            <p:spPr>
              <a:xfrm>
                <a:off x="2721309" y="8442130"/>
                <a:ext cx="1845748" cy="644486"/>
              </a:xfrm>
              <a:prstGeom prst="rect">
                <a:avLst/>
              </a:prstGeom>
              <a:noFill/>
            </p:spPr>
            <p:txBody>
              <a:bodyPr wrap="square" rtlCol="0">
                <a:spAutoFit/>
              </a:bodyPr>
              <a:lstStyle/>
              <a:p>
                <a:pPr algn="ctr"/>
                <a:r>
                  <a:rPr lang="en-US" sz="1500" dirty="0">
                    <a:latin typeface="Corbel" panose="020B0503020204020204" pitchFamily="34" charset="0"/>
                    <a:cs typeface="Arial" panose="020B0604020202020204" pitchFamily="34" charset="0"/>
                  </a:rPr>
                  <a:t>N-NO*</a:t>
                </a:r>
              </a:p>
            </p:txBody>
          </p:sp>
        </p:grpSp>
      </p:grpSp>
      <p:grpSp>
        <p:nvGrpSpPr>
          <p:cNvPr id="4" name="Group 3">
            <a:extLst>
              <a:ext uri="{FF2B5EF4-FFF2-40B4-BE49-F238E27FC236}">
                <a16:creationId xmlns:a16="http://schemas.microsoft.com/office/drawing/2014/main" id="{6CE9D6B0-804F-A64A-92D0-B70D79CEF2C8}"/>
              </a:ext>
            </a:extLst>
          </p:cNvPr>
          <p:cNvGrpSpPr/>
          <p:nvPr/>
        </p:nvGrpSpPr>
        <p:grpSpPr>
          <a:xfrm>
            <a:off x="7909498" y="1280746"/>
            <a:ext cx="940559" cy="3157583"/>
            <a:chOff x="13784998" y="2366363"/>
            <a:chExt cx="1254079" cy="4210110"/>
          </a:xfrm>
        </p:grpSpPr>
        <p:sp>
          <p:nvSpPr>
            <p:cNvPr id="19" name="TextBox 18">
              <a:extLst>
                <a:ext uri="{FF2B5EF4-FFF2-40B4-BE49-F238E27FC236}">
                  <a16:creationId xmlns:a16="http://schemas.microsoft.com/office/drawing/2014/main" id="{24608332-4044-F64C-ACD8-E1F002C3714D}"/>
                </a:ext>
              </a:extLst>
            </p:cNvPr>
            <p:cNvSpPr txBox="1"/>
            <p:nvPr/>
          </p:nvSpPr>
          <p:spPr>
            <a:xfrm>
              <a:off x="13794581" y="2366363"/>
              <a:ext cx="1234019" cy="430887"/>
            </a:xfrm>
            <a:prstGeom prst="rect">
              <a:avLst/>
            </a:prstGeom>
            <a:noFill/>
          </p:spPr>
          <p:txBody>
            <a:bodyPr wrap="square" rtlCol="0">
              <a:spAutoFit/>
            </a:bodyPr>
            <a:lstStyle/>
            <a:p>
              <a:pPr algn="ctr"/>
              <a:r>
                <a:rPr lang="en-US" sz="1500" dirty="0">
                  <a:latin typeface="Corbel" panose="020B0503020204020204" pitchFamily="34" charset="0"/>
                  <a:cs typeface="Arial" panose="020B0604020202020204" pitchFamily="34" charset="0"/>
                </a:rPr>
                <a:t>N-N* </a:t>
              </a:r>
            </a:p>
          </p:txBody>
        </p:sp>
        <p:pic>
          <p:nvPicPr>
            <p:cNvPr id="20" name="Picture 19">
              <a:extLst>
                <a:ext uri="{FF2B5EF4-FFF2-40B4-BE49-F238E27FC236}">
                  <a16:creationId xmlns:a16="http://schemas.microsoft.com/office/drawing/2014/main" id="{F85BAF16-869A-7B4D-BE60-35B68A9C8B62}"/>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13785806" y="2826861"/>
              <a:ext cx="1222689" cy="832559"/>
            </a:xfrm>
            <a:prstGeom prst="rect">
              <a:avLst/>
            </a:prstGeom>
          </p:spPr>
        </p:pic>
        <p:pic>
          <p:nvPicPr>
            <p:cNvPr id="22" name="Picture 21">
              <a:extLst>
                <a:ext uri="{FF2B5EF4-FFF2-40B4-BE49-F238E27FC236}">
                  <a16:creationId xmlns:a16="http://schemas.microsoft.com/office/drawing/2014/main" id="{FB9B7054-E360-8C49-9BAE-3D3AD0A6BE89}"/>
                </a:ext>
              </a:extLst>
            </p:cNvPr>
            <p:cNvPicPr>
              <a:picLocks noChangeAspect="1"/>
            </p:cNvPicPr>
            <p:nvPr/>
          </p:nvPicPr>
          <p:blipFill rotWithShape="1">
            <a:blip r:embed="rId8" cstate="print">
              <a:extLst>
                <a:ext uri="{28A0092B-C50C-407E-A947-70E740481C1C}">
                  <a14:useLocalDpi xmlns:a14="http://schemas.microsoft.com/office/drawing/2010/main"/>
                </a:ext>
              </a:extLst>
            </a:blip>
            <a:srcRect/>
            <a:stretch/>
          </p:blipFill>
          <p:spPr>
            <a:xfrm>
              <a:off x="13800246" y="4213604"/>
              <a:ext cx="1222689" cy="906555"/>
            </a:xfrm>
            <a:prstGeom prst="rect">
              <a:avLst/>
            </a:prstGeom>
          </p:spPr>
        </p:pic>
        <p:sp>
          <p:nvSpPr>
            <p:cNvPr id="23" name="TextBox 22">
              <a:extLst>
                <a:ext uri="{FF2B5EF4-FFF2-40B4-BE49-F238E27FC236}">
                  <a16:creationId xmlns:a16="http://schemas.microsoft.com/office/drawing/2014/main" id="{0FB1D9E4-7739-5145-AA40-AED179259DAD}"/>
                </a:ext>
              </a:extLst>
            </p:cNvPr>
            <p:cNvSpPr txBox="1"/>
            <p:nvPr/>
          </p:nvSpPr>
          <p:spPr>
            <a:xfrm>
              <a:off x="13800751" y="3814163"/>
              <a:ext cx="1234019" cy="430887"/>
            </a:xfrm>
            <a:prstGeom prst="rect">
              <a:avLst/>
            </a:prstGeom>
            <a:noFill/>
          </p:spPr>
          <p:txBody>
            <a:bodyPr wrap="square" rtlCol="0">
              <a:spAutoFit/>
            </a:bodyPr>
            <a:lstStyle/>
            <a:p>
              <a:pPr algn="ctr"/>
              <a:r>
                <a:rPr lang="en-US" sz="1500" dirty="0">
                  <a:latin typeface="Corbel" panose="020B0503020204020204" pitchFamily="34" charset="0"/>
                  <a:cs typeface="Arial" panose="020B0604020202020204" pitchFamily="34" charset="0"/>
                </a:rPr>
                <a:t>N-O* </a:t>
              </a:r>
            </a:p>
          </p:txBody>
        </p:sp>
        <p:pic>
          <p:nvPicPr>
            <p:cNvPr id="24" name="Picture 23">
              <a:extLst>
                <a:ext uri="{FF2B5EF4-FFF2-40B4-BE49-F238E27FC236}">
                  <a16:creationId xmlns:a16="http://schemas.microsoft.com/office/drawing/2014/main" id="{0469CE65-EB82-9B4C-BCD6-39318D543B43}"/>
                </a:ext>
              </a:extLst>
            </p:cNvPr>
            <p:cNvPicPr>
              <a:picLocks noChangeAspect="1"/>
            </p:cNvPicPr>
            <p:nvPr/>
          </p:nvPicPr>
          <p:blipFill rotWithShape="1">
            <a:blip r:embed="rId9" cstate="print">
              <a:extLst>
                <a:ext uri="{28A0092B-C50C-407E-A947-70E740481C1C}">
                  <a14:useLocalDpi xmlns:a14="http://schemas.microsoft.com/office/drawing/2010/main"/>
                </a:ext>
              </a:extLst>
            </a:blip>
            <a:srcRect/>
            <a:stretch/>
          </p:blipFill>
          <p:spPr>
            <a:xfrm>
              <a:off x="13784998" y="5484398"/>
              <a:ext cx="1222689" cy="1092075"/>
            </a:xfrm>
            <a:prstGeom prst="rect">
              <a:avLst/>
            </a:prstGeom>
          </p:spPr>
        </p:pic>
        <p:sp>
          <p:nvSpPr>
            <p:cNvPr id="26" name="TextBox 25">
              <a:extLst>
                <a:ext uri="{FF2B5EF4-FFF2-40B4-BE49-F238E27FC236}">
                  <a16:creationId xmlns:a16="http://schemas.microsoft.com/office/drawing/2014/main" id="{F8036B66-8635-064F-8B8A-4043E6C0B198}"/>
                </a:ext>
              </a:extLst>
            </p:cNvPr>
            <p:cNvSpPr txBox="1"/>
            <p:nvPr/>
          </p:nvSpPr>
          <p:spPr>
            <a:xfrm>
              <a:off x="13805058" y="5128673"/>
              <a:ext cx="1234019" cy="430887"/>
            </a:xfrm>
            <a:prstGeom prst="rect">
              <a:avLst/>
            </a:prstGeom>
            <a:noFill/>
          </p:spPr>
          <p:txBody>
            <a:bodyPr wrap="square" rtlCol="0">
              <a:spAutoFit/>
            </a:bodyPr>
            <a:lstStyle/>
            <a:p>
              <a:pPr algn="ctr"/>
              <a:r>
                <a:rPr lang="en-US" sz="1500" dirty="0">
                  <a:latin typeface="Corbel" panose="020B0503020204020204" pitchFamily="34" charset="0"/>
                  <a:cs typeface="Arial" panose="020B0604020202020204" pitchFamily="34" charset="0"/>
                </a:rPr>
                <a:t>N-NO* </a:t>
              </a:r>
            </a:p>
          </p:txBody>
        </p:sp>
      </p:grpSp>
      <p:sp>
        <p:nvSpPr>
          <p:cNvPr id="27" name="TextBox 26">
            <a:extLst>
              <a:ext uri="{FF2B5EF4-FFF2-40B4-BE49-F238E27FC236}">
                <a16:creationId xmlns:a16="http://schemas.microsoft.com/office/drawing/2014/main" id="{F998A78F-3D43-F14A-BEDE-9EB32B1E259F}"/>
              </a:ext>
            </a:extLst>
          </p:cNvPr>
          <p:cNvSpPr txBox="1"/>
          <p:nvPr/>
        </p:nvSpPr>
        <p:spPr>
          <a:xfrm>
            <a:off x="6304684" y="895350"/>
            <a:ext cx="1181966" cy="369332"/>
          </a:xfrm>
          <a:prstGeom prst="rect">
            <a:avLst/>
          </a:prstGeom>
          <a:solidFill>
            <a:schemeClr val="accent1">
              <a:lumMod val="20000"/>
              <a:lumOff val="80000"/>
            </a:schemeClr>
          </a:solidFill>
        </p:spPr>
        <p:txBody>
          <a:bodyPr wrap="square" rtlCol="0">
            <a:spAutoFit/>
          </a:bodyPr>
          <a:lstStyle/>
          <a:p>
            <a:pPr algn="ctr"/>
            <a:r>
              <a:rPr lang="en-US" sz="1800" i="1" dirty="0" err="1">
                <a:latin typeface="Corbel" panose="020B0503020204020204" pitchFamily="34" charset="0"/>
                <a:cs typeface="Arial" panose="020B0604020202020204" pitchFamily="34" charset="0"/>
              </a:rPr>
              <a:t>E</a:t>
            </a:r>
            <a:r>
              <a:rPr lang="en-US" sz="1800" baseline="-25000" dirty="0" err="1">
                <a:latin typeface="Corbel" panose="020B0503020204020204" pitchFamily="34" charset="0"/>
                <a:cs typeface="Arial" panose="020B0604020202020204" pitchFamily="34" charset="0"/>
              </a:rPr>
              <a:t>a</a:t>
            </a:r>
            <a:r>
              <a:rPr lang="en-US" sz="1800" baseline="-25000" dirty="0">
                <a:latin typeface="Corbel" panose="020B0503020204020204" pitchFamily="34" charset="0"/>
                <a:cs typeface="Arial" panose="020B0604020202020204" pitchFamily="34" charset="0"/>
              </a:rPr>
              <a:t>,(211)</a:t>
            </a:r>
          </a:p>
        </p:txBody>
      </p:sp>
      <p:sp>
        <p:nvSpPr>
          <p:cNvPr id="30" name="TextBox 29">
            <a:extLst>
              <a:ext uri="{FF2B5EF4-FFF2-40B4-BE49-F238E27FC236}">
                <a16:creationId xmlns:a16="http://schemas.microsoft.com/office/drawing/2014/main" id="{1E0658DA-8DEB-7D44-9370-F8386FCC5591}"/>
              </a:ext>
            </a:extLst>
          </p:cNvPr>
          <p:cNvSpPr txBox="1"/>
          <p:nvPr/>
        </p:nvSpPr>
        <p:spPr>
          <a:xfrm>
            <a:off x="7790584" y="895350"/>
            <a:ext cx="1181966" cy="369332"/>
          </a:xfrm>
          <a:prstGeom prst="rect">
            <a:avLst/>
          </a:prstGeom>
          <a:solidFill>
            <a:schemeClr val="accent1">
              <a:lumMod val="20000"/>
              <a:lumOff val="80000"/>
            </a:schemeClr>
          </a:solidFill>
        </p:spPr>
        <p:txBody>
          <a:bodyPr wrap="square" rtlCol="0">
            <a:spAutoFit/>
          </a:bodyPr>
          <a:lstStyle/>
          <a:p>
            <a:pPr algn="ctr"/>
            <a:r>
              <a:rPr lang="en-US" sz="1800" i="1" dirty="0" err="1">
                <a:latin typeface="Corbel" panose="020B0503020204020204" pitchFamily="34" charset="0"/>
                <a:cs typeface="Arial" panose="020B0604020202020204" pitchFamily="34" charset="0"/>
              </a:rPr>
              <a:t>E</a:t>
            </a:r>
            <a:r>
              <a:rPr lang="en-US" sz="1800" baseline="-25000" dirty="0" err="1">
                <a:latin typeface="Corbel" panose="020B0503020204020204" pitchFamily="34" charset="0"/>
                <a:cs typeface="Arial" panose="020B0604020202020204" pitchFamily="34" charset="0"/>
              </a:rPr>
              <a:t>a</a:t>
            </a:r>
            <a:r>
              <a:rPr lang="en-US" sz="1800" baseline="-25000" dirty="0">
                <a:latin typeface="Corbel" panose="020B0503020204020204" pitchFamily="34" charset="0"/>
                <a:cs typeface="Arial" panose="020B0604020202020204" pitchFamily="34" charset="0"/>
              </a:rPr>
              <a:t>,(111)</a:t>
            </a:r>
          </a:p>
        </p:txBody>
      </p:sp>
      <p:sp>
        <p:nvSpPr>
          <p:cNvPr id="32" name="TextBox 31">
            <a:extLst>
              <a:ext uri="{FF2B5EF4-FFF2-40B4-BE49-F238E27FC236}">
                <a16:creationId xmlns:a16="http://schemas.microsoft.com/office/drawing/2014/main" id="{EF948076-37EA-0942-A16E-7D893BD4F094}"/>
              </a:ext>
            </a:extLst>
          </p:cNvPr>
          <p:cNvSpPr txBox="1"/>
          <p:nvPr/>
        </p:nvSpPr>
        <p:spPr>
          <a:xfrm>
            <a:off x="7200900" y="1805033"/>
            <a:ext cx="925514" cy="323165"/>
          </a:xfrm>
          <a:prstGeom prst="rect">
            <a:avLst/>
          </a:prstGeom>
          <a:noFill/>
        </p:spPr>
        <p:txBody>
          <a:bodyPr wrap="square" rtlCol="0">
            <a:spAutoFit/>
          </a:bodyPr>
          <a:lstStyle/>
          <a:p>
            <a:pPr algn="ctr"/>
            <a:r>
              <a:rPr lang="en-US" sz="1500" dirty="0">
                <a:latin typeface="Corbel" panose="020B0503020204020204" pitchFamily="34" charset="0"/>
                <a:cs typeface="Arial" panose="020B0604020202020204" pitchFamily="34" charset="0"/>
              </a:rPr>
              <a:t>&lt;&lt;</a:t>
            </a:r>
          </a:p>
        </p:txBody>
      </p:sp>
      <p:sp>
        <p:nvSpPr>
          <p:cNvPr id="33" name="TextBox 32">
            <a:extLst>
              <a:ext uri="{FF2B5EF4-FFF2-40B4-BE49-F238E27FC236}">
                <a16:creationId xmlns:a16="http://schemas.microsoft.com/office/drawing/2014/main" id="{B5669D19-331C-1845-9E62-74B083D1F099}"/>
              </a:ext>
            </a:extLst>
          </p:cNvPr>
          <p:cNvSpPr txBox="1"/>
          <p:nvPr/>
        </p:nvSpPr>
        <p:spPr>
          <a:xfrm>
            <a:off x="7200900" y="2948033"/>
            <a:ext cx="925514" cy="323165"/>
          </a:xfrm>
          <a:prstGeom prst="rect">
            <a:avLst/>
          </a:prstGeom>
          <a:noFill/>
        </p:spPr>
        <p:txBody>
          <a:bodyPr wrap="square" rtlCol="0">
            <a:spAutoFit/>
          </a:bodyPr>
          <a:lstStyle/>
          <a:p>
            <a:pPr algn="ctr"/>
            <a:r>
              <a:rPr lang="en-US" sz="1500" dirty="0">
                <a:latin typeface="Corbel" panose="020B0503020204020204" pitchFamily="34" charset="0"/>
                <a:cs typeface="Arial" panose="020B0604020202020204" pitchFamily="34" charset="0"/>
              </a:rPr>
              <a:t>&lt;&lt;</a:t>
            </a:r>
          </a:p>
        </p:txBody>
      </p:sp>
      <p:sp>
        <p:nvSpPr>
          <p:cNvPr id="35" name="TextBox 34">
            <a:extLst>
              <a:ext uri="{FF2B5EF4-FFF2-40B4-BE49-F238E27FC236}">
                <a16:creationId xmlns:a16="http://schemas.microsoft.com/office/drawing/2014/main" id="{FEF95D31-F716-4D40-BAF8-129E7D9E610A}"/>
              </a:ext>
            </a:extLst>
          </p:cNvPr>
          <p:cNvSpPr txBox="1"/>
          <p:nvPr/>
        </p:nvSpPr>
        <p:spPr>
          <a:xfrm>
            <a:off x="7189786" y="3962400"/>
            <a:ext cx="925514" cy="323165"/>
          </a:xfrm>
          <a:prstGeom prst="rect">
            <a:avLst/>
          </a:prstGeom>
          <a:noFill/>
        </p:spPr>
        <p:txBody>
          <a:bodyPr wrap="square" rtlCol="0">
            <a:spAutoFit/>
          </a:bodyPr>
          <a:lstStyle/>
          <a:p>
            <a:pPr algn="ctr"/>
            <a:r>
              <a:rPr lang="en-US" sz="1500" dirty="0">
                <a:latin typeface="Corbel" panose="020B0503020204020204" pitchFamily="34" charset="0"/>
                <a:cs typeface="Arial" panose="020B0604020202020204" pitchFamily="34" charset="0"/>
              </a:rPr>
              <a:t>≈</a:t>
            </a:r>
          </a:p>
        </p:txBody>
      </p:sp>
      <p:sp>
        <p:nvSpPr>
          <p:cNvPr id="12" name="Title 11">
            <a:extLst>
              <a:ext uri="{FF2B5EF4-FFF2-40B4-BE49-F238E27FC236}">
                <a16:creationId xmlns:a16="http://schemas.microsoft.com/office/drawing/2014/main" id="{A80F8B8F-F53E-6840-90C1-611E4AE89913}"/>
              </a:ext>
            </a:extLst>
          </p:cNvPr>
          <p:cNvSpPr>
            <a:spLocks noGrp="1"/>
          </p:cNvSpPr>
          <p:nvPr>
            <p:ph type="title"/>
          </p:nvPr>
        </p:nvSpPr>
        <p:spPr/>
        <p:txBody>
          <a:bodyPr>
            <a:normAutofit fontScale="90000"/>
          </a:bodyPr>
          <a:lstStyle/>
          <a:p>
            <a:r>
              <a:rPr lang="en-US" dirty="0">
                <a:latin typeface="Corbel" panose="020B0503020204020204" pitchFamily="34" charset="0"/>
              </a:rPr>
              <a:t>Comparative Bond Forming Pathways</a:t>
            </a:r>
          </a:p>
        </p:txBody>
      </p:sp>
      <p:sp>
        <p:nvSpPr>
          <p:cNvPr id="2" name="Date Placeholder 1">
            <a:extLst>
              <a:ext uri="{FF2B5EF4-FFF2-40B4-BE49-F238E27FC236}">
                <a16:creationId xmlns:a16="http://schemas.microsoft.com/office/drawing/2014/main" id="{47A6DDAB-A64C-604F-B02D-2191AAC1B4B8}"/>
              </a:ext>
            </a:extLst>
          </p:cNvPr>
          <p:cNvSpPr>
            <a:spLocks noGrp="1"/>
          </p:cNvSpPr>
          <p:nvPr>
            <p:ph type="dt" sz="half" idx="10"/>
          </p:nvPr>
        </p:nvSpPr>
        <p:spPr/>
        <p:txBody>
          <a:bodyPr/>
          <a:lstStyle/>
          <a:p>
            <a:pPr>
              <a:defRPr/>
            </a:pPr>
            <a:r>
              <a:rPr lang="en-US">
                <a:latin typeface="Corbel" panose="020B0503020204020204" pitchFamily="34" charset="0"/>
              </a:rPr>
              <a:t>W. F. Schneider</a:t>
            </a:r>
          </a:p>
        </p:txBody>
      </p:sp>
      <p:sp>
        <p:nvSpPr>
          <p:cNvPr id="8" name="Footer Placeholder 7">
            <a:extLst>
              <a:ext uri="{FF2B5EF4-FFF2-40B4-BE49-F238E27FC236}">
                <a16:creationId xmlns:a16="http://schemas.microsoft.com/office/drawing/2014/main" id="{5167ADA5-4825-B746-8FD7-42FBD5157BA3}"/>
              </a:ext>
            </a:extLst>
          </p:cNvPr>
          <p:cNvSpPr>
            <a:spLocks noGrp="1"/>
          </p:cNvSpPr>
          <p:nvPr>
            <p:ph type="ftr" sz="quarter" idx="11"/>
          </p:nvPr>
        </p:nvSpPr>
        <p:spPr/>
        <p:txBody>
          <a:bodyPr/>
          <a:lstStyle/>
          <a:p>
            <a:pPr>
              <a:defRPr/>
            </a:pPr>
            <a:r>
              <a:rPr lang="de-DE">
                <a:latin typeface="Corbel" panose="020B0503020204020204" pitchFamily="34" charset="0"/>
              </a:rPr>
              <a:t>CBE 60546</a:t>
            </a:r>
            <a:endParaRPr lang="en-US">
              <a:latin typeface="Corbel" panose="020B0503020204020204" pitchFamily="34" charset="0"/>
            </a:endParaRPr>
          </a:p>
        </p:txBody>
      </p:sp>
      <p:sp>
        <p:nvSpPr>
          <p:cNvPr id="18" name="TextBox 17">
            <a:extLst>
              <a:ext uri="{FF2B5EF4-FFF2-40B4-BE49-F238E27FC236}">
                <a16:creationId xmlns:a16="http://schemas.microsoft.com/office/drawing/2014/main" id="{91A83905-FC9E-364D-BB51-DEEBB939BA15}"/>
              </a:ext>
            </a:extLst>
          </p:cNvPr>
          <p:cNvSpPr txBox="1"/>
          <p:nvPr/>
        </p:nvSpPr>
        <p:spPr>
          <a:xfrm>
            <a:off x="1905000" y="4285565"/>
            <a:ext cx="2989152" cy="307777"/>
          </a:xfrm>
          <a:prstGeom prst="rect">
            <a:avLst/>
          </a:prstGeom>
          <a:noFill/>
        </p:spPr>
        <p:txBody>
          <a:bodyPr wrap="none" rtlCol="0">
            <a:spAutoFit/>
          </a:bodyPr>
          <a:lstStyle/>
          <a:p>
            <a:r>
              <a:rPr lang="en-US" dirty="0">
                <a:latin typeface="Corbel" panose="020B0503020204020204" pitchFamily="34" charset="0"/>
              </a:rPr>
              <a:t>Non-BEP behavior, structure sensitive</a:t>
            </a:r>
          </a:p>
        </p:txBody>
      </p:sp>
    </p:spTree>
    <p:extLst>
      <p:ext uri="{BB962C8B-B14F-4D97-AF65-F5344CB8AC3E}">
        <p14:creationId xmlns:p14="http://schemas.microsoft.com/office/powerpoint/2010/main" val="3329038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Can 24">
            <a:extLst>
              <a:ext uri="{FF2B5EF4-FFF2-40B4-BE49-F238E27FC236}">
                <a16:creationId xmlns:a16="http://schemas.microsoft.com/office/drawing/2014/main" id="{10FFEA8B-ECE3-2840-AA38-9F48AFF0AEDE}"/>
              </a:ext>
            </a:extLst>
          </p:cNvPr>
          <p:cNvSpPr/>
          <p:nvPr/>
        </p:nvSpPr>
        <p:spPr>
          <a:xfrm>
            <a:off x="7042105" y="2431292"/>
            <a:ext cx="1231988" cy="136218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ADC0F4DE-09F4-AE46-BF94-4B5611EBDFD0}"/>
              </a:ext>
            </a:extLst>
          </p:cNvPr>
          <p:cNvSpPr>
            <a:spLocks noGrp="1"/>
          </p:cNvSpPr>
          <p:nvPr>
            <p:ph type="title"/>
          </p:nvPr>
        </p:nvSpPr>
        <p:spPr/>
        <p:txBody>
          <a:bodyPr>
            <a:normAutofit fontScale="90000"/>
          </a:bodyPr>
          <a:lstStyle/>
          <a:p>
            <a:r>
              <a:rPr lang="en-US" dirty="0"/>
              <a:t>DFT to Reaction Rates and </a:t>
            </a:r>
            <a:r>
              <a:rPr lang="en-US" dirty="0" err="1"/>
              <a:t>Selectivities</a:t>
            </a:r>
            <a:r>
              <a:rPr lang="en-US" dirty="0"/>
              <a:t> </a:t>
            </a:r>
          </a:p>
        </p:txBody>
      </p:sp>
      <p:sp>
        <p:nvSpPr>
          <p:cNvPr id="4" name="Date Placeholder 3">
            <a:extLst>
              <a:ext uri="{FF2B5EF4-FFF2-40B4-BE49-F238E27FC236}">
                <a16:creationId xmlns:a16="http://schemas.microsoft.com/office/drawing/2014/main" id="{56D11551-29C9-DD49-96F9-4F1E3A7BC721}"/>
              </a:ext>
            </a:extLst>
          </p:cNvPr>
          <p:cNvSpPr>
            <a:spLocks noGrp="1"/>
          </p:cNvSpPr>
          <p:nvPr>
            <p:ph type="dt" sz="half" idx="10"/>
          </p:nvPr>
        </p:nvSpPr>
        <p:spPr/>
        <p:txBody>
          <a:bodyPr/>
          <a:lstStyle/>
          <a:p>
            <a:pPr>
              <a:defRPr/>
            </a:pPr>
            <a:r>
              <a:rPr lang="en-US"/>
              <a:t>W. F. Schneider</a:t>
            </a:r>
          </a:p>
        </p:txBody>
      </p:sp>
      <p:sp>
        <p:nvSpPr>
          <p:cNvPr id="5" name="Footer Placeholder 4">
            <a:extLst>
              <a:ext uri="{FF2B5EF4-FFF2-40B4-BE49-F238E27FC236}">
                <a16:creationId xmlns:a16="http://schemas.microsoft.com/office/drawing/2014/main" id="{3F69201E-1F9D-4F41-9693-8BC00E8F27C5}"/>
              </a:ext>
            </a:extLst>
          </p:cNvPr>
          <p:cNvSpPr>
            <a:spLocks noGrp="1"/>
          </p:cNvSpPr>
          <p:nvPr>
            <p:ph type="ftr" sz="quarter" idx="11"/>
          </p:nvPr>
        </p:nvSpPr>
        <p:spPr/>
        <p:txBody>
          <a:bodyPr/>
          <a:lstStyle/>
          <a:p>
            <a:pPr>
              <a:defRPr/>
            </a:pPr>
            <a:r>
              <a:rPr lang="de-DE"/>
              <a:t>CBE 60546</a:t>
            </a:r>
            <a:endParaRPr lang="en-US"/>
          </a:p>
        </p:txBody>
      </p:sp>
      <p:pic>
        <p:nvPicPr>
          <p:cNvPr id="8" name="Picture 7">
            <a:extLst>
              <a:ext uri="{FF2B5EF4-FFF2-40B4-BE49-F238E27FC236}">
                <a16:creationId xmlns:a16="http://schemas.microsoft.com/office/drawing/2014/main" id="{6F8C968E-44D2-874E-9E66-A7DC28A0043A}"/>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281712" y="1245857"/>
            <a:ext cx="2895601" cy="3036360"/>
          </a:xfrm>
          <a:prstGeom prst="rect">
            <a:avLst/>
          </a:prstGeom>
          <a:noFill/>
        </p:spPr>
      </p:pic>
      <p:pic>
        <p:nvPicPr>
          <p:cNvPr id="11" name="Picture 10">
            <a:extLst>
              <a:ext uri="{FF2B5EF4-FFF2-40B4-BE49-F238E27FC236}">
                <a16:creationId xmlns:a16="http://schemas.microsoft.com/office/drawing/2014/main" id="{ABAC0E22-F349-A348-A1FA-80F0AC998A52}"/>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877830" y="2719116"/>
            <a:ext cx="1423556" cy="592249"/>
          </a:xfrm>
          <a:prstGeom prst="rect">
            <a:avLst/>
          </a:prstGeom>
        </p:spPr>
      </p:pic>
      <p:sp>
        <p:nvSpPr>
          <p:cNvPr id="12" name="Rectangle 11">
            <a:extLst>
              <a:ext uri="{FF2B5EF4-FFF2-40B4-BE49-F238E27FC236}">
                <a16:creationId xmlns:a16="http://schemas.microsoft.com/office/drawing/2014/main" id="{DE419711-5FAE-0C46-BA49-533144068FE6}"/>
              </a:ext>
            </a:extLst>
          </p:cNvPr>
          <p:cNvSpPr/>
          <p:nvPr/>
        </p:nvSpPr>
        <p:spPr>
          <a:xfrm>
            <a:off x="3266686" y="2573745"/>
            <a:ext cx="2645845" cy="276999"/>
          </a:xfrm>
          <a:prstGeom prst="rect">
            <a:avLst/>
          </a:prstGeom>
        </p:spPr>
        <p:txBody>
          <a:bodyPr wrap="square">
            <a:spAutoFit/>
          </a:bodyPr>
          <a:lstStyle/>
          <a:p>
            <a:pPr algn="ctr"/>
            <a:r>
              <a:rPr lang="en-US" sz="1200" dirty="0">
                <a:latin typeface="Corbel" panose="020B0503020204020204" pitchFamily="34" charset="0"/>
                <a:cs typeface="Arial" panose="020B0604020202020204" pitchFamily="34" charset="0"/>
              </a:rPr>
              <a:t>Non-activated adsorption</a:t>
            </a:r>
          </a:p>
        </p:txBody>
      </p:sp>
      <p:sp>
        <p:nvSpPr>
          <p:cNvPr id="16" name="TextBox 15">
            <a:extLst>
              <a:ext uri="{FF2B5EF4-FFF2-40B4-BE49-F238E27FC236}">
                <a16:creationId xmlns:a16="http://schemas.microsoft.com/office/drawing/2014/main" id="{E59FE543-FC14-2C48-BA63-3CD4F1889B07}"/>
              </a:ext>
            </a:extLst>
          </p:cNvPr>
          <p:cNvSpPr txBox="1"/>
          <p:nvPr/>
        </p:nvSpPr>
        <p:spPr>
          <a:xfrm>
            <a:off x="228599" y="853138"/>
            <a:ext cx="2743201" cy="307777"/>
          </a:xfrm>
          <a:prstGeom prst="rect">
            <a:avLst/>
          </a:prstGeom>
          <a:solidFill>
            <a:schemeClr val="accent1">
              <a:lumMod val="20000"/>
              <a:lumOff val="80000"/>
            </a:schemeClr>
          </a:solidFill>
        </p:spPr>
        <p:txBody>
          <a:bodyPr wrap="square" rtlCol="0">
            <a:spAutoFit/>
          </a:bodyPr>
          <a:lstStyle>
            <a:defPPr>
              <a:defRPr lang="en-US"/>
            </a:defPPr>
            <a:lvl1pPr>
              <a:defRPr sz="1600">
                <a:latin typeface="Arial" panose="020B0604020202020204" pitchFamily="34" charset="0"/>
                <a:cs typeface="Arial" panose="020B0604020202020204" pitchFamily="34" charset="0"/>
              </a:defRPr>
            </a:lvl1pPr>
          </a:lstStyle>
          <a:p>
            <a:pPr algn="ctr"/>
            <a:r>
              <a:rPr lang="en-US" altLang="zh-CN" sz="1400" b="1" dirty="0">
                <a:latin typeface="Corbel" panose="020B0503020204020204" pitchFamily="34" charset="0"/>
              </a:rPr>
              <a:t>Reaction Mechanism</a:t>
            </a:r>
            <a:endParaRPr lang="en-US" sz="1400" b="1" baseline="-25000" dirty="0">
              <a:latin typeface="Corbel" panose="020B0503020204020204" pitchFamily="34" charset="0"/>
            </a:endParaRPr>
          </a:p>
        </p:txBody>
      </p:sp>
      <p:sp>
        <p:nvSpPr>
          <p:cNvPr id="17" name="TextBox 16">
            <a:extLst>
              <a:ext uri="{FF2B5EF4-FFF2-40B4-BE49-F238E27FC236}">
                <a16:creationId xmlns:a16="http://schemas.microsoft.com/office/drawing/2014/main" id="{F4C09503-E4BB-F640-BDAE-9E6BD8D5F5E7}"/>
              </a:ext>
            </a:extLst>
          </p:cNvPr>
          <p:cNvSpPr txBox="1"/>
          <p:nvPr/>
        </p:nvSpPr>
        <p:spPr>
          <a:xfrm>
            <a:off x="3218008" y="853226"/>
            <a:ext cx="2743201" cy="307777"/>
          </a:xfrm>
          <a:prstGeom prst="rect">
            <a:avLst/>
          </a:prstGeom>
          <a:solidFill>
            <a:schemeClr val="accent1">
              <a:lumMod val="20000"/>
              <a:lumOff val="80000"/>
            </a:schemeClr>
          </a:solidFill>
        </p:spPr>
        <p:txBody>
          <a:bodyPr wrap="square" rtlCol="0">
            <a:spAutoFit/>
          </a:bodyPr>
          <a:lstStyle>
            <a:defPPr>
              <a:defRPr lang="en-US"/>
            </a:defPPr>
            <a:lvl1pPr>
              <a:defRPr sz="1600">
                <a:latin typeface="Arial" panose="020B0604020202020204" pitchFamily="34" charset="0"/>
                <a:cs typeface="Arial" panose="020B0604020202020204" pitchFamily="34" charset="0"/>
              </a:defRPr>
            </a:lvl1pPr>
          </a:lstStyle>
          <a:p>
            <a:pPr algn="ctr"/>
            <a:r>
              <a:rPr lang="en-US" altLang="zh-CN" sz="1400" b="1" dirty="0">
                <a:latin typeface="Corbel" panose="020B0503020204020204" pitchFamily="34" charset="0"/>
              </a:rPr>
              <a:t>Transition State Theory</a:t>
            </a:r>
            <a:endParaRPr lang="en-US" sz="1400" b="1" baseline="-25000" dirty="0">
              <a:latin typeface="Corbel" panose="020B0503020204020204" pitchFamily="34" charset="0"/>
            </a:endParaRPr>
          </a:p>
        </p:txBody>
      </p:sp>
      <p:sp>
        <p:nvSpPr>
          <p:cNvPr id="19" name="TextBox 18">
            <a:extLst>
              <a:ext uri="{FF2B5EF4-FFF2-40B4-BE49-F238E27FC236}">
                <a16:creationId xmlns:a16="http://schemas.microsoft.com/office/drawing/2014/main" id="{EBA57F24-2DA0-E442-8C5D-2B5E95A689D2}"/>
              </a:ext>
            </a:extLst>
          </p:cNvPr>
          <p:cNvSpPr txBox="1"/>
          <p:nvPr/>
        </p:nvSpPr>
        <p:spPr>
          <a:xfrm>
            <a:off x="6193608" y="853167"/>
            <a:ext cx="2743201" cy="307777"/>
          </a:xfrm>
          <a:prstGeom prst="rect">
            <a:avLst/>
          </a:prstGeom>
          <a:solidFill>
            <a:schemeClr val="accent1">
              <a:lumMod val="20000"/>
              <a:lumOff val="80000"/>
            </a:schemeClr>
          </a:solidFill>
        </p:spPr>
        <p:txBody>
          <a:bodyPr wrap="square" rtlCol="0">
            <a:spAutoFit/>
          </a:bodyPr>
          <a:lstStyle>
            <a:defPPr>
              <a:defRPr lang="en-US"/>
            </a:defPPr>
            <a:lvl1pPr>
              <a:defRPr sz="1600">
                <a:latin typeface="Arial" panose="020B0604020202020204" pitchFamily="34" charset="0"/>
                <a:cs typeface="Arial" panose="020B0604020202020204" pitchFamily="34" charset="0"/>
              </a:defRPr>
            </a:lvl1pPr>
          </a:lstStyle>
          <a:p>
            <a:pPr algn="ctr"/>
            <a:r>
              <a:rPr lang="en-US" altLang="zh-CN" sz="1400" b="1" dirty="0">
                <a:latin typeface="Corbel" panose="020B0503020204020204" pitchFamily="34" charset="0"/>
              </a:rPr>
              <a:t>µkinetic model</a:t>
            </a:r>
            <a:endParaRPr lang="en-US" sz="1400" b="1" baseline="-25000" dirty="0">
              <a:latin typeface="Corbel" panose="020B0503020204020204" pitchFamily="34" charset="0"/>
            </a:endParaRPr>
          </a:p>
        </p:txBody>
      </p:sp>
      <p:pic>
        <p:nvPicPr>
          <p:cNvPr id="22" name="Picture 21">
            <a:extLst>
              <a:ext uri="{FF2B5EF4-FFF2-40B4-BE49-F238E27FC236}">
                <a16:creationId xmlns:a16="http://schemas.microsoft.com/office/drawing/2014/main" id="{EF1E4013-827C-5542-A2AE-7F503B1C3412}"/>
              </a:ext>
            </a:extLst>
          </p:cNvPr>
          <p:cNvPicPr>
            <a:picLocks noChangeAspect="1"/>
          </p:cNvPicPr>
          <p:nvPr/>
        </p:nvPicPr>
        <p:blipFill>
          <a:blip r:embed="rId4"/>
          <a:stretch>
            <a:fillRect/>
          </a:stretch>
        </p:blipFill>
        <p:spPr>
          <a:xfrm>
            <a:off x="3736014" y="4181754"/>
            <a:ext cx="1726370" cy="185317"/>
          </a:xfrm>
          <a:prstGeom prst="rect">
            <a:avLst/>
          </a:prstGeom>
        </p:spPr>
      </p:pic>
      <p:sp>
        <p:nvSpPr>
          <p:cNvPr id="24" name="Rectangle 23">
            <a:extLst>
              <a:ext uri="{FF2B5EF4-FFF2-40B4-BE49-F238E27FC236}">
                <a16:creationId xmlns:a16="http://schemas.microsoft.com/office/drawing/2014/main" id="{1AE872AB-56A1-4348-84AB-8548C5167AD1}"/>
              </a:ext>
            </a:extLst>
          </p:cNvPr>
          <p:cNvSpPr/>
          <p:nvPr/>
        </p:nvSpPr>
        <p:spPr>
          <a:xfrm>
            <a:off x="3560732" y="3864919"/>
            <a:ext cx="2057752" cy="276999"/>
          </a:xfrm>
          <a:prstGeom prst="rect">
            <a:avLst/>
          </a:prstGeom>
        </p:spPr>
        <p:txBody>
          <a:bodyPr wrap="square">
            <a:spAutoFit/>
          </a:bodyPr>
          <a:lstStyle/>
          <a:p>
            <a:pPr algn="ctr"/>
            <a:r>
              <a:rPr lang="en-US" sz="1200" dirty="0">
                <a:latin typeface="Corbel" panose="020B0503020204020204" pitchFamily="34" charset="0"/>
                <a:cs typeface="Arial" panose="020B0604020202020204" pitchFamily="34" charset="0"/>
              </a:rPr>
              <a:t>Thermodynamic Consistency</a:t>
            </a:r>
          </a:p>
        </p:txBody>
      </p:sp>
      <p:cxnSp>
        <p:nvCxnSpPr>
          <p:cNvPr id="27" name="Straight Arrow Connector 26">
            <a:extLst>
              <a:ext uri="{FF2B5EF4-FFF2-40B4-BE49-F238E27FC236}">
                <a16:creationId xmlns:a16="http://schemas.microsoft.com/office/drawing/2014/main" id="{68C2C882-827F-A549-ABD1-FBF8D88AD386}"/>
              </a:ext>
            </a:extLst>
          </p:cNvPr>
          <p:cNvCxnSpPr/>
          <p:nvPr/>
        </p:nvCxnSpPr>
        <p:spPr>
          <a:xfrm>
            <a:off x="7658100" y="1737102"/>
            <a:ext cx="0" cy="80036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01D5F58-1A61-424C-AD06-909BEF409FA7}"/>
              </a:ext>
            </a:extLst>
          </p:cNvPr>
          <p:cNvCxnSpPr>
            <a:cxnSpLocks/>
          </p:cNvCxnSpPr>
          <p:nvPr/>
        </p:nvCxnSpPr>
        <p:spPr>
          <a:xfrm flipH="1">
            <a:off x="7658100" y="3793472"/>
            <a:ext cx="3376" cy="53412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E089ABEE-0D7A-DD42-B4DD-7A45C57C97AD}"/>
              </a:ext>
            </a:extLst>
          </p:cNvPr>
          <p:cNvSpPr/>
          <p:nvPr/>
        </p:nvSpPr>
        <p:spPr>
          <a:xfrm>
            <a:off x="7122944" y="2851395"/>
            <a:ext cx="1129569" cy="923330"/>
          </a:xfrm>
          <a:prstGeom prst="rect">
            <a:avLst/>
          </a:prstGeom>
        </p:spPr>
        <p:txBody>
          <a:bodyPr wrap="square">
            <a:spAutoFit/>
          </a:bodyPr>
          <a:lstStyle/>
          <a:p>
            <a:pPr algn="ctr"/>
            <a:r>
              <a:rPr lang="en-US" dirty="0">
                <a:solidFill>
                  <a:schemeClr val="bg1"/>
                </a:solidFill>
                <a:latin typeface="Corbel" panose="020B0503020204020204" pitchFamily="34" charset="0"/>
                <a:cs typeface="Arial" panose="020B0604020202020204" pitchFamily="34" charset="0"/>
              </a:rPr>
              <a:t>Mass + site balances</a:t>
            </a:r>
          </a:p>
        </p:txBody>
      </p:sp>
      <p:sp>
        <p:nvSpPr>
          <p:cNvPr id="33" name="Rectangle 32">
            <a:extLst>
              <a:ext uri="{FF2B5EF4-FFF2-40B4-BE49-F238E27FC236}">
                <a16:creationId xmlns:a16="http://schemas.microsoft.com/office/drawing/2014/main" id="{AC60D5BF-9E48-4247-B6B6-3F2AB1DD2E8B}"/>
              </a:ext>
            </a:extLst>
          </p:cNvPr>
          <p:cNvSpPr/>
          <p:nvPr/>
        </p:nvSpPr>
        <p:spPr>
          <a:xfrm>
            <a:off x="6819899" y="4340618"/>
            <a:ext cx="1676400" cy="523220"/>
          </a:xfrm>
          <a:prstGeom prst="rect">
            <a:avLst/>
          </a:prstGeom>
        </p:spPr>
        <p:txBody>
          <a:bodyPr wrap="square">
            <a:spAutoFit/>
          </a:bodyPr>
          <a:lstStyle/>
          <a:p>
            <a:pPr algn="ctr"/>
            <a:r>
              <a:rPr lang="en-US" dirty="0">
                <a:latin typeface="Corbel" panose="020B0503020204020204" pitchFamily="34" charset="0"/>
                <a:cs typeface="Arial" panose="020B0604020202020204" pitchFamily="34" charset="0"/>
              </a:rPr>
              <a:t>Coverages</a:t>
            </a:r>
          </a:p>
          <a:p>
            <a:pPr algn="ctr"/>
            <a:r>
              <a:rPr lang="en-US" dirty="0">
                <a:latin typeface="Corbel" panose="020B0503020204020204" pitchFamily="34" charset="0"/>
                <a:cs typeface="Arial" panose="020B0604020202020204" pitchFamily="34" charset="0"/>
              </a:rPr>
              <a:t>Rates</a:t>
            </a:r>
          </a:p>
        </p:txBody>
      </p:sp>
      <p:pic>
        <p:nvPicPr>
          <p:cNvPr id="36" name="Picture 35">
            <a:extLst>
              <a:ext uri="{FF2B5EF4-FFF2-40B4-BE49-F238E27FC236}">
                <a16:creationId xmlns:a16="http://schemas.microsoft.com/office/drawing/2014/main" id="{6FEACE69-D0F7-3642-BFB9-070AB1B03E2C}"/>
              </a:ext>
            </a:extLst>
          </p:cNvPr>
          <p:cNvPicPr>
            <a:picLocks noChangeAspect="1"/>
          </p:cNvPicPr>
          <p:nvPr/>
        </p:nvPicPr>
        <p:blipFill>
          <a:blip r:embed="rId5"/>
          <a:stretch>
            <a:fillRect/>
          </a:stretch>
        </p:blipFill>
        <p:spPr>
          <a:xfrm>
            <a:off x="4112962" y="3327268"/>
            <a:ext cx="953293" cy="158882"/>
          </a:xfrm>
          <a:prstGeom prst="rect">
            <a:avLst/>
          </a:prstGeom>
        </p:spPr>
      </p:pic>
      <p:sp>
        <p:nvSpPr>
          <p:cNvPr id="38" name="Rectangle 37">
            <a:extLst>
              <a:ext uri="{FF2B5EF4-FFF2-40B4-BE49-F238E27FC236}">
                <a16:creationId xmlns:a16="http://schemas.microsoft.com/office/drawing/2014/main" id="{33E57F70-8A30-104C-A60B-89A2E823B631}"/>
              </a:ext>
            </a:extLst>
          </p:cNvPr>
          <p:cNvSpPr/>
          <p:nvPr/>
        </p:nvSpPr>
        <p:spPr>
          <a:xfrm>
            <a:off x="3560732" y="1245329"/>
            <a:ext cx="2057752" cy="276999"/>
          </a:xfrm>
          <a:prstGeom prst="rect">
            <a:avLst/>
          </a:prstGeom>
        </p:spPr>
        <p:txBody>
          <a:bodyPr wrap="square">
            <a:spAutoFit/>
          </a:bodyPr>
          <a:lstStyle/>
          <a:p>
            <a:pPr algn="ctr"/>
            <a:r>
              <a:rPr lang="en-US" sz="1200" dirty="0">
                <a:latin typeface="Corbel" panose="020B0503020204020204" pitchFamily="34" charset="0"/>
                <a:cs typeface="Arial" panose="020B0604020202020204" pitchFamily="34" charset="0"/>
              </a:rPr>
              <a:t>Surface reactions</a:t>
            </a:r>
          </a:p>
        </p:txBody>
      </p:sp>
      <p:pic>
        <p:nvPicPr>
          <p:cNvPr id="39" name="Picture 38">
            <a:extLst>
              <a:ext uri="{FF2B5EF4-FFF2-40B4-BE49-F238E27FC236}">
                <a16:creationId xmlns:a16="http://schemas.microsoft.com/office/drawing/2014/main" id="{2E09046E-BF4A-8848-8DEB-E474B4749520}"/>
              </a:ext>
            </a:extLst>
          </p:cNvPr>
          <p:cNvPicPr>
            <a:picLocks noChangeAspect="1"/>
          </p:cNvPicPr>
          <p:nvPr/>
        </p:nvPicPr>
        <p:blipFill>
          <a:blip r:embed="rId6"/>
          <a:stretch>
            <a:fillRect/>
          </a:stretch>
        </p:blipFill>
        <p:spPr>
          <a:xfrm>
            <a:off x="3367349" y="1602509"/>
            <a:ext cx="2444518" cy="421469"/>
          </a:xfrm>
          <a:prstGeom prst="rect">
            <a:avLst/>
          </a:prstGeom>
        </p:spPr>
      </p:pic>
      <p:pic>
        <p:nvPicPr>
          <p:cNvPr id="40" name="Picture 39">
            <a:extLst>
              <a:ext uri="{FF2B5EF4-FFF2-40B4-BE49-F238E27FC236}">
                <a16:creationId xmlns:a16="http://schemas.microsoft.com/office/drawing/2014/main" id="{1D144161-83A5-774C-A891-F9C2DCD18D12}"/>
              </a:ext>
            </a:extLst>
          </p:cNvPr>
          <p:cNvPicPr>
            <a:picLocks noChangeAspect="1"/>
          </p:cNvPicPr>
          <p:nvPr/>
        </p:nvPicPr>
        <p:blipFill>
          <a:blip r:embed="rId7"/>
          <a:stretch>
            <a:fillRect/>
          </a:stretch>
        </p:blipFill>
        <p:spPr>
          <a:xfrm>
            <a:off x="4010370" y="2114550"/>
            <a:ext cx="1291016" cy="170010"/>
          </a:xfrm>
          <a:prstGeom prst="rect">
            <a:avLst/>
          </a:prstGeom>
        </p:spPr>
      </p:pic>
      <p:sp>
        <p:nvSpPr>
          <p:cNvPr id="44" name="Right Arrow 43">
            <a:extLst>
              <a:ext uri="{FF2B5EF4-FFF2-40B4-BE49-F238E27FC236}">
                <a16:creationId xmlns:a16="http://schemas.microsoft.com/office/drawing/2014/main" id="{049A4D56-BFC2-1148-B8E1-5A965072B70D}"/>
              </a:ext>
            </a:extLst>
          </p:cNvPr>
          <p:cNvSpPr/>
          <p:nvPr/>
        </p:nvSpPr>
        <p:spPr>
          <a:xfrm>
            <a:off x="2683847" y="2026945"/>
            <a:ext cx="4439097" cy="1766527"/>
          </a:xfrm>
          <a:prstGeom prst="rightArrow">
            <a:avLst>
              <a:gd name="adj1" fmla="val 50000"/>
              <a:gd name="adj2" fmla="val 56605"/>
            </a:avLst>
          </a:prstGeom>
          <a:solidFill>
            <a:schemeClr val="accent1">
              <a:alpha val="10000"/>
            </a:schemeClr>
          </a:solidFill>
          <a:ln cap="rnd">
            <a:solidFill>
              <a:schemeClr val="accent1">
                <a:shade val="50000"/>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6" name="Picture 45">
            <a:extLst>
              <a:ext uri="{FF2B5EF4-FFF2-40B4-BE49-F238E27FC236}">
                <a16:creationId xmlns:a16="http://schemas.microsoft.com/office/drawing/2014/main" id="{A229B144-7D41-1845-B925-510EEDA66046}"/>
              </a:ext>
            </a:extLst>
          </p:cNvPr>
          <p:cNvPicPr>
            <a:picLocks noChangeAspect="1"/>
          </p:cNvPicPr>
          <p:nvPr/>
        </p:nvPicPr>
        <p:blipFill>
          <a:blip r:embed="rId8"/>
          <a:stretch>
            <a:fillRect/>
          </a:stretch>
        </p:blipFill>
        <p:spPr>
          <a:xfrm>
            <a:off x="6845942" y="1450324"/>
            <a:ext cx="1719862" cy="202032"/>
          </a:xfrm>
          <a:prstGeom prst="rect">
            <a:avLst/>
          </a:prstGeom>
        </p:spPr>
      </p:pic>
    </p:spTree>
    <p:extLst>
      <p:ext uri="{BB962C8B-B14F-4D97-AF65-F5344CB8AC3E}">
        <p14:creationId xmlns:p14="http://schemas.microsoft.com/office/powerpoint/2010/main" val="3329740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EA591F-0A32-B248-A910-891AA300EB0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51673" y="1031032"/>
            <a:ext cx="2811353" cy="2704141"/>
          </a:xfrm>
          <a:prstGeom prst="rect">
            <a:avLst/>
          </a:prstGeom>
        </p:spPr>
      </p:pic>
      <p:sp>
        <p:nvSpPr>
          <p:cNvPr id="4" name="Date Placeholder 3">
            <a:extLst>
              <a:ext uri="{FF2B5EF4-FFF2-40B4-BE49-F238E27FC236}">
                <a16:creationId xmlns:a16="http://schemas.microsoft.com/office/drawing/2014/main" id="{73B7C863-377C-3246-89C8-2371BDA73FCD}"/>
              </a:ext>
            </a:extLst>
          </p:cNvPr>
          <p:cNvSpPr>
            <a:spLocks noGrp="1"/>
          </p:cNvSpPr>
          <p:nvPr>
            <p:ph type="dt" sz="half" idx="10"/>
          </p:nvPr>
        </p:nvSpPr>
        <p:spPr/>
        <p:txBody>
          <a:bodyPr/>
          <a:lstStyle/>
          <a:p>
            <a:pPr>
              <a:defRPr/>
            </a:pPr>
            <a:r>
              <a:rPr lang="en-US"/>
              <a:t>W. F. Schneider</a:t>
            </a:r>
          </a:p>
        </p:txBody>
      </p:sp>
      <p:sp>
        <p:nvSpPr>
          <p:cNvPr id="6" name="Footer Placeholder 5">
            <a:extLst>
              <a:ext uri="{FF2B5EF4-FFF2-40B4-BE49-F238E27FC236}">
                <a16:creationId xmlns:a16="http://schemas.microsoft.com/office/drawing/2014/main" id="{FA24FBA5-EAC2-0741-BF51-B60328765D3E}"/>
              </a:ext>
            </a:extLst>
          </p:cNvPr>
          <p:cNvSpPr>
            <a:spLocks noGrp="1"/>
          </p:cNvSpPr>
          <p:nvPr>
            <p:ph type="ftr" sz="quarter" idx="11"/>
          </p:nvPr>
        </p:nvSpPr>
        <p:spPr/>
        <p:txBody>
          <a:bodyPr/>
          <a:lstStyle/>
          <a:p>
            <a:pPr>
              <a:defRPr/>
            </a:pPr>
            <a:r>
              <a:rPr lang="de-DE"/>
              <a:t>CBE 60546</a:t>
            </a:r>
            <a:endParaRPr lang="en-US"/>
          </a:p>
        </p:txBody>
      </p:sp>
      <p:sp>
        <p:nvSpPr>
          <p:cNvPr id="11" name="Title 10">
            <a:extLst>
              <a:ext uri="{FF2B5EF4-FFF2-40B4-BE49-F238E27FC236}">
                <a16:creationId xmlns:a16="http://schemas.microsoft.com/office/drawing/2014/main" id="{68EB13E6-B909-364A-84C5-2B53DAB84FEB}"/>
              </a:ext>
            </a:extLst>
          </p:cNvPr>
          <p:cNvSpPr>
            <a:spLocks noGrp="1"/>
          </p:cNvSpPr>
          <p:nvPr>
            <p:ph type="title"/>
          </p:nvPr>
        </p:nvSpPr>
        <p:spPr/>
        <p:txBody>
          <a:bodyPr>
            <a:normAutofit fontScale="90000"/>
          </a:bodyPr>
          <a:lstStyle/>
          <a:p>
            <a:r>
              <a:rPr lang="en-US" dirty="0"/>
              <a:t>NH3 Oxidation Analysis</a:t>
            </a:r>
          </a:p>
        </p:txBody>
      </p:sp>
      <p:sp>
        <p:nvSpPr>
          <p:cNvPr id="2" name="TextBox 1">
            <a:extLst>
              <a:ext uri="{FF2B5EF4-FFF2-40B4-BE49-F238E27FC236}">
                <a16:creationId xmlns:a16="http://schemas.microsoft.com/office/drawing/2014/main" id="{4D5DEDA8-C8E3-F946-8120-F50551FF4441}"/>
              </a:ext>
            </a:extLst>
          </p:cNvPr>
          <p:cNvSpPr txBox="1"/>
          <p:nvPr/>
        </p:nvSpPr>
        <p:spPr>
          <a:xfrm>
            <a:off x="2876010" y="4112468"/>
            <a:ext cx="3004349" cy="261610"/>
          </a:xfrm>
          <a:prstGeom prst="rect">
            <a:avLst/>
          </a:prstGeom>
          <a:noFill/>
        </p:spPr>
        <p:txBody>
          <a:bodyPr wrap="none" rtlCol="0">
            <a:spAutoFit/>
          </a:bodyPr>
          <a:lstStyle/>
          <a:p>
            <a:r>
              <a:rPr lang="en-US" sz="1100" dirty="0"/>
              <a:t>Ma and Schneider, </a:t>
            </a:r>
            <a:r>
              <a:rPr lang="en-US" sz="1100" i="1" dirty="0"/>
              <a:t>ACS </a:t>
            </a:r>
            <a:r>
              <a:rPr lang="en-US" sz="1100" i="1" dirty="0" err="1"/>
              <a:t>Catal</a:t>
            </a:r>
            <a:r>
              <a:rPr lang="en-US" sz="1100" i="1" dirty="0"/>
              <a:t>. </a:t>
            </a:r>
            <a:r>
              <a:rPr lang="en-US" sz="1100" b="1" dirty="0"/>
              <a:t>2019</a:t>
            </a:r>
            <a:r>
              <a:rPr lang="en-US" sz="1100" dirty="0"/>
              <a:t>, </a:t>
            </a:r>
            <a:r>
              <a:rPr lang="en-US" sz="1100" i="1" dirty="0"/>
              <a:t>9</a:t>
            </a:r>
            <a:r>
              <a:rPr lang="en-US" sz="1100" dirty="0"/>
              <a:t>, 2407</a:t>
            </a:r>
          </a:p>
        </p:txBody>
      </p:sp>
      <p:pic>
        <p:nvPicPr>
          <p:cNvPr id="5" name="Picture 4">
            <a:extLst>
              <a:ext uri="{FF2B5EF4-FFF2-40B4-BE49-F238E27FC236}">
                <a16:creationId xmlns:a16="http://schemas.microsoft.com/office/drawing/2014/main" id="{CADD9483-D22B-8949-5CA0-537653E63388}"/>
              </a:ext>
            </a:extLst>
          </p:cNvPr>
          <p:cNvPicPr>
            <a:picLocks noChangeAspect="1"/>
          </p:cNvPicPr>
          <p:nvPr/>
        </p:nvPicPr>
        <p:blipFill>
          <a:blip r:embed="rId4">
            <a:extLst>
              <a:ext uri="{28A0092B-C50C-407E-A947-70E740481C1C}">
                <a14:useLocalDpi xmlns:a14="http://schemas.microsoft.com/office/drawing/2010/main"/>
              </a:ext>
            </a:extLst>
          </a:blip>
          <a:srcRect t="50935"/>
          <a:stretch>
            <a:fillRect/>
          </a:stretch>
        </p:blipFill>
        <p:spPr>
          <a:xfrm>
            <a:off x="3063025" y="1076120"/>
            <a:ext cx="5634669" cy="2659053"/>
          </a:xfrm>
          <a:prstGeom prst="rect">
            <a:avLst/>
          </a:prstGeom>
        </p:spPr>
      </p:pic>
    </p:spTree>
    <p:extLst>
      <p:ext uri="{BB962C8B-B14F-4D97-AF65-F5344CB8AC3E}">
        <p14:creationId xmlns:p14="http://schemas.microsoft.com/office/powerpoint/2010/main" val="278245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4248E12-C8BA-EE4E-BF7E-9A95CB0C50C6}"/>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152400" y="1217105"/>
            <a:ext cx="1543050" cy="3431095"/>
          </a:xfrm>
          <a:prstGeom prst="rect">
            <a:avLst/>
          </a:prstGeom>
        </p:spPr>
      </p:pic>
      <p:pic>
        <p:nvPicPr>
          <p:cNvPr id="6" name="Picture 5">
            <a:extLst>
              <a:ext uri="{FF2B5EF4-FFF2-40B4-BE49-F238E27FC236}">
                <a16:creationId xmlns:a16="http://schemas.microsoft.com/office/drawing/2014/main" id="{EAC94CC2-B749-4E4A-802E-061872C73071}"/>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1638300" y="1217105"/>
            <a:ext cx="1485900" cy="3431095"/>
          </a:xfrm>
          <a:prstGeom prst="rect">
            <a:avLst/>
          </a:prstGeom>
        </p:spPr>
      </p:pic>
      <p:pic>
        <p:nvPicPr>
          <p:cNvPr id="7" name="Picture 6">
            <a:extLst>
              <a:ext uri="{FF2B5EF4-FFF2-40B4-BE49-F238E27FC236}">
                <a16:creationId xmlns:a16="http://schemas.microsoft.com/office/drawing/2014/main" id="{0F61E4E3-B613-5B4F-9774-AD16B9F0C2EB}"/>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a:xfrm>
            <a:off x="4876800" y="1237275"/>
            <a:ext cx="1480017" cy="3431095"/>
          </a:xfrm>
          <a:prstGeom prst="rect">
            <a:avLst/>
          </a:prstGeom>
        </p:spPr>
      </p:pic>
      <p:sp>
        <p:nvSpPr>
          <p:cNvPr id="9" name="TextBox 8">
            <a:extLst>
              <a:ext uri="{FF2B5EF4-FFF2-40B4-BE49-F238E27FC236}">
                <a16:creationId xmlns:a16="http://schemas.microsoft.com/office/drawing/2014/main" id="{CD595379-ADF3-7342-B598-87F6BD9A58E9}"/>
              </a:ext>
            </a:extLst>
          </p:cNvPr>
          <p:cNvSpPr txBox="1"/>
          <p:nvPr/>
        </p:nvSpPr>
        <p:spPr>
          <a:xfrm>
            <a:off x="439271" y="757616"/>
            <a:ext cx="2533650" cy="369332"/>
          </a:xfrm>
          <a:prstGeom prst="rect">
            <a:avLst/>
          </a:prstGeom>
          <a:solidFill>
            <a:schemeClr val="accent1">
              <a:lumMod val="20000"/>
              <a:lumOff val="80000"/>
            </a:schemeClr>
          </a:solidFill>
        </p:spPr>
        <p:txBody>
          <a:bodyPr wrap="square" rtlCol="0">
            <a:spAutoFit/>
          </a:bodyPr>
          <a:lstStyle/>
          <a:p>
            <a:pPr algn="ctr"/>
            <a:r>
              <a:rPr lang="en-US" altLang="zh-CN" sz="1800" dirty="0">
                <a:latin typeface="Corbel" panose="020B0503020204020204" pitchFamily="34" charset="0"/>
                <a:cs typeface="Arial" panose="020B0604020202020204" pitchFamily="34" charset="0"/>
              </a:rPr>
              <a:t>NH3 slip regime</a:t>
            </a:r>
            <a:endParaRPr lang="en-US" sz="1800" i="1" baseline="-25000" dirty="0">
              <a:latin typeface="Corbel" panose="020B0503020204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75A254DE-FF7D-9142-BCCE-124D0EF73B2E}"/>
              </a:ext>
            </a:extLst>
          </p:cNvPr>
          <p:cNvSpPr txBox="1"/>
          <p:nvPr/>
        </p:nvSpPr>
        <p:spPr>
          <a:xfrm>
            <a:off x="3543300" y="757616"/>
            <a:ext cx="2533650" cy="369332"/>
          </a:xfrm>
          <a:prstGeom prst="rect">
            <a:avLst/>
          </a:prstGeom>
          <a:solidFill>
            <a:schemeClr val="accent1">
              <a:lumMod val="20000"/>
              <a:lumOff val="80000"/>
            </a:schemeClr>
          </a:solidFill>
        </p:spPr>
        <p:txBody>
          <a:bodyPr wrap="square" rtlCol="0">
            <a:spAutoFit/>
          </a:bodyPr>
          <a:lstStyle/>
          <a:p>
            <a:pPr algn="ctr"/>
            <a:r>
              <a:rPr lang="en-US" altLang="zh-CN" sz="1800" dirty="0">
                <a:latin typeface="Arial" panose="020B0604020202020204" pitchFamily="34" charset="0"/>
                <a:cs typeface="Arial" panose="020B0604020202020204" pitchFamily="34" charset="0"/>
              </a:rPr>
              <a:t>Ostwald regime</a:t>
            </a:r>
            <a:endParaRPr lang="en-US" sz="1800" i="1" baseline="-25000" dirty="0">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0DED4D4D-7DAB-A14E-AC44-F5C27C789459}"/>
              </a:ext>
            </a:extLst>
          </p:cNvPr>
          <p:cNvPicPr>
            <a:picLocks noChangeAspect="1"/>
          </p:cNvPicPr>
          <p:nvPr/>
        </p:nvPicPr>
        <p:blipFill rotWithShape="1">
          <a:blip r:embed="rId6" cstate="hqprint">
            <a:extLst>
              <a:ext uri="{28A0092B-C50C-407E-A947-70E740481C1C}">
                <a14:useLocalDpi xmlns:a14="http://schemas.microsoft.com/office/drawing/2010/main"/>
              </a:ext>
            </a:extLst>
          </a:blip>
          <a:srcRect b="-1374"/>
          <a:stretch/>
        </p:blipFill>
        <p:spPr>
          <a:xfrm>
            <a:off x="3333750" y="1274255"/>
            <a:ext cx="1543050" cy="3431095"/>
          </a:xfrm>
          <a:prstGeom prst="rect">
            <a:avLst/>
          </a:prstGeom>
        </p:spPr>
      </p:pic>
      <p:sp>
        <p:nvSpPr>
          <p:cNvPr id="14" name="Title 13">
            <a:extLst>
              <a:ext uri="{FF2B5EF4-FFF2-40B4-BE49-F238E27FC236}">
                <a16:creationId xmlns:a16="http://schemas.microsoft.com/office/drawing/2014/main" id="{0A8E9689-AC5D-BE4F-AB78-9BFE5756DC39}"/>
              </a:ext>
            </a:extLst>
          </p:cNvPr>
          <p:cNvSpPr>
            <a:spLocks noGrp="1"/>
          </p:cNvSpPr>
          <p:nvPr>
            <p:ph type="title"/>
          </p:nvPr>
        </p:nvSpPr>
        <p:spPr/>
        <p:txBody>
          <a:bodyPr>
            <a:normAutofit fontScale="90000"/>
          </a:bodyPr>
          <a:lstStyle/>
          <a:p>
            <a:r>
              <a:rPr lang="en-US" dirty="0"/>
              <a:t>Reaction Fluxes and Rate Selectivity</a:t>
            </a:r>
          </a:p>
        </p:txBody>
      </p:sp>
      <p:sp>
        <p:nvSpPr>
          <p:cNvPr id="2" name="Content Placeholder 1">
            <a:extLst>
              <a:ext uri="{FF2B5EF4-FFF2-40B4-BE49-F238E27FC236}">
                <a16:creationId xmlns:a16="http://schemas.microsoft.com/office/drawing/2014/main" id="{6E404F43-62FF-A14F-AEC2-238CE5402B16}"/>
              </a:ext>
            </a:extLst>
          </p:cNvPr>
          <p:cNvSpPr>
            <a:spLocks noGrp="1"/>
          </p:cNvSpPr>
          <p:nvPr>
            <p:ph idx="1"/>
          </p:nvPr>
        </p:nvSpPr>
        <p:spPr>
          <a:xfrm>
            <a:off x="6629400" y="857251"/>
            <a:ext cx="2133600" cy="3737372"/>
          </a:xfrm>
        </p:spPr>
        <p:txBody>
          <a:bodyPr/>
          <a:lstStyle/>
          <a:p>
            <a:r>
              <a:rPr lang="en-US" dirty="0"/>
              <a:t>Preferred pathways sensitive to facet…</a:t>
            </a:r>
          </a:p>
          <a:p>
            <a:r>
              <a:rPr lang="en-US" dirty="0"/>
              <a:t>…and to temperature</a:t>
            </a:r>
          </a:p>
          <a:p>
            <a:r>
              <a:rPr lang="en-US" dirty="0"/>
              <a:t>But products are not!</a:t>
            </a:r>
          </a:p>
        </p:txBody>
      </p:sp>
      <p:sp>
        <p:nvSpPr>
          <p:cNvPr id="5" name="Date Placeholder 4">
            <a:extLst>
              <a:ext uri="{FF2B5EF4-FFF2-40B4-BE49-F238E27FC236}">
                <a16:creationId xmlns:a16="http://schemas.microsoft.com/office/drawing/2014/main" id="{DF1F217D-5CEC-B647-9C98-26D4FCAD62CE}"/>
              </a:ext>
            </a:extLst>
          </p:cNvPr>
          <p:cNvSpPr>
            <a:spLocks noGrp="1"/>
          </p:cNvSpPr>
          <p:nvPr>
            <p:ph type="dt" sz="half" idx="10"/>
          </p:nvPr>
        </p:nvSpPr>
        <p:spPr/>
        <p:txBody>
          <a:bodyPr/>
          <a:lstStyle/>
          <a:p>
            <a:pPr>
              <a:defRPr/>
            </a:pPr>
            <a:r>
              <a:rPr lang="en-US"/>
              <a:t>W. F. Schneider</a:t>
            </a:r>
          </a:p>
        </p:txBody>
      </p:sp>
      <p:sp>
        <p:nvSpPr>
          <p:cNvPr id="8" name="Footer Placeholder 7">
            <a:extLst>
              <a:ext uri="{FF2B5EF4-FFF2-40B4-BE49-F238E27FC236}">
                <a16:creationId xmlns:a16="http://schemas.microsoft.com/office/drawing/2014/main" id="{A926C7E2-CF56-DB49-912B-EDE3700E0FB7}"/>
              </a:ext>
            </a:extLst>
          </p:cNvPr>
          <p:cNvSpPr>
            <a:spLocks noGrp="1"/>
          </p:cNvSpPr>
          <p:nvPr>
            <p:ph type="ftr" sz="quarter" idx="11"/>
          </p:nvPr>
        </p:nvSpPr>
        <p:spPr/>
        <p:txBody>
          <a:bodyPr/>
          <a:lstStyle/>
          <a:p>
            <a:pPr>
              <a:defRPr/>
            </a:pPr>
            <a:r>
              <a:rPr lang="de-DE"/>
              <a:t>CBE 60546</a:t>
            </a:r>
            <a:endParaRPr lang="en-US"/>
          </a:p>
        </p:txBody>
      </p:sp>
    </p:spTree>
    <p:extLst>
      <p:ext uri="{BB962C8B-B14F-4D97-AF65-F5344CB8AC3E}">
        <p14:creationId xmlns:p14="http://schemas.microsoft.com/office/powerpoint/2010/main" val="3440750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E6458-A919-B21C-7199-D434698DFC3C}"/>
              </a:ext>
            </a:extLst>
          </p:cNvPr>
          <p:cNvSpPr>
            <a:spLocks noGrp="1"/>
          </p:cNvSpPr>
          <p:nvPr>
            <p:ph type="title"/>
          </p:nvPr>
        </p:nvSpPr>
        <p:spPr/>
        <p:txBody>
          <a:bodyPr>
            <a:normAutofit fontScale="90000"/>
          </a:bodyPr>
          <a:lstStyle/>
          <a:p>
            <a:r>
              <a:rPr lang="en-US" dirty="0"/>
              <a:t>Sabatier Principle</a:t>
            </a:r>
          </a:p>
        </p:txBody>
      </p:sp>
      <p:sp>
        <p:nvSpPr>
          <p:cNvPr id="4" name="Date Placeholder 3">
            <a:extLst>
              <a:ext uri="{FF2B5EF4-FFF2-40B4-BE49-F238E27FC236}">
                <a16:creationId xmlns:a16="http://schemas.microsoft.com/office/drawing/2014/main" id="{6945CDBF-2FF8-8609-C0C5-575DA0BAD420}"/>
              </a:ext>
            </a:extLst>
          </p:cNvPr>
          <p:cNvSpPr>
            <a:spLocks noGrp="1"/>
          </p:cNvSpPr>
          <p:nvPr>
            <p:ph type="dt" sz="half" idx="10"/>
          </p:nvPr>
        </p:nvSpPr>
        <p:spPr/>
        <p:txBody>
          <a:bodyPr/>
          <a:lstStyle/>
          <a:p>
            <a:r>
              <a:rPr lang="en-US" altLang="en-US"/>
              <a:t>W. F. Schneider</a:t>
            </a:r>
          </a:p>
        </p:txBody>
      </p:sp>
      <p:sp>
        <p:nvSpPr>
          <p:cNvPr id="5" name="Footer Placeholder 4">
            <a:extLst>
              <a:ext uri="{FF2B5EF4-FFF2-40B4-BE49-F238E27FC236}">
                <a16:creationId xmlns:a16="http://schemas.microsoft.com/office/drawing/2014/main" id="{648411F3-8E78-7DB7-BB09-ED660615D669}"/>
              </a:ext>
            </a:extLst>
          </p:cNvPr>
          <p:cNvSpPr>
            <a:spLocks noGrp="1"/>
          </p:cNvSpPr>
          <p:nvPr>
            <p:ph type="ftr" sz="quarter" idx="11"/>
          </p:nvPr>
        </p:nvSpPr>
        <p:spPr/>
        <p:txBody>
          <a:bodyPr/>
          <a:lstStyle/>
          <a:p>
            <a:r>
              <a:rPr lang="en-US" altLang="en-US"/>
              <a:t>CBE 60546</a:t>
            </a:r>
          </a:p>
        </p:txBody>
      </p:sp>
      <p:pic>
        <p:nvPicPr>
          <p:cNvPr id="6" name="Picture 5">
            <a:extLst>
              <a:ext uri="{FF2B5EF4-FFF2-40B4-BE49-F238E27FC236}">
                <a16:creationId xmlns:a16="http://schemas.microsoft.com/office/drawing/2014/main" id="{D305DE83-3501-E6D4-364F-0022EB3BF7F7}"/>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a:stretch/>
        </p:blipFill>
        <p:spPr>
          <a:xfrm>
            <a:off x="5002954" y="438150"/>
            <a:ext cx="2984006" cy="3761813"/>
          </a:xfrm>
          <a:prstGeom prst="rect">
            <a:avLst/>
          </a:prstGeom>
        </p:spPr>
      </p:pic>
      <p:sp>
        <p:nvSpPr>
          <p:cNvPr id="7" name="TextBox 6">
            <a:extLst>
              <a:ext uri="{FF2B5EF4-FFF2-40B4-BE49-F238E27FC236}">
                <a16:creationId xmlns:a16="http://schemas.microsoft.com/office/drawing/2014/main" id="{CC39DA4A-AA47-FD40-E65F-C42262B547C1}"/>
              </a:ext>
            </a:extLst>
          </p:cNvPr>
          <p:cNvSpPr txBox="1"/>
          <p:nvPr/>
        </p:nvSpPr>
        <p:spPr>
          <a:xfrm>
            <a:off x="4944648" y="4242115"/>
            <a:ext cx="4198496" cy="276999"/>
          </a:xfrm>
          <a:prstGeom prst="rect">
            <a:avLst/>
          </a:prstGeom>
          <a:noFill/>
        </p:spPr>
        <p:txBody>
          <a:bodyPr wrap="square" rtlCol="0">
            <a:spAutoFit/>
          </a:bodyPr>
          <a:lstStyle/>
          <a:p>
            <a:r>
              <a:rPr lang="en-US" sz="1200" dirty="0" err="1">
                <a:latin typeface="Corbel" panose="020B0503020204020204" pitchFamily="34" charset="0"/>
              </a:rPr>
              <a:t>Vojvodic</a:t>
            </a:r>
            <a:r>
              <a:rPr lang="en-US" sz="1200" dirty="0">
                <a:latin typeface="Corbel" panose="020B0503020204020204" pitchFamily="34" charset="0"/>
              </a:rPr>
              <a:t> </a:t>
            </a:r>
            <a:r>
              <a:rPr lang="en-US" sz="1200" i="1" dirty="0">
                <a:latin typeface="Corbel" panose="020B0503020204020204" pitchFamily="34" charset="0"/>
              </a:rPr>
              <a:t>et al. Chem. Phys. Lett. </a:t>
            </a:r>
            <a:r>
              <a:rPr lang="en-US" sz="1200" dirty="0">
                <a:latin typeface="Corbel" panose="020B0503020204020204" pitchFamily="34" charset="0"/>
              </a:rPr>
              <a:t>2014, 598, 108</a:t>
            </a:r>
            <a:endParaRPr lang="en-US" sz="1200" i="1" dirty="0">
              <a:latin typeface="Corbel" panose="020B0503020204020204" pitchFamily="34" charset="0"/>
            </a:endParaRPr>
          </a:p>
        </p:txBody>
      </p:sp>
      <p:pic>
        <p:nvPicPr>
          <p:cNvPr id="8" name="Picture 7">
            <a:extLst>
              <a:ext uri="{FF2B5EF4-FFF2-40B4-BE49-F238E27FC236}">
                <a16:creationId xmlns:a16="http://schemas.microsoft.com/office/drawing/2014/main" id="{DD46D84D-C982-A610-554E-390FBC50A487}"/>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41805" y="966902"/>
            <a:ext cx="3276600" cy="2891477"/>
          </a:xfrm>
          <a:prstGeom prst="rect">
            <a:avLst/>
          </a:prstGeom>
        </p:spPr>
      </p:pic>
    </p:spTree>
    <p:extLst>
      <p:ext uri="{BB962C8B-B14F-4D97-AF65-F5344CB8AC3E}">
        <p14:creationId xmlns:p14="http://schemas.microsoft.com/office/powerpoint/2010/main" val="3372826344"/>
      </p:ext>
    </p:extLst>
  </p:cSld>
  <p:clrMapOvr>
    <a:masterClrMapping/>
  </p:clrMapOvr>
</p:sld>
</file>

<file path=ppt/theme/theme1.xml><?xml version="1.0" encoding="utf-8"?>
<a:theme xmlns:a="http://schemas.openxmlformats.org/drawingml/2006/main" name="Watermark">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9708</TotalTime>
  <Words>1868</Words>
  <Application>Microsoft Macintosh PowerPoint</Application>
  <PresentationFormat>On-screen Show (16:9)</PresentationFormat>
  <Paragraphs>464</Paragraphs>
  <Slides>31</Slides>
  <Notes>25</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31</vt:i4>
      </vt:variant>
    </vt:vector>
  </HeadingPairs>
  <TitlesOfParts>
    <vt:vector size="38" baseType="lpstr">
      <vt:lpstr>Aptos</vt:lpstr>
      <vt:lpstr>Arial</vt:lpstr>
      <vt:lpstr>Corbel</vt:lpstr>
      <vt:lpstr>Times New Roman</vt:lpstr>
      <vt:lpstr>Wingdings</vt:lpstr>
      <vt:lpstr>Watermark</vt:lpstr>
      <vt:lpstr>Equation</vt:lpstr>
      <vt:lpstr>Introduction to Catalysis</vt:lpstr>
      <vt:lpstr>What is a “Catalyst”</vt:lpstr>
      <vt:lpstr>Catalysts Open Up New Reaction Pathways</vt:lpstr>
      <vt:lpstr>Catalysts Open Up New Reaction Pathways</vt:lpstr>
      <vt:lpstr>Catalysts Open Up New Reaction Pathways</vt:lpstr>
      <vt:lpstr>Types of Catalysts - Enzymes</vt:lpstr>
      <vt:lpstr>Types of Catalysts – Organometallics</vt:lpstr>
      <vt:lpstr>Homogeneous vs. Heterogeneous Catalysts</vt:lpstr>
      <vt:lpstr>Microporous Catalysts</vt:lpstr>
      <vt:lpstr>Amorphous Heterogeneous Catalysts</vt:lpstr>
      <vt:lpstr>Sample Heterogeneous Catalytic Processes</vt:lpstr>
      <vt:lpstr>Heterogeneous Catalytic Reactors</vt:lpstr>
      <vt:lpstr>Length Scales in Heterogeneous Catalysis</vt:lpstr>
      <vt:lpstr>Characteristics of Supported Catalysts</vt:lpstr>
      <vt:lpstr>Transition Metal Catalysts</vt:lpstr>
      <vt:lpstr>Adsorption and Reaction at Solid Surfaces</vt:lpstr>
      <vt:lpstr>Physi- and Chemisorption on MgO(001)</vt:lpstr>
      <vt:lpstr>Concentrations in Heterogeneous Catalysis</vt:lpstr>
      <vt:lpstr>Adsorption Isotherms</vt:lpstr>
      <vt:lpstr>Using the Langmuir Isotherm</vt:lpstr>
      <vt:lpstr>Brunauer-Emmett-Teller Isotherm (BET)</vt:lpstr>
      <vt:lpstr>Temperature-Programmed Desorption</vt:lpstr>
      <vt:lpstr>Competitive Adsorption</vt:lpstr>
      <vt:lpstr>Rates of Catalytic Reactions</vt:lpstr>
      <vt:lpstr>Surface Reaction Kinetics</vt:lpstr>
      <vt:lpstr>NH3 Oxidation</vt:lpstr>
      <vt:lpstr>Comparative Bond Forming Pathways</vt:lpstr>
      <vt:lpstr>DFT to Reaction Rates and Selectivities </vt:lpstr>
      <vt:lpstr>NH3 Oxidation Analysis</vt:lpstr>
      <vt:lpstr>Reaction Fluxes and Rate Selectivity</vt:lpstr>
      <vt:lpstr>Sabatier Principle</vt:lpstr>
    </vt:vector>
  </TitlesOfParts>
  <Company>ORNL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MHP User</dc:creator>
  <cp:lastModifiedBy>William Schneider</cp:lastModifiedBy>
  <cp:revision>136</cp:revision>
  <dcterms:created xsi:type="dcterms:W3CDTF">2005-01-24T21:10:48Z</dcterms:created>
  <dcterms:modified xsi:type="dcterms:W3CDTF">2025-10-17T16:22:30Z</dcterms:modified>
</cp:coreProperties>
</file>